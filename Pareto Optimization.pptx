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5"/>
  </p:notesMasterIdLst>
  <p:sldIdLst>
    <p:sldId id="1420" r:id="rId2"/>
    <p:sldId id="1422" r:id="rId3"/>
    <p:sldId id="1421" r:id="rId4"/>
    <p:sldId id="1423" r:id="rId5"/>
    <p:sldId id="1424" r:id="rId6"/>
    <p:sldId id="1425" r:id="rId7"/>
    <p:sldId id="1426" r:id="rId8"/>
    <p:sldId id="1427" r:id="rId9"/>
    <p:sldId id="1429" r:id="rId10"/>
    <p:sldId id="1430" r:id="rId11"/>
    <p:sldId id="1431" r:id="rId12"/>
    <p:sldId id="1432" r:id="rId13"/>
    <p:sldId id="1433" r:id="rId14"/>
    <p:sldId id="1434" r:id="rId15"/>
    <p:sldId id="1435" r:id="rId16"/>
    <p:sldId id="1436" r:id="rId17"/>
    <p:sldId id="1437" r:id="rId18"/>
    <p:sldId id="1438" r:id="rId19"/>
    <p:sldId id="1439" r:id="rId20"/>
    <p:sldId id="1440" r:id="rId21"/>
    <p:sldId id="1441" r:id="rId22"/>
    <p:sldId id="1442" r:id="rId23"/>
    <p:sldId id="1443" r:id="rId24"/>
    <p:sldId id="1445" r:id="rId25"/>
    <p:sldId id="1446" r:id="rId26"/>
    <p:sldId id="1448" r:id="rId27"/>
    <p:sldId id="1449" r:id="rId28"/>
    <p:sldId id="1450" r:id="rId29"/>
    <p:sldId id="1451" r:id="rId30"/>
    <p:sldId id="1452" r:id="rId31"/>
    <p:sldId id="1453" r:id="rId32"/>
    <p:sldId id="1503" r:id="rId33"/>
    <p:sldId id="1454" r:id="rId34"/>
    <p:sldId id="1455" r:id="rId35"/>
    <p:sldId id="1456" r:id="rId36"/>
    <p:sldId id="1457" r:id="rId37"/>
    <p:sldId id="1458" r:id="rId38"/>
    <p:sldId id="1459" r:id="rId39"/>
    <p:sldId id="1460" r:id="rId40"/>
    <p:sldId id="1461" r:id="rId41"/>
    <p:sldId id="1462" r:id="rId42"/>
    <p:sldId id="1463" r:id="rId43"/>
    <p:sldId id="1464" r:id="rId44"/>
    <p:sldId id="1465" r:id="rId45"/>
    <p:sldId id="1466" r:id="rId46"/>
    <p:sldId id="1467" r:id="rId47"/>
    <p:sldId id="1468" r:id="rId48"/>
    <p:sldId id="1469" r:id="rId49"/>
    <p:sldId id="1470" r:id="rId50"/>
    <p:sldId id="1471" r:id="rId51"/>
    <p:sldId id="1472" r:id="rId52"/>
    <p:sldId id="1473" r:id="rId53"/>
    <p:sldId id="1474" r:id="rId54"/>
    <p:sldId id="1475" r:id="rId55"/>
    <p:sldId id="1476" r:id="rId56"/>
    <p:sldId id="1477" r:id="rId57"/>
    <p:sldId id="1478" r:id="rId58"/>
    <p:sldId id="1479" r:id="rId59"/>
    <p:sldId id="1480" r:id="rId60"/>
    <p:sldId id="1481" r:id="rId61"/>
    <p:sldId id="1482" r:id="rId62"/>
    <p:sldId id="1483" r:id="rId63"/>
    <p:sldId id="1484" r:id="rId64"/>
    <p:sldId id="1485" r:id="rId65"/>
    <p:sldId id="1486" r:id="rId66"/>
    <p:sldId id="1487" r:id="rId67"/>
    <p:sldId id="1488" r:id="rId68"/>
    <p:sldId id="1489" r:id="rId69"/>
    <p:sldId id="1490" r:id="rId70"/>
    <p:sldId id="1491" r:id="rId71"/>
    <p:sldId id="1492" r:id="rId72"/>
    <p:sldId id="1493" r:id="rId73"/>
    <p:sldId id="1494" r:id="rId74"/>
    <p:sldId id="1495" r:id="rId75"/>
    <p:sldId id="1496" r:id="rId76"/>
    <p:sldId id="1497" r:id="rId77"/>
    <p:sldId id="1498" r:id="rId78"/>
    <p:sldId id="1499" r:id="rId79"/>
    <p:sldId id="1500" r:id="rId80"/>
    <p:sldId id="1501" r:id="rId81"/>
    <p:sldId id="1502" r:id="rId82"/>
    <p:sldId id="1504" r:id="rId83"/>
    <p:sldId id="1505" r:id="rId84"/>
    <p:sldId id="1506" r:id="rId85"/>
    <p:sldId id="1507" r:id="rId86"/>
    <p:sldId id="1508" r:id="rId87"/>
    <p:sldId id="1509" r:id="rId88"/>
    <p:sldId id="1510" r:id="rId89"/>
    <p:sldId id="1511" r:id="rId90"/>
    <p:sldId id="1512" r:id="rId91"/>
    <p:sldId id="1513" r:id="rId92"/>
    <p:sldId id="1514" r:id="rId93"/>
    <p:sldId id="1515" r:id="rId9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D193C43-86CB-4E59-B1EB-ADE4B892B60F}" v="3" dt="2026-03-09T01:02:53.59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notesMaster" Target="notesMasters/notesMaster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tableStyles" Target="tableStyles.xml"/><Relationship Id="rId10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theme" Target="theme/theme1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SHAK MD GULAM" userId="3629686c-1963-4ad0-9d90-f64896f145bd" providerId="ADAL" clId="{C1066301-46E8-4A63-ABD9-64A0D5EA0B02}"/>
    <pc:docChg chg="custSel modSld">
      <pc:chgData name="ISHAK MD GULAM" userId="3629686c-1963-4ad0-9d90-f64896f145bd" providerId="ADAL" clId="{C1066301-46E8-4A63-ABD9-64A0D5EA0B02}" dt="2026-03-09T01:06:44.258" v="194" actId="20577"/>
      <pc:docMkLst>
        <pc:docMk/>
      </pc:docMkLst>
      <pc:sldChg chg="modSp mod">
        <pc:chgData name="ISHAK MD GULAM" userId="3629686c-1963-4ad0-9d90-f64896f145bd" providerId="ADAL" clId="{C1066301-46E8-4A63-ABD9-64A0D5EA0B02}" dt="2026-03-09T01:06:44.258" v="194" actId="20577"/>
        <pc:sldMkLst>
          <pc:docMk/>
          <pc:sldMk cId="1157537709" sldId="1420"/>
        </pc:sldMkLst>
        <pc:spChg chg="mod">
          <ac:chgData name="ISHAK MD GULAM" userId="3629686c-1963-4ad0-9d90-f64896f145bd" providerId="ADAL" clId="{C1066301-46E8-4A63-ABD9-64A0D5EA0B02}" dt="2026-03-09T01:03:37.255" v="185" actId="27636"/>
          <ac:spMkLst>
            <pc:docMk/>
            <pc:sldMk cId="1157537709" sldId="1420"/>
            <ac:spMk id="2" creationId="{773E81F8-418E-46B0-BF79-A9E5C85CC220}"/>
          </ac:spMkLst>
        </pc:spChg>
        <pc:spChg chg="mod">
          <ac:chgData name="ISHAK MD GULAM" userId="3629686c-1963-4ad0-9d90-f64896f145bd" providerId="ADAL" clId="{C1066301-46E8-4A63-ABD9-64A0D5EA0B02}" dt="2026-03-09T01:06:44.258" v="194" actId="20577"/>
          <ac:spMkLst>
            <pc:docMk/>
            <pc:sldMk cId="1157537709" sldId="1420"/>
            <ac:spMk id="3" creationId="{9B30F031-E57C-4418-8811-D07BEE7C11F9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7A80AD-75C0-4139-8349-D7A56AAE3422}" type="datetimeFigureOut">
              <a:rPr lang="ko-KR" altLang="en-US" smtClean="0"/>
              <a:t>2026-06-08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B06930-2FBF-4BDF-BB7A-ED0F3C0B85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6361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2BAEBA-F25F-4473-80C2-25CDA93B211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4400"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25EA62A-FC14-43A6-9DFC-64DD0EA5E66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73821"/>
            <a:ext cx="9144000" cy="1655762"/>
          </a:xfrm>
        </p:spPr>
        <p:txBody>
          <a:bodyPr>
            <a:no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ko-KR"/>
              <a:t>Master Subtitle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E4FBF63-6BE2-44A2-9B92-27824B375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3EF48-9CCD-4EE9-BB40-4739D0DAE972}" type="datetime1">
              <a:rPr lang="ko-KR" altLang="en-US" smtClean="0"/>
              <a:t>2026-06-08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98BBDE-AC92-4490-AADC-B4FE998E9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7C4298-2A89-4F0A-B1C0-77A882953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68C916F-6552-480F-893B-32796E62A980}"/>
              </a:ext>
            </a:extLst>
          </p:cNvPr>
          <p:cNvSpPr/>
          <p:nvPr userDrawn="1"/>
        </p:nvSpPr>
        <p:spPr>
          <a:xfrm>
            <a:off x="838200" y="3599357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452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21520A-C81E-4CF1-AECD-A61D6660DB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8E0C27-FA2C-4144-B7E7-505744E575AD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A9FB215-C15F-4E74-86DC-78FAD0147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4ADD3-F434-478C-876A-1D3933DF4707}" type="datetime1">
              <a:rPr lang="ko-KR" altLang="en-US" smtClean="0"/>
              <a:t>2026-06-08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D1EAFA9-F342-4D37-B503-8DFA950A3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222012F-5023-43D1-B1CF-BFE3A8931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05CEF90-2A69-4F23-93AB-B8D6AADF74CD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9896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A8F93D-390F-465E-B0D5-72A75C2739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1470026"/>
            <a:ext cx="10515600" cy="2852737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501743D-6833-4A7C-B35A-0BDDB635A98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Master Subtitle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C2845C-3C54-4151-820C-12503D6F2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F26BB-6A75-410D-A6B0-8FD34915C10D}" type="datetime1">
              <a:rPr lang="ko-KR" altLang="en-US" smtClean="0"/>
              <a:t>2026-06-08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855650C-CE10-43E1-AA00-22EE20BAA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FE2F95-697E-490C-9C4D-A59E0F915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21879A5-E33B-484A-B193-FE66531AACAC}"/>
              </a:ext>
            </a:extLst>
          </p:cNvPr>
          <p:cNvSpPr/>
          <p:nvPr userDrawn="1"/>
        </p:nvSpPr>
        <p:spPr>
          <a:xfrm>
            <a:off x="838200" y="4413578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98640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17D261-400F-43CD-95C8-FE0DF8044A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0346026-ED45-448B-8D67-475453B7B90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0" y="1649691"/>
            <a:ext cx="5104598" cy="4527272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C86C6A5-08D8-440E-B258-B881C64EC21D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172200" y="1649691"/>
            <a:ext cx="5181600" cy="4527272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19FDB51-62F3-4D1B-B8F7-D40284A70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4CDF8-1723-475A-8393-34F016E9B184}" type="datetime1">
              <a:rPr lang="ko-KR" altLang="en-US" smtClean="0"/>
              <a:t>2026-06-08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8744B04-D686-4DE2-BDDC-A3B4F371D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8FBE183-4474-4131-AEA4-9ADE4020A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3208725-7285-4D04-9690-A0DD84547197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246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EBF73A-35E0-4388-AE26-587E20896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59F70A1-A021-4782-95A0-99F4C32034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00FFB53-257A-4315-A28C-9FE12D4C99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FA17D5D-46C0-4878-B7E2-BD08FCD075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0C2F3F9-8CCB-4F5B-85A6-D7470170DC3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047C80F-A4FC-4C78-89AB-B072C5C0E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CCD4A-1F8C-4D3E-BDD6-84C4090AF0D6}" type="datetime1">
              <a:rPr lang="ko-KR" altLang="en-US" smtClean="0"/>
              <a:t>2026-06-08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AD4C5CE-D7DE-4C43-8F9E-7EA5847ED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81C2CFA-CB2F-4476-8491-FBDAB29C3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31631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1B9CC5-A2AF-47C1-8376-B695DF820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5A6AA3E-6C10-4BA8-AF8D-ECF436F9C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073545-46C1-49FB-A041-5415163523D0}" type="datetime1">
              <a:rPr lang="ko-KR" altLang="en-US" smtClean="0"/>
              <a:t>2026-06-08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0DE3192-439D-4BEF-8848-4DF7C36D1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305EAAA-CE1A-4578-A8FD-BDB3D530C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9670823-6C59-4996-843F-A4B8E1292D69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23513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4FA01BA-2C19-4BC8-9D08-60CC0DEE3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DBC6A4-6274-4803-89FF-1DA18D4FE7AA}" type="datetime1">
              <a:rPr lang="ko-KR" altLang="en-US" smtClean="0"/>
              <a:t>2026-06-08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C921DE2-A0F7-482E-898F-C86B8C830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96F57A-5DCA-4541-B19A-1752D1A3E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5119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304372-0C6C-4F44-86AB-8DDAF142F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FE88709-254A-4ED6-9188-74666615F1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65872FF-AC9A-49BF-AC6E-F9EA1A4066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17015C5-8E89-4986-AA3C-42A3F8FB6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A353D-6971-4305-AB04-6AEE4DD0E048}" type="datetime1">
              <a:rPr lang="ko-KR" altLang="en-US" smtClean="0"/>
              <a:t>2026-06-08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982C019-EAA8-4CD6-BD5A-68BA98421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C776716-556D-4628-94B1-7BC9A3454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5152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0E144E-AA68-4DFD-9736-416AF8EEE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3C731A3-5F0D-4649-AF33-2F2F12D18B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60070ED-93CE-4C5B-9A13-47766D18CF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3C3E617-2B4B-4C49-B34C-F13496F5B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75523-461B-44DB-AD97-7C06B206BE7B}" type="datetime1">
              <a:rPr lang="ko-KR" altLang="en-US" smtClean="0"/>
              <a:t>2026-06-08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88F62D-BB02-4585-B0DB-6C572478F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DA3767-C6FA-46EE-B82E-E441B3360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89942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5A2004-1E3B-4055-8772-F325E519E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9AC7F-90CD-432E-AFBA-09A312E261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CBBB0-BA78-4216-B318-AF5F69D9D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45620A-9A66-47B0-9218-43F171A33458}" type="datetime1">
              <a:rPr lang="ko-KR" altLang="en-US" smtClean="0"/>
              <a:t>2026-06-08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3AE3B40-907A-49D6-9FA8-D643E4B4A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8417526-857D-45AD-9891-D1359E79B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1E34BDA-8046-4B35-A748-33A5A9C8C415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47878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9286F9E-ABB1-47D9-BCD5-5FE077BEA2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74F122D-472C-4176-9045-BF5B3ED412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F40FC9-5A0B-483C-BEC0-6349DDDF1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586D9-B5F3-454A-8918-B4C99ED5AEDE}" type="datetime1">
              <a:rPr lang="ko-KR" altLang="en-US" smtClean="0"/>
              <a:t>2026-06-08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9FF7ACB-A377-4E38-BF13-4CE4A72C6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CE2AD96-62E9-4856-8C7D-4FC6FA78D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3348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30155A6-5E23-4681-A0F6-D6378107C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93357F3-390C-49AE-BB15-6F8F57DC07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649691"/>
            <a:ext cx="10515600" cy="452727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D9027F-305A-4270-8200-1B8B6B4B76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438399" y="6356350"/>
            <a:ext cx="133310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tx1"/>
                </a:solidFill>
              </a:defRPr>
            </a:lvl1pPr>
          </a:lstStyle>
          <a:p>
            <a:fld id="{9D1D2423-15C0-4D7C-B759-40ACCC100800}" type="datetime1">
              <a:rPr lang="ko-KR" altLang="en-US" smtClean="0"/>
              <a:t>2026-06-08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F1B4A95-7775-4330-B809-DA1B22478E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>
                <a:solidFill>
                  <a:schemeClr val="tx1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FF4CA50-4832-40EE-82BE-A431AAD806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13331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tx1"/>
                </a:solidFill>
              </a:defRPr>
            </a:lvl1pPr>
          </a:lstStyle>
          <a:p>
            <a:fld id="{A439D109-9F59-4B0B-8E20-D6D3A384B1F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FEB3B3E-F3B6-4A77-8CE1-CA270A7A296F}"/>
              </a:ext>
            </a:extLst>
          </p:cNvPr>
          <p:cNvSpPr/>
          <p:nvPr userDrawn="1"/>
        </p:nvSpPr>
        <p:spPr>
          <a:xfrm>
            <a:off x="0" y="0"/>
            <a:ext cx="12192000" cy="235670"/>
          </a:xfrm>
          <a:prstGeom prst="rect">
            <a:avLst/>
          </a:prstGeom>
          <a:gradFill>
            <a:gsLst>
              <a:gs pos="63000">
                <a:schemeClr val="tx1"/>
              </a:gs>
              <a:gs pos="0">
                <a:schemeClr val="tx1"/>
              </a:gs>
              <a:gs pos="80000">
                <a:schemeClr val="bg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64D56D-F798-41D4-B204-99B8E8DEAB5A}"/>
              </a:ext>
            </a:extLst>
          </p:cNvPr>
          <p:cNvSpPr txBox="1"/>
          <p:nvPr userDrawn="1"/>
        </p:nvSpPr>
        <p:spPr>
          <a:xfrm>
            <a:off x="8501826" y="6550223"/>
            <a:ext cx="3690174" cy="307777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ognitive</a:t>
            </a:r>
            <a:r>
              <a:rPr lang="en-US" altLang="ko-KR" sz="140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ommunications</a:t>
            </a:r>
            <a:r>
              <a:rPr lang="en-US" altLang="ko-KR" sz="140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ystems</a:t>
            </a:r>
            <a:r>
              <a:rPr lang="en-US" altLang="ko-KR" sz="140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aboratory</a:t>
            </a:r>
            <a:endParaRPr lang="en-US" altLang="ko-KR" sz="1400" b="1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501637D-BAF8-43B2-A298-C5B3DAB2231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0077" b="34980"/>
          <a:stretch/>
        </p:blipFill>
        <p:spPr>
          <a:xfrm>
            <a:off x="9886511" y="17253"/>
            <a:ext cx="527404" cy="52627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0D9003C-FC42-4D68-ADBA-ADDEC8861A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t="68955" b="6534"/>
          <a:stretch/>
        </p:blipFill>
        <p:spPr>
          <a:xfrm>
            <a:off x="10413915" y="17253"/>
            <a:ext cx="1760832" cy="526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947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4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3E81F8-418E-46B0-BF79-A9E5C85CC2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169878"/>
            <a:ext cx="10501993" cy="1418326"/>
          </a:xfrm>
        </p:spPr>
        <p:txBody>
          <a:bodyPr>
            <a:normAutofit fontScale="90000"/>
          </a:bodyPr>
          <a:lstStyle/>
          <a:p>
            <a:r>
              <a:rPr lang="en-US" sz="3100" dirty="0"/>
              <a:t>Joint Radar-Communication Transmission: A Generalized      Pareto Optimization Framework</a:t>
            </a:r>
            <a:br>
              <a:rPr lang="en-US" dirty="0"/>
            </a:br>
            <a:endParaRPr lang="ko-KR" altLang="en-US" sz="3600" b="0" dirty="0">
              <a:solidFill>
                <a:srgbClr val="0000FF"/>
              </a:solidFill>
              <a:latin typeface="Arial Black" panose="020B0A04020102020204" pitchFamily="34" charset="0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B30F031-E57C-4418-8811-D07BEE7C11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704436"/>
            <a:ext cx="10501993" cy="1418326"/>
          </a:xfrm>
        </p:spPr>
        <p:txBody>
          <a:bodyPr vert="horz" lIns="91440" tIns="45720" rIns="91440" bIns="45720" rtlCol="0" anchor="t">
            <a:noAutofit/>
          </a:bodyPr>
          <a:lstStyle/>
          <a:p>
            <a:pPr lvl="1" algn="just"/>
            <a:r>
              <a:rPr lang="en-US" dirty="0"/>
              <a:t>Authors : Li Chen, Fan Liu, Weidong Wang, Christos </a:t>
            </a:r>
            <a:r>
              <a:rPr lang="en-US" dirty="0" err="1"/>
              <a:t>Masouros</a:t>
            </a:r>
            <a:endParaRPr lang="en-US" dirty="0"/>
          </a:p>
          <a:p>
            <a:pPr lvl="1" algn="just"/>
            <a:r>
              <a:rPr lang="en-US" dirty="0"/>
              <a:t>Publishers : IEEE Transactions on Signal Processing</a:t>
            </a:r>
          </a:p>
          <a:p>
            <a:pPr lvl="1" algn="just"/>
            <a:r>
              <a:rPr lang="en-US" dirty="0"/>
              <a:t>Date of Publication: 05 May 2021</a:t>
            </a:r>
            <a:endParaRPr lang="en-US" dirty="0">
              <a:latin typeface="Arial"/>
              <a:ea typeface="맑은 고딕"/>
              <a:cs typeface="Arial"/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3469BC-9EBF-44CC-97A2-356DEFF55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75377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479E2-5333-E51F-D2C7-66228C07D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D307C4-309A-D194-0F3D-788BB913DB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</a:t>
            </a:r>
          </a:p>
          <a:p>
            <a:r>
              <a:rPr lang="en-US" dirty="0"/>
              <a:t>Introduction</a:t>
            </a:r>
          </a:p>
          <a:p>
            <a:r>
              <a:rPr lang="en-US" dirty="0"/>
              <a:t>System Model</a:t>
            </a:r>
          </a:p>
          <a:p>
            <a:r>
              <a:rPr lang="en-US" dirty="0"/>
              <a:t>Joint Radar and Communication Optimization</a:t>
            </a:r>
          </a:p>
          <a:p>
            <a:r>
              <a:rPr lang="en-US" dirty="0"/>
              <a:t>Optimality Achieved by Single Transmission</a:t>
            </a:r>
          </a:p>
          <a:p>
            <a:r>
              <a:rPr lang="en-US" dirty="0"/>
              <a:t>Hardware-</a:t>
            </a:r>
            <a:r>
              <a:rPr lang="en-US" dirty="0" err="1"/>
              <a:t>Impared</a:t>
            </a:r>
            <a:r>
              <a:rPr lang="en-US" dirty="0"/>
              <a:t> Optimization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B8B7F4-4143-1603-058D-BEF9498EC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35827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EF91E-F042-F8B7-F329-172AE53A7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6A0F6D-AC85-AB28-749F-EEBFEB7AE3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 </a:t>
                </a:r>
                <a:r>
                  <a:rPr lang="en-US" dirty="0">
                    <a:solidFill>
                      <a:srgbClr val="0000FF"/>
                    </a:solidFill>
                  </a:rPr>
                  <a:t>Abstract Overview</a:t>
                </a:r>
              </a:p>
              <a:p>
                <a:pPr lvl="1"/>
                <a:r>
                  <a:rPr lang="en-US" dirty="0"/>
                  <a:t>Main Idea of the Paper</a:t>
                </a:r>
              </a:p>
              <a:p>
                <a:pPr lvl="2"/>
                <a:r>
                  <a:rPr lang="en-US" dirty="0"/>
                  <a:t>This paper studies a </a:t>
                </a:r>
                <a:r>
                  <a:rPr lang="en-US" dirty="0">
                    <a:solidFill>
                      <a:srgbClr val="7030A0"/>
                    </a:solidFill>
                  </a:rPr>
                  <a:t>multi-antenna DFRC system</a:t>
                </a:r>
                <a:r>
                  <a:rPr lang="en-US" dirty="0"/>
                  <a:t>, where one transmitter performs:</a:t>
                </a:r>
              </a:p>
              <a:p>
                <a:pPr lvl="3"/>
                <a:r>
                  <a:rPr lang="en-US" dirty="0">
                    <a:solidFill>
                      <a:srgbClr val="7030A0"/>
                    </a:solidFill>
                  </a:rPr>
                  <a:t>Radar sensing: </a:t>
                </a:r>
                <a:r>
                  <a:rPr lang="en-US" dirty="0"/>
                  <a:t>detects targets </a:t>
                </a:r>
              </a:p>
              <a:p>
                <a:pPr lvl="3"/>
                <a:r>
                  <a:rPr lang="en-US" dirty="0">
                    <a:solidFill>
                      <a:srgbClr val="7030A0"/>
                    </a:solidFill>
                  </a:rPr>
                  <a:t>Communication: </a:t>
                </a:r>
                <a:r>
                  <a:rPr lang="en-US" dirty="0"/>
                  <a:t>serves multiple users </a:t>
                </a:r>
              </a:p>
              <a:p>
                <a:pPr lvl="3"/>
                <a:r>
                  <a:rPr lang="en-US" dirty="0"/>
                  <a:t>The main goal is to find the best </a:t>
                </a:r>
                <a:r>
                  <a:rPr lang="en-US" dirty="0">
                    <a:solidFill>
                      <a:srgbClr val="0070C0"/>
                    </a:solidFill>
                  </a:rPr>
                  <a:t>trade-off</a:t>
                </a:r>
                <a:r>
                  <a:rPr lang="en-US" dirty="0"/>
                  <a:t> between: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Radar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DPSL</m:t>
                    </m:r>
                  </m:oMath>
                </a14:m>
                <a:endParaRPr lang="en-US" dirty="0"/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User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SINR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Here, </a:t>
                </a:r>
                <a:r>
                  <a:rPr lang="en-US" dirty="0">
                    <a:solidFill>
                      <a:srgbClr val="7030A0"/>
                    </a:solidFill>
                  </a:rPr>
                  <a:t>DPSL</a:t>
                </a:r>
                <a:r>
                  <a:rPr lang="en-US" dirty="0"/>
                  <a:t> means the difference between radar </a:t>
                </a:r>
                <a:r>
                  <a:rPr lang="en-US" dirty="0" err="1"/>
                  <a:t>mainlobe</a:t>
                </a:r>
                <a:r>
                  <a:rPr lang="en-US" dirty="0"/>
                  <a:t> peak and sidelobe level.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6A0F6D-AC85-AB28-749F-EEBFEB7AE3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1C05EA-EE8D-592E-9EA2-45A37A006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43141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72314-6EC4-0BEB-53B0-D7C9D7B38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5C833-43E5-0422-408A-35C40E18AC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7030A0"/>
                </a:solidFill>
              </a:rPr>
              <a:t>Key Contributions</a:t>
            </a:r>
          </a:p>
          <a:p>
            <a:pPr lvl="1"/>
            <a:r>
              <a:rPr lang="en-US" dirty="0"/>
              <a:t>What This Paper Contributes</a:t>
            </a:r>
          </a:p>
          <a:p>
            <a:pPr lvl="2"/>
            <a:r>
              <a:rPr lang="en-US" dirty="0"/>
              <a:t>The paper proposes a </a:t>
            </a:r>
            <a:r>
              <a:rPr lang="en-US" dirty="0">
                <a:solidFill>
                  <a:srgbClr val="7030A0"/>
                </a:solidFill>
              </a:rPr>
              <a:t>Pareto optimization framework </a:t>
            </a:r>
            <a:r>
              <a:rPr lang="en-US" dirty="0"/>
              <a:t>for DFRC.</a:t>
            </a:r>
          </a:p>
          <a:p>
            <a:pPr lvl="2"/>
            <a:r>
              <a:rPr lang="en-US" dirty="0"/>
              <a:t>Main contributions:</a:t>
            </a:r>
          </a:p>
          <a:p>
            <a:pPr lvl="3"/>
            <a:r>
              <a:rPr lang="en-US" dirty="0"/>
              <a:t>Defines an </a:t>
            </a:r>
            <a:r>
              <a:rPr lang="en-US" dirty="0">
                <a:solidFill>
                  <a:srgbClr val="7030A0"/>
                </a:solidFill>
              </a:rPr>
              <a:t>achievable performance region </a:t>
            </a:r>
            <a:r>
              <a:rPr lang="en-US" dirty="0"/>
              <a:t>using radar DPSL and user SINR. </a:t>
            </a:r>
          </a:p>
          <a:p>
            <a:pPr lvl="3"/>
            <a:r>
              <a:rPr lang="en-US" dirty="0"/>
              <a:t>Proves this region is </a:t>
            </a:r>
            <a:r>
              <a:rPr lang="en-US" dirty="0">
                <a:solidFill>
                  <a:srgbClr val="7030A0"/>
                </a:solidFill>
              </a:rPr>
              <a:t>compact and normal</a:t>
            </a:r>
            <a:r>
              <a:rPr lang="en-US" dirty="0"/>
              <a:t>. </a:t>
            </a:r>
          </a:p>
          <a:p>
            <a:pPr lvl="3"/>
            <a:r>
              <a:rPr lang="en-US" dirty="0"/>
              <a:t>Uses </a:t>
            </a:r>
            <a:r>
              <a:rPr lang="en-US" dirty="0">
                <a:solidFill>
                  <a:srgbClr val="7030A0"/>
                </a:solidFill>
              </a:rPr>
              <a:t>fairness-profile optimization </a:t>
            </a:r>
            <a:r>
              <a:rPr lang="en-US" dirty="0"/>
              <a:t>to find Pareto boundary points. </a:t>
            </a:r>
          </a:p>
          <a:p>
            <a:pPr lvl="3"/>
            <a:r>
              <a:rPr lang="en-US" dirty="0"/>
              <a:t>Solves the problem using a </a:t>
            </a:r>
            <a:r>
              <a:rPr lang="en-US" dirty="0">
                <a:solidFill>
                  <a:srgbClr val="7030A0"/>
                </a:solidFill>
              </a:rPr>
              <a:t>bisection search algorithm</a:t>
            </a:r>
            <a:r>
              <a:rPr lang="en-US" dirty="0"/>
              <a:t>. </a:t>
            </a:r>
          </a:p>
          <a:p>
            <a:pPr lvl="3"/>
            <a:r>
              <a:rPr lang="en-US" dirty="0"/>
              <a:t>Shows optimal performance can be achieved by </a:t>
            </a:r>
            <a:r>
              <a:rPr lang="en-US" dirty="0">
                <a:solidFill>
                  <a:srgbClr val="7030A0"/>
                </a:solidFill>
              </a:rPr>
              <a:t>single-stream transmission</a:t>
            </a:r>
            <a:r>
              <a:rPr lang="en-US" dirty="0"/>
              <a:t>. </a:t>
            </a:r>
          </a:p>
          <a:p>
            <a:pPr lvl="3"/>
            <a:r>
              <a:rPr lang="en-US" dirty="0"/>
              <a:t>Extends the design to include </a:t>
            </a:r>
            <a:r>
              <a:rPr lang="en-US" dirty="0">
                <a:solidFill>
                  <a:srgbClr val="7030A0"/>
                </a:solidFill>
              </a:rPr>
              <a:t>hardware impairments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01DE78-22BA-78E8-E516-365D41B5E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35832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8C9B8-50E9-6981-D585-A62233799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07640B-002A-0A1E-6F03-03A6DA9E57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Motivation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Why DFRC is needed</a:t>
            </a:r>
          </a:p>
          <a:p>
            <a:pPr lvl="2"/>
            <a:r>
              <a:rPr lang="en-US" dirty="0"/>
              <a:t>Radar and communication systems increasingly use the same spectrum. </a:t>
            </a:r>
          </a:p>
          <a:p>
            <a:pPr lvl="2"/>
            <a:r>
              <a:rPr lang="en-US" dirty="0"/>
              <a:t>Sub-6 GHz and </a:t>
            </a:r>
            <a:r>
              <a:rPr lang="en-US" dirty="0" err="1"/>
              <a:t>mmWave</a:t>
            </a:r>
            <a:r>
              <a:rPr lang="en-US" dirty="0"/>
              <a:t> bands are shared by both systems. </a:t>
            </a:r>
          </a:p>
          <a:p>
            <a:pPr lvl="2"/>
            <a:r>
              <a:rPr lang="en-US" dirty="0"/>
              <a:t>Spectrum scarcity motivates joint radar-communication design.</a:t>
            </a:r>
          </a:p>
          <a:p>
            <a:r>
              <a:rPr lang="en-US" dirty="0">
                <a:solidFill>
                  <a:srgbClr val="7030A0"/>
                </a:solidFill>
              </a:rPr>
              <a:t>Two Research Directions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CRSS (Communication and radar spectrum sharing) has two main directions</a:t>
            </a:r>
          </a:p>
          <a:p>
            <a:pPr lvl="2"/>
            <a:r>
              <a:rPr lang="en-US" dirty="0">
                <a:solidFill>
                  <a:srgbClr val="7030A0"/>
                </a:solidFill>
              </a:rPr>
              <a:t>RCC:</a:t>
            </a:r>
            <a:r>
              <a:rPr lang="en-US" dirty="0"/>
              <a:t> radar and communication are separate systems. </a:t>
            </a:r>
          </a:p>
          <a:p>
            <a:pPr lvl="2"/>
            <a:r>
              <a:rPr lang="en-US" dirty="0">
                <a:solidFill>
                  <a:srgbClr val="7030A0"/>
                </a:solidFill>
              </a:rPr>
              <a:t>DFRC: </a:t>
            </a:r>
            <a:r>
              <a:rPr lang="en-US" dirty="0"/>
              <a:t>one system performs both radar sensing and communication. </a:t>
            </a:r>
          </a:p>
          <a:p>
            <a:pPr lvl="1"/>
            <a:r>
              <a:rPr lang="en-US" dirty="0"/>
              <a:t>This paper focuses on </a:t>
            </a:r>
            <a:r>
              <a:rPr lang="en-US" dirty="0">
                <a:solidFill>
                  <a:srgbClr val="7030A0"/>
                </a:solidFill>
              </a:rPr>
              <a:t>DFRC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4F0CE-F995-A551-0B1E-A3D14BDC1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2191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667AC-FD6E-711D-9362-FAAA73CE9D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677784-2C5A-34B8-417E-C17200ACB7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Limitation of Existing DFRC Works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Previous works usually do: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Optimize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radar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subject to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communication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constraints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or the opposite.</a:t>
                </a:r>
              </a:p>
              <a:p>
                <a:pPr lvl="1"/>
                <a:r>
                  <a:rPr lang="en-US" dirty="0"/>
                  <a:t>But they do not fully show the </a:t>
                </a:r>
                <a:r>
                  <a:rPr lang="en-US" dirty="0">
                    <a:solidFill>
                      <a:srgbClr val="7030A0"/>
                    </a:solidFill>
                  </a:rPr>
                  <a:t>best radar-communication trade-off.</a:t>
                </a:r>
              </a:p>
              <a:p>
                <a:r>
                  <a:rPr lang="en-US" dirty="0">
                    <a:solidFill>
                      <a:srgbClr val="7030A0"/>
                    </a:solidFill>
                  </a:rPr>
                  <a:t>Main Challenge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Radar and communication have different goals</a:t>
                </a:r>
              </a:p>
              <a:p>
                <a:pPr lvl="2"/>
                <a:r>
                  <a:rPr lang="en-US" dirty="0"/>
                  <a:t>Radar wants strong beampattern toward target. </a:t>
                </a:r>
              </a:p>
              <a:p>
                <a:pPr lvl="2"/>
                <a:r>
                  <a:rPr lang="en-US" dirty="0"/>
                  <a:t>Communication wants high SINR for users. </a:t>
                </a:r>
              </a:p>
              <a:p>
                <a:pPr lvl="2"/>
                <a:r>
                  <a:rPr lang="en-US" dirty="0"/>
                  <a:t>Improving one may reduce the other. </a:t>
                </a:r>
              </a:p>
              <a:p>
                <a:pPr lvl="1"/>
                <a:r>
                  <a:rPr lang="en-US" dirty="0"/>
                  <a:t>So the problem becomes a </a:t>
                </a:r>
                <a:r>
                  <a:rPr lang="en-US" dirty="0">
                    <a:solidFill>
                      <a:srgbClr val="7030A0"/>
                    </a:solidFill>
                  </a:rPr>
                  <a:t>multi-objective optimization problem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677784-2C5A-34B8-417E-C17200ACB7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6EC4B9-7E63-84A9-2B14-5B37B4262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93371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5E3829-44EF-EEA7-4E0D-19FE95908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ECB1CC7-BACA-F6BA-6DE1-55E9ED7904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Main Idea of This Paper</a:t>
                </a:r>
              </a:p>
              <a:p>
                <a:pPr lvl="1"/>
                <a:r>
                  <a:rPr lang="en-US" dirty="0"/>
                  <a:t>The paper proposes a:</a:t>
                </a:r>
              </a:p>
              <a:p>
                <a:pPr lvl="2"/>
                <a:r>
                  <a:rPr lang="en-US" dirty="0"/>
                  <a:t>Pareto optimization framework</a:t>
                </a:r>
                <a:endParaRPr lang="en-US" b="0" dirty="0"/>
              </a:p>
              <a:p>
                <a:pPr lvl="2"/>
                <a:r>
                  <a:rPr lang="en-US" dirty="0"/>
                  <a:t>for multi-antenna DFRC.</a:t>
                </a:r>
              </a:p>
              <a:p>
                <a:pPr lvl="1"/>
                <a:r>
                  <a:rPr lang="en-US" dirty="0"/>
                  <a:t>It studies the trade-off between: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Radar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DPSL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and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User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SINR</m:t>
                    </m:r>
                  </m:oMath>
                </a14:m>
                <a:endParaRPr lang="en-US" b="0" dirty="0"/>
              </a:p>
              <a:p>
                <a:r>
                  <a:rPr lang="en-US" dirty="0">
                    <a:solidFill>
                      <a:srgbClr val="0000FF"/>
                    </a:solidFill>
                  </a:rPr>
                  <a:t>Achievable Performance Region</a:t>
                </a:r>
              </a:p>
              <a:p>
                <a:pPr lvl="1"/>
                <a:r>
                  <a:rPr lang="en-US" dirty="0"/>
                  <a:t>The paper defines a region using:</a:t>
                </a:r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Radar DPSL </a:t>
                </a:r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SINR of each communication user </a:t>
                </a:r>
              </a:p>
              <a:p>
                <a:pPr lvl="2"/>
                <a:r>
                  <a:rPr lang="en-US" dirty="0"/>
                  <a:t>This region shows all possible radar-communication performance combinations.</a:t>
                </a:r>
              </a:p>
              <a:p>
                <a:pPr lvl="1"/>
                <a:r>
                  <a:rPr lang="en-US" dirty="0"/>
                  <a:t>They prove the region is:</a:t>
                </a:r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compact </a:t>
                </a:r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normal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ECB1CC7-BACA-F6BA-6DE1-55E9ED7904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87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39E16A-77E9-5576-82AF-9B3AF8A48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8983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499762-462D-A6B8-9D4A-6814532C0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63BACC-6F47-2824-CD56-F57D1BA444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Fairness-Profile Optimization</a:t>
            </a:r>
          </a:p>
          <a:p>
            <a:pPr lvl="1"/>
            <a:r>
              <a:rPr lang="en-US" dirty="0"/>
              <a:t>The paper uses </a:t>
            </a:r>
            <a:r>
              <a:rPr lang="en-US" dirty="0">
                <a:solidFill>
                  <a:srgbClr val="7030A0"/>
                </a:solidFill>
              </a:rPr>
              <a:t>fairness-profile optimization.</a:t>
            </a:r>
          </a:p>
          <a:p>
            <a:r>
              <a:rPr lang="en-US" dirty="0">
                <a:solidFill>
                  <a:srgbClr val="7030A0"/>
                </a:solidFill>
              </a:rPr>
              <a:t>Meaning:</a:t>
            </a:r>
          </a:p>
          <a:p>
            <a:pPr lvl="1"/>
            <a:r>
              <a:rPr lang="en-US" dirty="0"/>
              <a:t>Radar and users have minimum acceptable performance. </a:t>
            </a:r>
          </a:p>
          <a:p>
            <a:pPr lvl="1"/>
            <a:r>
              <a:rPr lang="en-US" dirty="0"/>
              <a:t>Then the design moves toward the Pareto boundary. </a:t>
            </a:r>
          </a:p>
          <a:p>
            <a:pPr lvl="1"/>
            <a:r>
              <a:rPr lang="en-US" dirty="0"/>
              <a:t>This gives a balanced radar-communication trade-off. </a:t>
            </a:r>
          </a:p>
          <a:p>
            <a:pPr lvl="1"/>
            <a:r>
              <a:rPr lang="en-US" dirty="0"/>
              <a:t>It includes both:</a:t>
            </a:r>
          </a:p>
          <a:p>
            <a:pPr lvl="2"/>
            <a:r>
              <a:rPr lang="en-US" dirty="0"/>
              <a:t>max DPSL with SINR constraints </a:t>
            </a:r>
          </a:p>
          <a:p>
            <a:pPr lvl="2"/>
            <a:r>
              <a:rPr lang="en-US" dirty="0"/>
              <a:t>max SINR with DPSL constraints</a:t>
            </a:r>
          </a:p>
          <a:p>
            <a:r>
              <a:rPr lang="en-US" dirty="0">
                <a:solidFill>
                  <a:srgbClr val="0000FF"/>
                </a:solidFill>
              </a:rPr>
              <a:t>Main Contributions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Key contributions</a:t>
            </a:r>
          </a:p>
          <a:p>
            <a:pPr lvl="2"/>
            <a:r>
              <a:rPr lang="en-US" dirty="0"/>
              <a:t>Proposes Pareto framework for DFRC. </a:t>
            </a:r>
          </a:p>
          <a:p>
            <a:pPr lvl="2"/>
            <a:r>
              <a:rPr lang="en-US" dirty="0"/>
              <a:t>Defines DPSL–SINR performance region. </a:t>
            </a:r>
          </a:p>
          <a:p>
            <a:pPr lvl="2"/>
            <a:r>
              <a:rPr lang="en-US" dirty="0"/>
              <a:t>Solves the problem using bisection search. </a:t>
            </a:r>
          </a:p>
          <a:p>
            <a:pPr lvl="2"/>
            <a:r>
              <a:rPr lang="en-US" dirty="0"/>
              <a:t>Proves single-stream transmission is optimal. </a:t>
            </a:r>
          </a:p>
          <a:p>
            <a:pPr lvl="2"/>
            <a:r>
              <a:rPr lang="en-US" dirty="0"/>
              <a:t>Extends the design to hardware impairments.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C7139E-CB00-66AA-DD9D-7E654E134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91270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9B7DA8-DE6E-2EC4-B893-6ED30AF8F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D860009-F375-5607-966E-F847D4E57C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8268" y="1649413"/>
            <a:ext cx="2915174" cy="259885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86F315-F6AA-CE47-11E0-E055F974B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CBA0B4-1B55-DF74-8047-FA4F5F862FF1}"/>
              </a:ext>
            </a:extLst>
          </p:cNvPr>
          <p:cNvSpPr txBox="1"/>
          <p:nvPr/>
        </p:nvSpPr>
        <p:spPr>
          <a:xfrm>
            <a:off x="2919370" y="4215468"/>
            <a:ext cx="6170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1. System model of multi-antenna DFRC network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CB93479-7A88-DCEF-608D-D8A7C91838C8}"/>
                  </a:ext>
                </a:extLst>
              </p:cNvPr>
              <p:cNvSpPr txBox="1"/>
              <p:nvPr/>
            </p:nvSpPr>
            <p:spPr>
              <a:xfrm>
                <a:off x="910206" y="4580390"/>
                <a:ext cx="10872131" cy="15148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0000FF"/>
                    </a:solidFill>
                  </a:rPr>
                  <a:t>DFRC System Setup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DFRC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BS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with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sty m:val="p"/>
                      </m:rPr>
                      <a:rPr lang="en-US" b="0" i="0">
                        <a:latin typeface="Cambria Math" panose="02040503050406030204" pitchFamily="18" charset="0"/>
                      </a:rPr>
                      <m:t>N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antennas</m:t>
                    </m:r>
                  </m:oMath>
                </a14:m>
                <a:endParaRPr lang="en-US" b="0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single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antenna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communication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users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and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radar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target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direction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i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r>
                  <a:rPr lang="en-US" dirty="0"/>
                  <a:t> is the total transmitted DFRC signal.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CB93479-7A88-DCEF-608D-D8A7C91838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206" y="4580390"/>
                <a:ext cx="10872131" cy="1514870"/>
              </a:xfrm>
              <a:prstGeom prst="rect">
                <a:avLst/>
              </a:prstGeom>
              <a:blipFill>
                <a:blip r:embed="rId3"/>
                <a:stretch>
                  <a:fillRect l="-336" t="-2008" b="-249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950109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E669C-2D1F-3767-843E-B3550ED290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B48956-BF48-B23D-3C5A-1D3E40A6CE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DFRC System Setup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Communication Received Signal</a:t>
                </a:r>
              </a:p>
              <a:p>
                <a:pPr lvl="2"/>
                <a:r>
                  <a:rPr lang="en-US" dirty="0"/>
                  <a:t>Received signal of CU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i="1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Substitute: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So: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Expand desired + interference: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𝐬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nor/>
                          </m:rPr>
                          <a:rPr lang="en-US"/>
                          <m:t>desired</m:t>
                        </m:r>
                        <m:r>
                          <m:rPr>
                            <m:nor/>
                          </m:rPr>
                          <a:rPr lang="en-US"/>
                          <m:t> </m:t>
                        </m:r>
                        <m:r>
                          <m:rPr>
                            <m:nor/>
                          </m:rPr>
                          <a:rPr lang="en-US"/>
                          <m:t>signal</m:t>
                        </m:r>
                      </m:lim>
                    </m:limLow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nary>
                              <m:naryPr>
                                <m:chr m:val="∑"/>
                                <m:grow m:val="on"/>
                                <m:supHide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≠</m:t>
                                </m:r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/>
                              <m:e>
                                <m:sSubSup>
                                  <m:sSub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𝐡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bSup>
                              </m:e>
                            </m:nary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𝐬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nor/>
                          </m:rPr>
                          <a:rPr lang="en-US"/>
                          <m:t>multi</m:t>
                        </m:r>
                        <m:r>
                          <m:rPr>
                            <m:nor/>
                          </m:rPr>
                          <a:rPr lang="en-US"/>
                          <m:t>−</m:t>
                        </m:r>
                        <m:r>
                          <m:rPr>
                            <m:nor/>
                          </m:rPr>
                          <a:rPr lang="en-US"/>
                          <m:t>user</m:t>
                        </m:r>
                        <m:r>
                          <m:rPr>
                            <m:nor/>
                          </m:rPr>
                          <a:rPr lang="en-US"/>
                          <m:t> </m:t>
                        </m:r>
                        <m:r>
                          <m:rPr>
                            <m:nor/>
                          </m:rPr>
                          <a:rPr lang="en-US"/>
                          <m:t>interference</m:t>
                        </m:r>
                      </m:lim>
                    </m:limLow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nor/>
                          </m:rPr>
                          <a:rPr lang="en-US"/>
                          <m:t>noise</m:t>
                        </m:r>
                      </m:lim>
                    </m:limLow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B48956-BF48-B23D-3C5A-1D3E40A6CE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646CAF-1099-EB27-AF19-3A94B50FD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5064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56D1B-7EF0-FD8F-7317-8E04DA7F9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D0620AC-1DFA-6FE8-949B-838C8F1869A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DFRC System Setup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Signal Covariance Matrix</a:t>
                </a:r>
              </a:p>
              <a:p>
                <a:pPr lvl="2"/>
                <a:r>
                  <a:rPr lang="en-US" dirty="0"/>
                  <a:t>Define: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Total transmit covariance: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  <m:sSup>
                          <m:sSup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hr m:val="∑"/>
                                <m:grow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𝐬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nary>
                                  <m:naryPr>
                                    <m:chr m:val="∑"/>
                                    <m:grow m:val="on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>
                                            <a:latin typeface="Cambria Math" panose="02040503050406030204" pitchFamily="18" charset="0"/>
                                          </a:rPr>
                                          <m:t>𝐬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</m:d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Because user’s signals are independent: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Therefore: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  <m:sSup>
                          <m:sSup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D0620AC-1DFA-6FE8-949B-838C8F1869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CB7BFB-2353-C6C7-0C47-233188D17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65920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780230-4DDA-77AF-70B9-DDC908AAE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ABC7B4-F21D-275A-339C-E41EA00225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DFRC System Setup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SINR Derivation</a:t>
                </a:r>
              </a:p>
              <a:p>
                <a:pPr lvl="2"/>
                <a:r>
                  <a:rPr lang="en-US" dirty="0"/>
                  <a:t>Desired signal power: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signal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d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Interference power: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int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Noise power: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noise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Thus: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,….,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r>
                  <a:rPr lang="en-US" b="0" dirty="0"/>
                  <a:t>                                                                           (1)</a:t>
                </a:r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ABC7B4-F21D-275A-339C-E41EA00225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83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ED129A-7E9E-0B75-EBF9-67DA130F3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84017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A31C8-748C-D34B-6263-DBA2581BA2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A65C3E-AE5B-1418-8FB8-E4B8EB0B203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DFRC System Setup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Transmit Power Constraint</a:t>
                </a:r>
              </a:p>
              <a:p>
                <a:pPr lvl="1"/>
                <a:r>
                  <a:rPr lang="en-US" dirty="0"/>
                  <a:t>Total transmit power: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1"/>
                          <m:t>tx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  <m:sSup>
                          <m:sSup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</m:oMath>
                </a14:m>
                <a:endParaRPr lang="ar-AE" b="1" dirty="0"/>
              </a:p>
              <a:p>
                <a:pPr lvl="1"/>
                <a:r>
                  <a:rPr lang="en-US" dirty="0"/>
                  <a:t>Using trace identity: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𝐱</m:t>
                                </m:r>
                                <m:sSup>
                                  <m:sSupPr>
                                    <m:ctrlPr>
                                      <a:rPr lang="ar-AE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𝐱</m:t>
                                    </m:r>
                                  </m:e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p>
                              </m:e>
                            </m:d>
                          </m:e>
                        </m:d>
                      </m:e>
                    </m:func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Since: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  <m:sSup>
                          <m:sSup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Then:</a:t>
                </a:r>
              </a:p>
              <a:p>
                <a:pPr lvl="2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begChr m:val="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hr m:val="∑"/>
                                <m:grow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A65C3E-AE5B-1418-8FB8-E4B8EB0B203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8E2CDA-B080-5312-7DDA-6B07ABE45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0467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40B07-A832-DF9F-F25B-E93EFD83A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FA6938-343A-73FD-2F7C-393BE33227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7030A0"/>
                    </a:solidFill>
                  </a:rPr>
                  <a:t>DFRC System Setup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Radar Probing Power</a:t>
                </a:r>
              </a:p>
              <a:p>
                <a:pPr lvl="1"/>
                <a:r>
                  <a:rPr lang="en-US" dirty="0"/>
                  <a:t>Radar steering vector: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𝑑𝑠𝑖𝑛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d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,……., 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𝑑𝑠𝑖𝑛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d>
                              </m:sup>
                            </m:sSup>
                          </m:e>
                        </m:d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Power radiated toward angle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  <m:sSup>
                          <m:sSup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ar-AE" b="1" dirty="0"/>
              </a:p>
              <a:p>
                <a:pPr lvl="1"/>
                <a:r>
                  <a:rPr lang="en-US" dirty="0"/>
                  <a:t>Substitute covariance: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ar-AE" b="1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FA6938-343A-73FD-2F7C-393BE33227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FB7C7E-EDEF-88E2-F62E-87AE3DBAB4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24642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79F6D-5B44-A865-BB40-C543ED284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A1580B-C085-D22B-483A-9EAE39F6D5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DFRC System Setup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DPSL Radar Metric</a:t>
                </a:r>
              </a:p>
              <a:p>
                <a:pPr lvl="1"/>
                <a:r>
                  <a:rPr lang="en-US" dirty="0"/>
                  <a:t>Main beam power: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main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1"/>
                <a:r>
                  <a:rPr lang="en-US" dirty="0"/>
                  <a:t>Sidelobe power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ar-AE" dirty="0"/>
                  <a:t>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side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1"/>
                <a:r>
                  <a:rPr lang="en-US" dirty="0"/>
                  <a:t>Therefore: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main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side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A1580B-C085-D22B-483A-9EAE39F6D5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AF8EA5-86C7-C706-D994-73D9F9391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4848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AE4BD1-3687-798C-6D96-F3E1B6C36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3CDE3-213D-8B41-3EC4-5F0DCCEF42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DFRC System Setup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3 dB Main Beam Width Constraint</a:t>
                </a:r>
              </a:p>
              <a:p>
                <a:pPr lvl="2"/>
                <a:r>
                  <a:rPr lang="en-US" dirty="0"/>
                  <a:t>Peak power at target direction: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peak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Half-power level: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m:rPr>
                            <m:nor/>
                          </m:rPr>
                          <a:rPr lang="en-US"/>
                          <m:t>dB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peak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At beam boundary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</m:oMath>
                </a14:m>
                <a:r>
                  <a:rPr lang="ar-AE" dirty="0"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At beam boundary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ar-AE" dirty="0"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Expanded form: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latin typeface="Cambria Math" panose="02040503050406030204" pitchFamily="18" charset="0"/>
                      </a:rPr>
                      <m:t>5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latin typeface="Cambria Math" panose="02040503050406030204" pitchFamily="18" charset="0"/>
                      </a:rPr>
                      <m:t>5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ar-AE" i="1"/>
                      <m:t>3 </m:t>
                    </m:r>
                    <m:r>
                      <m:rPr>
                        <m:nor/>
                      </m:rPr>
                      <a:rPr lang="en-US"/>
                      <m:t>dB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/>
                      <m:t>main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beam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width</m:t>
                    </m:r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3CDE3-213D-8B41-3EC4-5F0DCCEF42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66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905842-7B71-DAD7-D51E-F4B1C42AA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77885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45DD2D-C46F-2526-50E2-6FFCFB388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B2298E-839C-F035-20BB-9AD0D11EE7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Goal of Section III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,….,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}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⇒</m:t>
                    </m:r>
                    <m:d>
                      <m:dPr>
                        <m:begChr m:val="{"/>
                        <m:end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  <m:e>
                              <m:r>
                                <m:rPr>
                                  <m:nor/>
                                </m:rPr>
                                <a:rPr lang="en-US"/>
                                <m:t>CU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SINR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𝜂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  <m:e>
                              <m:r>
                                <m:rPr>
                                  <m:nor/>
                                </m:rPr>
                                <a:rPr lang="en-US"/>
                                <m:t>Radar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DPSL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ar-AE" b="0" dirty="0"/>
              </a:p>
              <a:p>
                <a:r>
                  <a:rPr lang="en-US" dirty="0"/>
                  <a:t>Same covariance matrices control both communication and radar.</a:t>
                </a:r>
              </a:p>
              <a:p>
                <a:r>
                  <a:rPr lang="en-US" dirty="0">
                    <a:solidFill>
                      <a:srgbClr val="7030A0"/>
                    </a:solidFill>
                  </a:rPr>
                  <a:t>Achievable Performance Region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,….,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,……,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:∀ 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,….,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0" dirty="0"/>
                  <a:t>                                                          </a:t>
                </a:r>
                <a:endParaRPr lang="ar-AE" b="0" dirty="0"/>
              </a:p>
              <a:p>
                <a:pPr lvl="1"/>
                <a:r>
                  <a:rPr lang="en-US" dirty="0"/>
                  <a:t>where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𝒮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,……,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 :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eq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and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eq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0" dirty="0"/>
                  <a:t>                                                                                      </a:t>
                </a:r>
                <a:endParaRPr lang="ar-AE" b="0" dirty="0"/>
              </a:p>
              <a:p>
                <a:pPr lvl="1"/>
                <a:r>
                  <a:rPr lang="en-US" dirty="0"/>
                  <a:t>So,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dim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ℛ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ar-AE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B2298E-839C-F035-20BB-9AD0D11EE7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903225-190B-2471-41E6-231E063051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96728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A6A3B-F4DD-8DA1-DD9E-28F24F589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E0B9D6-5B31-9E75-9A28-089DA7274E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Meaning of</a:t>
                </a:r>
                <a:r>
                  <a:rPr lang="en-US" dirty="0">
                    <a:solidFill>
                      <a:srgbClr val="7030A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𝒮</m:t>
                    </m:r>
                  </m:oMath>
                </a14:m>
                <a:endParaRPr lang="en-US" b="1" dirty="0"/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𝒮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all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feasible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 smtClean="0">
                        <a:solidFill>
                          <a:srgbClr val="0070C0"/>
                        </a:solidFill>
                      </a:rPr>
                      <m:t>transmit</m:t>
                    </m:r>
                    <m:r>
                      <m:rPr>
                        <m:nor/>
                      </m:rPr>
                      <a:rPr lang="en-US" smtClean="0">
                        <a:solidFill>
                          <a:srgbClr val="0070C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en-US" smtClean="0">
                        <a:solidFill>
                          <a:srgbClr val="0070C0"/>
                        </a:solidFill>
                      </a:rPr>
                      <m:t>covariance</m:t>
                    </m:r>
                    <m:r>
                      <m:rPr>
                        <m:nor/>
                      </m:rPr>
                      <a:rPr lang="en-US" smtClean="0">
                        <a:solidFill>
                          <a:srgbClr val="0070C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en-US" smtClean="0">
                        <a:solidFill>
                          <a:srgbClr val="0070C0"/>
                        </a:solidFill>
                      </a:rPr>
                      <m:t>matrices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They must satisfy:</a:t>
                </a:r>
              </a:p>
              <a:p>
                <a:pPr lvl="2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begChr m:val="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hr m:val="∑"/>
                                <m:grow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and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latin typeface="Cambria Math" panose="02040503050406030204" pitchFamily="18" charset="0"/>
                      </a:rPr>
                      <m:t>5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latin typeface="Cambria Math" panose="02040503050406030204" pitchFamily="18" charset="0"/>
                      </a:rPr>
                      <m:t>5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r>
                  <a:rPr lang="en-US" dirty="0">
                    <a:solidFill>
                      <a:srgbClr val="0000FF"/>
                    </a:solidFill>
                  </a:rPr>
                  <a:t>Why </a:t>
                </a:r>
                <a14:m>
                  <m:oMath xmlns:m="http://schemas.openxmlformats.org/officeDocument/2006/math">
                    <m:r>
                      <a:rPr lang="en-US" b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r>
                  <a:rPr lang="en-US" dirty="0">
                    <a:solidFill>
                      <a:srgbClr val="0000FF"/>
                    </a:solidFill>
                  </a:rPr>
                  <a:t> is Non-Convex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Numerator and denominator both depend on: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,….,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Therefore,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generally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non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convex</m:t>
                    </m:r>
                  </m:oMath>
                </a14:m>
                <a:endParaRPr lang="en-US" b="0" dirty="0"/>
              </a:p>
              <a:p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E0B9D6-5B31-9E75-9A28-089DA7274E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8F0229-A5C8-F2A0-C465-FE27FF822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474677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306209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07E98-BB9B-8867-AAD2-59A2318DD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4DB020-E7DE-9287-A4CE-B6F53719123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Compact Set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compact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means: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closed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and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bounded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Why bounded?</a:t>
                </a:r>
              </a:p>
              <a:p>
                <a:pPr lvl="2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begChr m:val="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hr m:val="∑"/>
                                <m:grow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Power is limited, so SINR and DPSL cannot become infinite.</a:t>
                </a:r>
              </a:p>
              <a:p>
                <a:r>
                  <a:rPr lang="en-US" dirty="0">
                    <a:solidFill>
                      <a:srgbClr val="0000FF"/>
                    </a:solidFill>
                  </a:rPr>
                  <a:t>Normal Set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 i="1"/>
                      <m:t>is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 i="1"/>
                      <m:t>normal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means:</a:t>
                </a:r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then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Simple meaning: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If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better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performance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is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achievable</m:t>
                    </m:r>
                    <m:r>
                      <m:rPr>
                        <m:nor/>
                      </m:rPr>
                      <a:rPr lang="en-US" b="0"/>
                      <m:t>, </m:t>
                    </m:r>
                    <m:r>
                      <m:rPr>
                        <m:nor/>
                      </m:rPr>
                      <a:rPr lang="en-US" b="0"/>
                      <m:t>worse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performance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is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also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achievable</m:t>
                    </m:r>
                    <m:r>
                      <m:rPr>
                        <m:nor/>
                      </m:rPr>
                      <a:rPr lang="en-US" b="0"/>
                      <m:t>.</m:t>
                    </m:r>
                  </m:oMath>
                </a14:m>
                <a:endParaRPr lang="en-US" b="0" dirty="0"/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4DB020-E7DE-9287-A4CE-B6F5371912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E3B697-BE9F-7F65-B860-1278F2C74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34620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D547C-BFD6-E1F7-770D-DADECBF05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745DCE-001C-B2A9-9AB2-540B121B00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Pareto Boundary</a:t>
                </a:r>
              </a:p>
              <a:p>
                <a:pPr lvl="1"/>
                <a:r>
                  <a:rPr lang="en-US" dirty="0"/>
                  <a:t>A point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r>
                  <a:rPr lang="en-US" dirty="0"/>
                  <a:t> is Pareto optimal if: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but there is no point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such that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endParaRPr lang="ar-AE" b="1" dirty="0"/>
              </a:p>
              <a:p>
                <a:pPr lvl="1"/>
                <a:r>
                  <a:rPr lang="en-US" dirty="0"/>
                  <a:t>So, no other feasible point can improve all metrics together.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i="1"/>
                      <m:t>Pareto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 i="1"/>
                      <m:t>boundary</m:t>
                    </m:r>
                  </m:oMath>
                </a14:m>
                <a:endParaRPr lang="en-US" b="0" dirty="0"/>
              </a:p>
              <a:p>
                <a:r>
                  <a:rPr lang="en-US" dirty="0">
                    <a:solidFill>
                      <a:srgbClr val="0000FF"/>
                    </a:solidFill>
                  </a:rPr>
                  <a:t>Appendix A: Compactness Proof</a:t>
                </a:r>
              </a:p>
              <a:p>
                <a:pPr lvl="1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,….,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,….,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are continuous functions,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 is compact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is also compact.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continuous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mapping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of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compact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set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compact</m:t>
                    </m:r>
                  </m:oMath>
                </a14:m>
                <a:endParaRPr lang="ar-AE" b="0" dirty="0"/>
              </a:p>
              <a:p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745DCE-001C-B2A9-9AB2-540B121B00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9CA517-2787-3F24-CD3F-54D6EB6FD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934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970742-5361-11D5-368A-83855AF26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341567-04D5-E974-D24A-03F87123FF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Appendix A: Compactness Proof</a:t>
                </a:r>
                <a:endParaRPr lang="en-US" b="1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Appendix A: Normality Proof Idea</a:t>
                </a:r>
              </a:p>
              <a:p>
                <a:pPr lvl="2"/>
                <a:r>
                  <a:rPr lang="en-US" dirty="0"/>
                  <a:t>Start from an achievable point: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,….,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,…..,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achieved by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,….,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Now scale the covariance matrices: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,….,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,….,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where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DPSL with Power Scaling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Define: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𝚲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,….,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Then:</a:t>
                </a:r>
              </a:p>
              <a:p>
                <a:pPr lvl="3"/>
                <a14:m>
                  <m:oMath xmlns:m="http://schemas.openxmlformats.org/officeDocument/2006/math"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 b="1">
                            <a:latin typeface="Cambria Math" panose="02040503050406030204" pitchFamily="18" charset="0"/>
                          </a:rPr>
                          <m:t>𝐃</m:t>
                        </m:r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𝐩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𝚲</m:t>
                    </m:r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Meaning: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lower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DPSL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target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no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larger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power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needed</m:t>
                    </m:r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341567-04D5-E974-D24A-03F87123FF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76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0C8DEB-189D-AEDE-E5B3-266B971F3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504039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21</a:t>
            </a:fld>
            <a:r>
              <a:rPr lang="en-US" altLang="ko-KR" dirty="0"/>
              <a:t>	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72596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AB207-0485-F9A6-B8EC-C5B9D274F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8C84D2-EA2F-B0FA-409B-0C0482295A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Conclusion</a:t>
                </a:r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endParaRPr lang="ar-AE" b="1" dirty="0"/>
              </a:p>
              <a:p>
                <a:pPr lvl="1"/>
                <a:r>
                  <a:rPr lang="en-US" dirty="0"/>
                  <a:t>then by reducing/scaling transmit covariance power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Therefore: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r>
                  <a:rPr lang="en-US" dirty="0"/>
                  <a:t> is normal</a:t>
                </a:r>
                <a:endParaRPr lang="ar-AE" b="0" dirty="0"/>
              </a:p>
              <a:p>
                <a:pPr lvl="1"/>
                <a:r>
                  <a:rPr lang="en-US" dirty="0"/>
                  <a:t>Together: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r>
                  <a:rPr lang="en-US" b="0" dirty="0"/>
                  <a:t> is normal and compact</a:t>
                </a:r>
                <a:endParaRPr lang="ar-AE" b="0" dirty="0"/>
              </a:p>
              <a:p>
                <a:pPr lvl="1"/>
                <a:r>
                  <a:rPr lang="en-US" dirty="0"/>
                  <a:t>So, the best DFRC trade-off points lie on: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8C84D2-EA2F-B0FA-409B-0C0482295A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FEACE8-DD13-124E-9F49-6291DFA73E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46516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E99D8-4763-DFEE-BAF5-7E5479258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584DEC-8C03-7D6A-7A03-4EA470ECDF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49690"/>
                <a:ext cx="10515600" cy="4767887"/>
              </a:xfrm>
            </p:spPr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Purpose of Fairness-Profile Optimization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,….,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Many Pareto points exist.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Goal: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select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one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balanced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Pareto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point</m:t>
                    </m:r>
                  </m:oMath>
                </a14:m>
                <a:endParaRPr lang="en-US" b="0" dirty="0"/>
              </a:p>
              <a:p>
                <a:r>
                  <a:rPr lang="en-US" dirty="0">
                    <a:solidFill>
                      <a:srgbClr val="0000FF"/>
                    </a:solidFill>
                  </a:rPr>
                  <a:t>General Problem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>
                  <a:solidFill>
                    <a:srgbClr val="0000FF"/>
                  </a:solidFill>
                </a:endParaRPr>
              </a:p>
              <a:p>
                <a:pPr lvl="1"/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{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}</m:t>
                            </m:r>
                          </m:lim>
                        </m:limLow>
                      </m:fName>
                      <m:e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min</m:t>
                                </m:r>
                              </m:e>
                              <m:lim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lim>
                            </m:limLow>
                          </m:fName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𝛾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𝜂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d>
                          </m:e>
                        </m:func>
                      </m:e>
                    </m:func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  </m:t>
                    </m:r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≽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∀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0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0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0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0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584DEC-8C03-7D6A-7A03-4EA470ECDF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49690"/>
                <a:ext cx="10515600" cy="4767887"/>
              </a:xfrm>
              <a:blipFill>
                <a:blip r:embed="rId2"/>
                <a:stretch>
                  <a:fillRect l="-522" t="-1279" b="-136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733802-C538-EF19-5968-6ED4F4D65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23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7AE0A79-F28D-55A8-583C-6FF0B04306C1}"/>
                  </a:ext>
                </a:extLst>
              </p:cNvPr>
              <p:cNvSpPr txBox="1"/>
              <p:nvPr/>
            </p:nvSpPr>
            <p:spPr>
              <a:xfrm>
                <a:off x="6186881" y="2344723"/>
                <a:ext cx="5788403" cy="25821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0000FF"/>
                    </a:solidFill>
                  </a:rPr>
                  <a:t>Meaning of Fairness Parameters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minimum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acceptable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SINR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of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CU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endParaRPr lang="en-US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minimum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acceptable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DPSL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sidelobe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angle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ar-AE"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ar-AE">
                            <a:latin typeface="Cambria Math" panose="02040503050406030204" pitchFamily="18" charset="0"/>
                          </a:rPr>
                          <m:t>m</m:t>
                        </m:r>
                      </m:sub>
                    </m:sSub>
                  </m:oMath>
                </a14:m>
                <a:endParaRPr lang="ar-AE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SINR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improvement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direction</m:t>
                    </m:r>
                  </m:oMath>
                </a14:m>
                <a:endParaRPr lang="en-US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DPSL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improvement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direction</m:t>
                    </m:r>
                  </m:oMath>
                </a14:m>
                <a:endParaRPr lang="en-US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Core idea:</a:t>
                </a:r>
              </a:p>
              <a:p>
                <a:pPr marL="1200150" lvl="2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minimum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level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/>
                      <m:t>controlled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improvement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7AE0A79-F28D-55A8-583C-6FF0B04306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6881" y="2344723"/>
                <a:ext cx="5788403" cy="2582182"/>
              </a:xfrm>
              <a:prstGeom prst="rect">
                <a:avLst/>
              </a:prstGeom>
              <a:blipFill>
                <a:blip r:embed="rId3"/>
                <a:stretch>
                  <a:fillRect l="-738" t="-14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7208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13135-475F-FD90-2796-611B48E352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3D3B7F-F541-6589-6853-25F984D761E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General Problem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Remark 2: Radar-Priority Case</a:t>
                </a:r>
              </a:p>
              <a:p>
                <a:pPr lvl="2"/>
                <a:r>
                  <a:rPr lang="en-US" dirty="0"/>
                  <a:t>Set: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Then: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lim>
                    </m:limLow>
                    <m:d>
                      <m:dPr>
                        <m:begChr m:val="{"/>
                        <m:endChr m:val="}"/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>
                                    <a:latin typeface="Cambria Math" panose="02040503050406030204" pitchFamily="18" charset="0"/>
                                  </a:rPr>
                                  <m:t>Γ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num>
                          <m:den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𝛿</m:t>
                            </m:r>
                          </m:den>
                        </m:f>
                      </m:e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As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 SINR constraints become dominant.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3D3B7F-F541-6589-6853-25F984D761E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2C8E48-2E4C-C4C6-0055-13E68AF69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38251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FE4B0-B4E5-7F15-595E-EA5FCAC26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8944EC-1074-9A5A-099B-7166ABC78E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rgbClr val="0000FF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/>
                  <a:t>To avoid a very negative utility: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After satisfying SINR constraints: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d>
                          <m:dPr>
                            <m:begChr m:val="{"/>
                            <m:endChr m:val="}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lim>
                    </m:limLow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  <m:lim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lim>
                    </m:limLow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So,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: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d>
                          <m:dPr>
                            <m:begChr m:val="{"/>
                            <m:endChr m:val="}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lim>
                    </m:limLow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lim>
                    </m:limLow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subject to: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Meaning: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maximize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/>
                      <m:t>worst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radar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DPSL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while guaranteeing: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mtClean="0"/>
                      <m:t>e</m:t>
                    </m:r>
                    <m:r>
                      <m:rPr>
                        <m:nor/>
                      </m:rPr>
                      <a:rPr lang="en-US"/>
                      <m:t>ach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/>
                      <m:t>user</m:t>
                    </m:r>
                    <m:r>
                      <m:rPr>
                        <m:nor/>
                      </m:rPr>
                      <a:rPr lang="en-US"/>
                      <m:t>’</m:t>
                    </m:r>
                    <m:r>
                      <m:rPr>
                        <m:nor/>
                      </m:rPr>
                      <a:rPr lang="en-US"/>
                      <m:t>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SINR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requirement</m:t>
                    </m:r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This is a </a:t>
                </a:r>
                <a:r>
                  <a:rPr lang="en-US" dirty="0">
                    <a:solidFill>
                      <a:srgbClr val="7030A0"/>
                    </a:solidFill>
                  </a:rPr>
                  <a:t>radar-priority DFRC design</a:t>
                </a:r>
                <a:r>
                  <a:rPr lang="en-US" dirty="0"/>
                  <a:t>.</a:t>
                </a:r>
              </a:p>
              <a:p>
                <a:pPr lvl="1"/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8944EC-1074-9A5A-099B-7166ABC78E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13E400-A773-36C3-DFAC-96A943B57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620922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85BEE-D306-68AE-ECCF-88F555380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C6564F-9C58-32A1-2D68-B0342EB367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rgbClr val="0000FF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b="1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Remark 3: Communication-Priority Case</a:t>
                </a:r>
              </a:p>
              <a:p>
                <a:pPr lvl="2"/>
                <a:r>
                  <a:rPr lang="en-US" dirty="0"/>
                  <a:t>Set: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endParaRPr lang="ar-AE" dirty="0"/>
              </a:p>
              <a:p>
                <a:pPr lvl="3"/>
                <a:r>
                  <a:rPr lang="en-US" dirty="0"/>
                  <a:t>Then:</a:t>
                </a:r>
              </a:p>
              <a:p>
                <a:pPr lvl="4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lim>
                    </m:limLow>
                    <m:d>
                      <m:dPr>
                        <m:begChr m:val="{"/>
                        <m:endChr m:val="}"/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  <m:e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>
                                    <a:latin typeface="Cambria Math" panose="02040503050406030204" pitchFamily="18" charset="0"/>
                                  </a:rPr>
                                  <m:t>Λ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num>
                          <m:den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𝛿</m:t>
                            </m:r>
                          </m:den>
                        </m:f>
                      </m:e>
                    </m:d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As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 </a:t>
                </a:r>
                <a:r>
                  <a:rPr lang="en-US" dirty="0">
                    <a:solidFill>
                      <a:srgbClr val="7030A0"/>
                    </a:solidFill>
                  </a:rPr>
                  <a:t>DPSL constraints become dominant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C6564F-9C58-32A1-2D68-B0342EB367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B3F8F3-CC4B-B21F-E42A-6682BC9F12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2445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12906-A47C-F1FB-4604-2BD216D2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3BEA79-34B4-DE44-09F9-9F75217E81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rgbClr val="0000FF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b="1" dirty="0"/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: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d>
                          <m:dPr>
                            <m:begChr m:val="{"/>
                            <m:endChr m:val="}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lim>
                    </m:limLow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lim>
                    </m:limLow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with: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Meaning: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maximize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worst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user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SINR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while guaranteeing: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radar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DPSL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requirements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This is a </a:t>
                </a:r>
                <a:r>
                  <a:rPr lang="en-US" dirty="0">
                    <a:solidFill>
                      <a:srgbClr val="7030A0"/>
                    </a:solidFill>
                  </a:rPr>
                  <a:t>communication-priority DFRC design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3BEA79-34B4-DE44-09F9-9F75217E81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E7E9A0-A9F9-006B-2872-0468E726F8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220015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5B2AB-6F92-DB08-E0B1-6DA366E63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98FE50-79F2-EBF0-3A6A-D41ECE77D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Why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rgbClr val="0000FF"/>
                    </a:solidFill>
                  </a:rPr>
                  <a:t> is Difficult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/>
                      <m:t>nonconvex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and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generally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NP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hard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because: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The variables appear in both numerator and denominator.</a:t>
                </a:r>
              </a:p>
              <a:p>
                <a:r>
                  <a:rPr lang="en-US" dirty="0">
                    <a:solidFill>
                      <a:srgbClr val="0000FF"/>
                    </a:solidFill>
                  </a:rPr>
                  <a:t>Why Pareto Boundary Helps</a:t>
                </a:r>
              </a:p>
              <a:p>
                <a:pPr lvl="1"/>
                <a:r>
                  <a:rPr lang="en-US" dirty="0"/>
                  <a:t>From Lemma 1: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compact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and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normal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Therefore, the best operating points lie on: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So instead of searching the whole region: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we search only: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98FE50-79F2-EBF0-3A6A-D41ECE77D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5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041B25-662F-E4A2-CECB-062D1C61C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53005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4B442F-7A0F-ECD1-BE5F-7575C3F0C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103A7C-6257-C6FA-BC05-518A9D8A16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Why Pareto Boundary Matters</a:t>
                </a:r>
              </a:p>
              <a:p>
                <a:pPr lvl="1"/>
                <a:r>
                  <a:rPr lang="en-US" dirty="0"/>
                  <a:t>From Lemma 1: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compact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and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normal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We solve: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ℛ</m:t>
                        </m:r>
                      </m:lim>
                    </m:limLow>
                    <m:r>
                      <a:rPr lang="en-US" b="0" i="1" smtClean="0">
                        <a:latin typeface="Cambria Math" panose="02040503050406030204" pitchFamily="18" charset="0"/>
                      </a:rPr>
                      <m:t> 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,….,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</m:oMath>
                </a14:m>
                <a:r>
                  <a:rPr lang="en-US" dirty="0"/>
                  <a:t> is strictly increasing:</a:t>
                </a:r>
                <a:endParaRPr lang="en-US" b="1" dirty="0"/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ar-AE" dirty="0"/>
                  <a:t> </a:t>
                </a:r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b="1" dirty="0"/>
              </a:p>
              <a:p>
                <a:r>
                  <a:rPr lang="en-US" dirty="0">
                    <a:solidFill>
                      <a:srgbClr val="0000FF"/>
                    </a:solidFill>
                  </a:rPr>
                  <a:t>Lemma 2: Statement</a:t>
                </a:r>
              </a:p>
              <a:p>
                <a:pPr lvl="1"/>
                <a:r>
                  <a:rPr lang="en-US" dirty="0"/>
                  <a:t>If: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dirty="0"/>
                  <a:t> is strictly increasing, and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r>
                  <a:rPr lang="en-US" dirty="0"/>
                  <a:t> is compact and normal, then the global optimum of</a:t>
                </a:r>
              </a:p>
              <a:p>
                <a:pPr lvl="1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ℛ</m:t>
                        </m:r>
                      </m:lim>
                    </m:limLow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is attained on: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Where,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Pareto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boundary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of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103A7C-6257-C6FA-BC05-518A9D8A16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84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C911F1-81CE-44DA-8EB3-F09AFB46C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424343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643493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A7C4A-A34E-FF5A-6A6E-1E072D97B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7F93988-7820-4D51-83F7-65BD92540D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Lemma 2: Proof Idea</a:t>
                </a:r>
              </a:p>
              <a:p>
                <a:pPr lvl="1"/>
                <a:r>
                  <a:rPr lang="en-US" dirty="0"/>
                  <a:t>Assume a global optimum exists inside the region: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∉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 is not Pareto optimal, there exists: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such that: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element-wise.</a:t>
                </a:r>
              </a:p>
              <a:p>
                <a:pPr lvl="1"/>
                <a:r>
                  <a:rPr lang="en-US" dirty="0"/>
                  <a:t>Because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 is strictly increasing: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′′</m:t>
                            </m:r>
                          </m:sup>
                        </m:s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 cannot be the best point.</a:t>
                </a:r>
              </a:p>
              <a:p>
                <a:pPr lvl="1"/>
                <a:r>
                  <a:rPr lang="en-US" dirty="0"/>
                  <a:t>Therefore: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b="1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b="1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7F93988-7820-4D51-83F7-65BD92540D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0C953-2804-AAF2-85FC-40AF6C834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65110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1A984-86A5-52BF-32D2-49D1199A5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17C6A88-43B3-ADE9-1D85-877D5E5173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From Fairness Profile to Ray Search</a:t>
                </a:r>
              </a:p>
              <a:p>
                <a:pPr lvl="1"/>
                <a:r>
                  <a:rPr lang="en-US" dirty="0"/>
                  <a:t>Previous utility: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  <m:lim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lim>
                    </m:limLow>
                    <m:d>
                      <m:dPr>
                        <m:begChr m:val="{"/>
                        <m:endChr m:val="}"/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den>
                        </m:f>
                      </m:e>
                      <m:e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Let the common improvement level be: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  Then: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and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17C6A88-43B3-ADE9-1D85-877D5E5173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B73C1-D6FE-D039-1B4B-6B5ADE3B1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31</a:t>
            </a:fld>
            <a:endParaRPr lang="ko-KR" alt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403FFC5-991F-BEE3-2C0E-B0A777F455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8725" y="2046912"/>
            <a:ext cx="5969073" cy="257961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10FA004-C4F2-83FE-A942-76304302541B}"/>
              </a:ext>
            </a:extLst>
          </p:cNvPr>
          <p:cNvSpPr txBox="1"/>
          <p:nvPr/>
        </p:nvSpPr>
        <p:spPr>
          <a:xfrm>
            <a:off x="7311006" y="4521667"/>
            <a:ext cx="385474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Fig. 2. Illustration of bisection search   on the pareto boundary of achievable performance.</a:t>
            </a:r>
          </a:p>
        </p:txBody>
      </p:sp>
    </p:spTree>
    <p:extLst>
      <p:ext uri="{BB962C8B-B14F-4D97-AF65-F5344CB8AC3E}">
        <p14:creationId xmlns:p14="http://schemas.microsoft.com/office/powerpoint/2010/main" val="39417696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3B30F-BF39-68D8-8F69-8B943BAA0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F66EE4-52D9-3D5C-0322-35657F06DA9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From Fairness Profile to Ray Search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Feasible transmit strategy problem with fixed SINR and DPSL constraint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  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find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    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≽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∀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∀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,……,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∀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,….,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b="0" dirty="0">
                    <a:solidFill>
                      <a:schemeClr val="tx1"/>
                    </a:solidFill>
                  </a:rPr>
                  <a:t> Fixed DPSL of the sidelobe angular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b="0" dirty="0">
                    <a:solidFill>
                      <a:schemeClr val="tx1"/>
                    </a:solidFill>
                  </a:rPr>
                  <a:t> Fixed SINR of the CU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  <a:p>
                <a:pPr lvl="1"/>
                <a:endParaRPr lang="en-US" b="0" dirty="0">
                  <a:solidFill>
                    <a:schemeClr val="tx1"/>
                  </a:solidFill>
                </a:endParaRPr>
              </a:p>
              <a:p>
                <a:pPr lvl="1"/>
                <a:endParaRPr lang="en-US" dirty="0">
                  <a:solidFill>
                    <a:srgbClr val="7030A0"/>
                  </a:solidFill>
                </a:endParaRPr>
              </a:p>
              <a:p>
                <a:pPr lvl="2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F66EE4-52D9-3D5C-0322-35657F06DA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6BF3A4-AB12-0B05-CC43-E3A5AE7A5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0704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3CE50-D3AF-7D4D-ACBA-E991971901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590AAE5-7F89-3B7A-801B-980D088E5C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From Fairness Profile to Ray Search</a:t>
                </a:r>
              </a:p>
              <a:p>
                <a:pPr lvl="1"/>
                <a:r>
                  <a:rPr lang="en-US" dirty="0">
                    <a:solidFill>
                      <a:srgbClr val="0000FF"/>
                    </a:solidFill>
                  </a:rPr>
                  <a:t>Fixed SINR and DPSL Targets</a:t>
                </a:r>
              </a:p>
              <a:p>
                <a:pPr lvl="2"/>
                <a:r>
                  <a:rPr lang="en-US" dirty="0"/>
                  <a:t>Define fixed targets: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 i="1">
                        <a:latin typeface="Cambria Math" panose="02040503050406030204" pitchFamily="18" charset="0"/>
                      </a:rPr>
                      <m:t>𝜏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 i="1">
                        <a:latin typeface="Cambria Math" panose="02040503050406030204" pitchFamily="18" charset="0"/>
                      </a:rPr>
                      <m:t>𝜏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So, for a given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Increasing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 means: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higher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SINR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targets</m:t>
                    </m:r>
                    <m:r>
                      <m:rPr>
                        <m:nor/>
                      </m:rPr>
                      <a:rPr lang="en-US" b="0"/>
                      <m:t> + </m:t>
                    </m:r>
                    <m:r>
                      <m:rPr>
                        <m:nor/>
                      </m:rPr>
                      <a:rPr lang="en-US" b="0"/>
                      <m:t>higher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DPSL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targets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0000FF"/>
                    </a:solidFill>
                  </a:rPr>
                  <a:t>Vector-Valued Ray Function</a:t>
                </a:r>
              </a:p>
              <a:p>
                <a:pPr lvl="2"/>
                <a:r>
                  <a:rPr lang="en-US" dirty="0"/>
                  <a:t>Define: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𝐫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,…..,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…..,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Using: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 i="1">
                        <a:latin typeface="Cambria Math" panose="02040503050406030204" pitchFamily="18" charset="0"/>
                      </a:rPr>
                      <m:t>𝜏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 i="1">
                        <a:latin typeface="Cambria Math" panose="02040503050406030204" pitchFamily="18" charset="0"/>
                      </a:rPr>
                      <m:t>𝜏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Therefore: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𝐫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,…..,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 ……,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This is a one-dimensional line/ray in: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p>
                  </m:oMath>
                </a14:m>
                <a:endParaRPr lang="ar-AE" dirty="0"/>
              </a:p>
              <a:p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590AAE5-7F89-3B7A-801B-980D088E5C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295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D881D0-4323-45F9-D816-E8B65E5D9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508233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33</a:t>
            </a:fld>
            <a:r>
              <a:rPr lang="en-US" altLang="ko-KR" dirty="0"/>
              <a:t>	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0265979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F9BA6-D22A-E0B0-BA11-AA7B9BF0F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B6D51F5-A1FF-FDAD-50CC-1EF5C552B2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From Fairness Profile to Ray Search</a:t>
                </a:r>
                <a:endParaRPr lang="en-US" b="1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Feasibility Problem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lvl="2"/>
                <a:r>
                  <a:rPr lang="en-US" dirty="0"/>
                  <a:t>For a fixed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, solve: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find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,…,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subject to:</a:t>
                </a:r>
              </a:p>
              <a:p>
                <a:pPr lvl="4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begChr m:val="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hr m:val="∑"/>
                                <m:grow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 , </m:t>
                    </m:r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b="0" dirty="0"/>
              </a:p>
              <a:p>
                <a:pPr lvl="4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en-US" b="1" i="0" smtClean="0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en-US" b="1" i="0" smtClean="0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ar-AE" dirty="0"/>
              </a:p>
              <a:p>
                <a:pPr lvl="4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en-US" b="1" i="0" smtClean="0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en-US" b="1" i="0" smtClean="0">
                        <a:latin typeface="Cambria Math" panose="02040503050406030204" pitchFamily="18" charset="0"/>
                      </a:rPr>
                      <m:t>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ar-AE" b="0" dirty="0"/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Expand SINR Constraint in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b="1" dirty="0"/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From Eq. (2):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endParaRPr lang="ar-AE" b="0" dirty="0"/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Constraint: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B6D51F5-A1FF-FDAD-50CC-1EF5C552B2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38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CE214B-385E-A910-6EA9-880F9FAD1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069285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BE7F0-963D-0592-C641-21C941043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C401E8-3FCD-5FC5-1CFE-11CC715924C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From Fairness Profile to Ray Search</a:t>
                </a:r>
                <a:endParaRPr lang="en-US" b="1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Linear Form of SINR Constraint</a:t>
                </a:r>
              </a:p>
              <a:p>
                <a:pPr lvl="2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r>
                  <a:rPr lang="en-US" dirty="0"/>
                  <a:t> is fixed: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Expand: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Thus, for fixed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, the SINR constraint is linear in:</a:t>
                </a:r>
              </a:p>
              <a:p>
                <a:pPr lvl="3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,…,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Expand DPSL Constraint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lvl="2"/>
                <a:r>
                  <a:rPr lang="en-US" dirty="0"/>
                  <a:t>From Eq. (5):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Constraint: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becomes: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This is linear in:</a:t>
                </a:r>
              </a:p>
              <a:p>
                <a:pPr lvl="3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endParaRPr lang="ar-AE" b="0" dirty="0"/>
              </a:p>
              <a:p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C401E8-3FCD-5FC5-1CFE-11CC715924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272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9E739C-9E97-338A-C6A7-C8E9DFECD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1" y="6356350"/>
            <a:ext cx="512428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35</a:t>
            </a:fld>
            <a:r>
              <a:rPr lang="en-US" altLang="ko-KR" dirty="0"/>
              <a:t>	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529197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324EF-6AED-0DE3-3908-8A38EA4B6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1137B1-DA69-B4FC-2848-A09DF4242A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From Fairness Profile to Ray Search</a:t>
                </a:r>
                <a:endParaRPr lang="en-US" b="1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Main-Beam Width Constraints</a:t>
                </a:r>
              </a:p>
              <a:p>
                <a:pPr lvl="2"/>
                <a:r>
                  <a:rPr lang="en-US" dirty="0"/>
                  <a:t>From Eq. (6):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>
                        <a:latin typeface="Cambria Math" panose="02040503050406030204" pitchFamily="18" charset="0"/>
                      </a:rPr>
                      <m:t>5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latin typeface="Cambria Math" panose="02040503050406030204" pitchFamily="18" charset="0"/>
                      </a:rPr>
                      <m:t>5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Using Eq. (4):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Therefore: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>
                        <a:latin typeface="Cambria Math" panose="02040503050406030204" pitchFamily="18" charset="0"/>
                      </a:rPr>
                      <m:t>5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3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latin typeface="Cambria Math" panose="02040503050406030204" pitchFamily="18" charset="0"/>
                      </a:rPr>
                      <m:t>5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</m:oMath>
                </a14:m>
                <a:endParaRPr lang="en-US" b="1" dirty="0"/>
              </a:p>
              <a:p>
                <a:r>
                  <a:rPr lang="en-US" dirty="0">
                    <a:solidFill>
                      <a:srgbClr val="0000FF"/>
                    </a:solidFill>
                  </a:rPr>
                  <a:t>Why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>
                    <a:solidFill>
                      <a:srgbClr val="0000FF"/>
                    </a:solidFill>
                  </a:rPr>
                  <a:t> is Convex</a:t>
                </a:r>
              </a:p>
              <a:p>
                <a:pPr lvl="1"/>
                <a:r>
                  <a:rPr lang="en-US" dirty="0"/>
                  <a:t>For fixed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nor/>
                      </m:rPr>
                      <a:rPr lang="ar-AE" i="1"/>
                      <m:t>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r>
                  <a:rPr lang="en-US" dirty="0"/>
                  <a:t> are constants.</a:t>
                </a:r>
              </a:p>
              <a:p>
                <a:pPr lvl="2"/>
                <a:r>
                  <a:rPr lang="en-US" dirty="0"/>
                  <a:t>Then all constraints become linear in:</a:t>
                </a:r>
              </a:p>
              <a:p>
                <a:pPr lvl="2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,…,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is a semidefinite constraint.</a:t>
                </a:r>
              </a:p>
              <a:p>
                <a:pPr lvl="2"/>
                <a:r>
                  <a:rPr lang="en-US" dirty="0"/>
                  <a:t>Therefore: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ar-AE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nor/>
                      </m:rPr>
                      <a:rPr lang="ar-AE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SDP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feasibility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problem</m:t>
                    </m:r>
                  </m:oMath>
                </a14:m>
                <a:endParaRPr lang="ar-AE" b="0" dirty="0"/>
              </a:p>
              <a:p>
                <a:endParaRPr lang="ar-AE" b="1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1137B1-DA69-B4FC-2848-A09DF4242A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6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C90FAF-F7D8-5BB9-FD03-47EBFD90B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470483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8109697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8396D-31F6-9B81-4807-BFEEE4E53B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AADB41-2AAD-6814-254E-65CDC141B85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Proposition 1: Bisection Search</a:t>
                </a:r>
              </a:p>
              <a:p>
                <a:pPr lvl="1"/>
                <a:r>
                  <a:rPr lang="en-US" dirty="0"/>
                  <a:t>Assume: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𝐫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𝐫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∉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Since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𝐫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r>
                  <a:rPr lang="en-US" dirty="0"/>
                  <a:t> increases linearly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, there exists: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⋆</m:t>
                        </m:r>
                      </m:sup>
                    </m:sSup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such that: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𝐫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⋆</m:t>
                            </m:r>
                          </m:sup>
                        </m:s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Thus,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can be solved by searching: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Feasible Case in Bisection</a:t>
                </a:r>
              </a:p>
              <a:p>
                <a:pPr lvl="2"/>
                <a:r>
                  <a:rPr lang="en-US" dirty="0"/>
                  <a:t>Choose midpoint: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ar-AE" sz="14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ar-AE" sz="14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400">
                                <a:latin typeface="Cambria Math" panose="02040503050406030204" pitchFamily="18" charset="0"/>
                              </a:rPr>
                              <m:t>min</m:t>
                            </m:r>
                          </m:sub>
                        </m:sSub>
                        <m:r>
                          <a:rPr lang="ar-AE" sz="140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400"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</m:num>
                      <m:den>
                        <m:r>
                          <a:rPr lang="ar-AE" sz="140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ar-AE" sz="1400" dirty="0"/>
              </a:p>
              <a:p>
                <a:pPr lvl="2"/>
                <a:r>
                  <a:rPr lang="en-US" dirty="0"/>
                  <a:t>Solve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with: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1400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ar-AE" sz="140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ar-AE" sz="14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p>
                      <m:sSup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ar-AE" sz="14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ar-AE" sz="140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sz="1400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1400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ar-AE" sz="140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ar-AE" sz="14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sSup>
                      <m:sSup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ar-AE" sz="14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ar-AE" sz="140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sz="1400" dirty="0"/>
              </a:p>
              <a:p>
                <a:pPr lvl="2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is feasible: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sz="1400" b="1">
                        <a:latin typeface="Cambria Math" panose="02040503050406030204" pitchFamily="18" charset="0"/>
                      </a:rPr>
                      <m:t>𝐫</m:t>
                    </m:r>
                    <m:d>
                      <m:dPr>
                        <m:ctrlPr>
                          <a:rPr lang="ar-AE" sz="14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sz="1400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ar-AE" sz="140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ar-AE" sz="1400">
                        <a:latin typeface="Cambria Math" panose="02040503050406030204" pitchFamily="18" charset="0"/>
                      </a:rPr>
                      <m:t>∈</m:t>
                    </m:r>
                    <m:r>
                      <a:rPr lang="ar-AE" sz="1400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r>
                  <a:rPr lang="en-US" sz="1400" dirty="0"/>
                  <a:t> then all smaller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sz="1400" dirty="0"/>
                  <a:t> are also feasible: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ar-AE" sz="14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ar-AE" sz="1400" dirty="0"/>
              </a:p>
              <a:p>
                <a:pPr lvl="3"/>
                <a:r>
                  <a:rPr lang="en-US" sz="1400" dirty="0"/>
                  <a:t>So, update: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</m:sSub>
                    <m:r>
                      <a:rPr lang="ar-AE" sz="1400">
                        <a:latin typeface="Cambria Math" panose="02040503050406030204" pitchFamily="18" charset="0"/>
                      </a:rPr>
                      <m:t>←</m:t>
                    </m:r>
                    <m:sSup>
                      <m:sSup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ar-AE" sz="14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ar-AE" sz="140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AADB41-2AAD-6814-254E-65CDC141B8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210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D6A984-857D-B275-005E-198C00360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64182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E23C9-E1A7-AB47-6CD7-2FE149505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3382E2-96A8-E5E5-CE57-36404FCCF3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Proposition 1: Bisection Search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Infeasible Case in Bisection</a:t>
                </a:r>
              </a:p>
              <a:p>
                <a:pPr lvl="2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is infeasible: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𝐫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∉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Then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 is too demanding.</a:t>
                </a:r>
              </a:p>
              <a:p>
                <a:pPr lvl="2"/>
                <a:r>
                  <a:rPr lang="en-US" dirty="0"/>
                  <a:t>All larger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 are also infeasible: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>
                        <a:latin typeface="Cambria Math" panose="02040503050406030204" pitchFamily="18" charset="0"/>
                      </a:rPr>
                      <m:t>&gt;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So update: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←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Continue until: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∣&lt;</m:t>
                    </m:r>
                    <m:r>
                      <m:rPr>
                        <m:sty m:val="p"/>
                      </m:rPr>
                      <a:rPr lang="el-GR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endParaRPr lang="el-GR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3382E2-96A8-E5E5-CE57-36404FCCF3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4817B0-6245-F7AB-7AE1-A7B621469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327154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A08DB-2015-55CB-05E6-041212CCE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07A31D-C197-54D1-7816-27050E8E90E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Proposition 1: Bisection Search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Final Solution</a:t>
                </a:r>
              </a:p>
              <a:p>
                <a:pPr lvl="2"/>
                <a:r>
                  <a:rPr lang="en-US" dirty="0"/>
                  <a:t>After convergence: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⋆</m:t>
                        </m:r>
                      </m:sup>
                    </m:sSup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defines the Pareto point: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𝐫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,…..,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, …..,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Then solve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one final time to obtain: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,…..,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These covariance matrices achieve the selected Pareto-optimal DFRC operating point.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07A31D-C197-54D1-7816-27050E8E90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0E430F-575D-3D14-B0EF-57CD674F9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566503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16E39-1DAE-5265-509F-0FCFB1B6A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425F8E-5C79-0F8F-5ECA-E7E47A73CA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Algorithm 1 Summary</a:t>
                </a:r>
              </a:p>
              <a:p>
                <a:pPr lvl="1"/>
                <a:r>
                  <a:rPr lang="en-US" dirty="0"/>
                  <a:t>Initialize:</a:t>
                </a:r>
              </a:p>
              <a:p>
                <a:pPr lvl="2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with: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𝐫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∉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Repeat: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⋆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min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Solve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If feasible: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←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If infeasible: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←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Stop when: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∣&lt;</m:t>
                    </m:r>
                    <m:r>
                      <m:rPr>
                        <m:sty m:val="p"/>
                      </m:rPr>
                      <a:rPr lang="el-GR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endParaRPr lang="el-GR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425F8E-5C79-0F8F-5ECA-E7E47A73CA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35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62C8D3-9474-65D1-F541-7D4D8794E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821136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1BFC1-D426-9D53-5D65-FE1358D81C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2528BC-C362-6A4E-DA79-866A3EAB30B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Algorithm Complexity</a:t>
                </a:r>
              </a:p>
              <a:p>
                <a:pPr lvl="1"/>
                <a:r>
                  <a:rPr lang="en-US" dirty="0"/>
                  <a:t>Number of bisection iterations: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iter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m:rPr>
                                    <m:sty m:val="p"/>
                                  </m:rPr>
                                  <a:rPr lang="el-GR"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</m:den>
                            </m:f>
                          </m:e>
                        </m:d>
                      </m:e>
                    </m:d>
                  </m:oMath>
                </a14:m>
                <a:endParaRPr lang="ar-AE" b="0" dirty="0"/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ar-AE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has: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matrix variables of size: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and: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linear constraints.</a:t>
                </a:r>
              </a:p>
              <a:p>
                <a:pPr lvl="1"/>
                <a:r>
                  <a:rPr lang="en-US" dirty="0"/>
                  <a:t>Interior-point complexity: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𝒪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6</m:t>
                            </m:r>
                          </m:sup>
                        </m:s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</m:d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Total complexity is polynomial in: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1"/>
                          <m:t>iter</m:t>
                        </m:r>
                      </m:sub>
                    </m:sSub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2528BC-C362-6A4E-DA79-866A3EAB30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BCAECA-887B-5EF8-A0BD-FBBDA787F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836339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E9796-1F49-8DCD-55C9-1F024BD43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E8366-A134-BB8F-722A-B602030331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Proof of Proposition 1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nor/>
                      </m:rPr>
                      <a:rPr lang="en-US"/>
                      <m:t>maximize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fairness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profile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utility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is converted into: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one</m:t>
                    </m:r>
                    <m:r>
                      <m:rPr>
                        <m:nor/>
                      </m:rPr>
                      <a:rPr lang="en-US" b="0"/>
                      <m:t>−</m:t>
                    </m:r>
                    <m:r>
                      <m:rPr>
                        <m:nor/>
                      </m:rPr>
                      <a:rPr lang="en-US" b="0"/>
                      <m:t>dimensional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search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over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sty m:val="p"/>
                      </m:rPr>
                      <a:rPr lang="en-US" b="0" i="0">
                        <a:latin typeface="Cambria Math" panose="02040503050406030204" pitchFamily="18" charset="0"/>
                      </a:rPr>
                      <m:t>τ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For each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nor/>
                      </m:rPr>
                      <a:rPr lang="en-US"/>
                      <m:t>check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feasibility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of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SINR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and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DPSL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targets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Because: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0">
                        <a:latin typeface="Cambria Math" panose="02040503050406030204" pitchFamily="18" charset="0"/>
                      </a:rPr>
                      <m:t>ℛ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compact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and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normal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the ray: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𝐫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endParaRPr lang="ar-AE" b="1" dirty="0"/>
              </a:p>
              <a:p>
                <a:pPr lvl="1"/>
                <a:r>
                  <a:rPr lang="en-US" dirty="0"/>
                  <a:t>intersects: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exactly once.</a:t>
                </a:r>
              </a:p>
              <a:p>
                <a:pPr lvl="1"/>
                <a:r>
                  <a:rPr lang="en-US" dirty="0"/>
                  <a:t>Final result: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Bisection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finds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the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Pareto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optimal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DFRC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beamforming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solution</m:t>
                    </m:r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E8366-A134-BB8F-722A-B602030331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8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F5486A-74AD-90E2-D7B5-A8E4315BE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316455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0D10F-7DE9-A568-59C2-94CDAAFCC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365856-AAE4-8F64-BF98-9F86C6B46E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Goal of Section III-C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7030A0"/>
                  </a:solidFill>
                </a:endParaRPr>
              </a:p>
              <a:p>
                <a:pPr lvl="2"/>
                <a:r>
                  <a:rPr lang="en-US" dirty="0"/>
                  <a:t>The transmit covariance matrix for CU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is: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The rank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 determines the number of streams transmitted to CU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number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of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transmitted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streams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for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CU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The goal is to prove:</a:t>
                </a: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rank</m:t>
                        </m:r>
                      </m:fName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⋆</m:t>
                                </m:r>
                              </m:sup>
                            </m:sSubSup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Meaning: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single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stream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transmission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sufficient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for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optimality</m:t>
                    </m:r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365856-AAE4-8F64-BF98-9F86C6B46E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F8F590-C78B-6755-AC1D-B15CBB2A1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182059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627CB-19E4-0854-97AD-121935900F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314862-931F-9D86-7B2F-0FA6ACEC4D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Connection Between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lvl="2"/>
                <a:r>
                  <a:rPr lang="en-US" dirty="0"/>
                  <a:t>The paper states: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To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prove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rank</m:t>
                    </m:r>
                    <m:r>
                      <m:rPr>
                        <m:nor/>
                      </m:rPr>
                      <a:rPr lang="en-US" b="0"/>
                      <m:t>−</m:t>
                    </m:r>
                    <m:r>
                      <m:rPr>
                        <m:nor/>
                      </m:rPr>
                      <a:rPr lang="en-US" b="0"/>
                      <m:t>one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optimality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for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sty m:val="p"/>
                      </m:rPr>
                      <a:rPr lang="en-US" b="0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it is sufficient to prove rank-one optimality for the feasibility problem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2"/>
                <a:r>
                  <a:rPr lang="en-US" dirty="0"/>
                  <a:t>Reason: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bisection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search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over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For each fixed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, we solve: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Thus: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ar-AE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1</m:t>
                    </m:r>
                    <m:r>
                      <m:rPr>
                        <m:nor/>
                      </m:rPr>
                      <a:rPr lang="ar-AE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solved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through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repeated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feasibility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checks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of</m:t>
                    </m:r>
                    <m:r>
                      <m:rPr>
                        <m:nor/>
                      </m:rPr>
                      <a:rPr lang="en-US" b="0" smtClean="0"/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So, 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has rank-one optimal covariance matrices, then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can also be achieved by rank-one               covariance matrices.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314862-931F-9D86-7B2F-0FA6ACEC4D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r="-1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A99A25-AAC6-133C-7D55-0F6488E45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61011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877CA1-9C8C-1FAA-CFC8-C99038482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BDCE952-FA2E-B451-5A16-9A99E3114A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Rewriting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as Power Minimization</a:t>
                </a:r>
              </a:p>
              <a:p>
                <a:pPr lvl="2"/>
                <a:r>
                  <a:rPr lang="en-US" dirty="0"/>
                  <a:t>The feasibility problem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is rewritten as: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>
                        <a:latin typeface="Cambria Math" panose="02040503050406030204" pitchFamily="18" charset="0"/>
                      </a:rPr>
                      <m:t>: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d>
                          <m:dPr>
                            <m:begChr m:val="{"/>
                            <m:endChr m:val="}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lim>
                    </m:limLow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subject to: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Radar constraints:</a:t>
                </a:r>
              </a:p>
              <a:p>
                <a:pPr lvl="4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4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4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Communication constraints:</a:t>
                </a:r>
              </a:p>
              <a:p>
                <a:pPr lvl="4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BDCE952-FA2E-B451-5A16-9A99E3114A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354F1C-3C48-37FE-3C7F-34A7B91662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45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680B1F6-419A-91FC-DD8D-6EB6048EB790}"/>
                  </a:ext>
                </a:extLst>
              </p:cNvPr>
              <p:cNvSpPr txBox="1"/>
              <p:nvPr/>
            </p:nvSpPr>
            <p:spPr>
              <a:xfrm>
                <a:off x="6501468" y="2432808"/>
                <a:ext cx="5457037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0000FF"/>
                    </a:solidFill>
                  </a:rPr>
                  <a:t>Matrices Used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>
                  <a:solidFill>
                    <a:srgbClr val="0000FF"/>
                  </a:solidFill>
                </a:endParaRPr>
              </a:p>
              <a:p>
                <a:r>
                  <a:rPr lang="en-US" b="1" dirty="0"/>
                  <a:t>     </a:t>
                </a:r>
                <a:r>
                  <a:rPr lang="en-US" dirty="0"/>
                  <a:t>The paper defines:</a:t>
                </a:r>
              </a:p>
              <a:p>
                <a:pPr lvl="1"/>
                <a:endParaRPr lang="en-US" dirty="0"/>
              </a:p>
              <a:p>
                <a:pPr lvl="2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b="1">
                              <a:latin typeface="Cambria Math" panose="02040503050406030204" pitchFamily="18" charset="0"/>
                            </a:rPr>
                            <m:t>𝐂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ar-AE" b="1">
                          <a:latin typeface="Cambria Math" panose="02040503050406030204" pitchFamily="18" charset="0"/>
                        </a:rPr>
                        <m:t>𝐚</m:t>
                      </m:r>
                      <m:d>
                        <m:d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b="1">
                              <a:latin typeface="Cambria Math" panose="02040503050406030204" pitchFamily="18" charset="0"/>
                            </a:rPr>
                            <m:t>𝐚</m:t>
                          </m:r>
                        </m:e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</m:sup>
                      </m:sSup>
                      <m:d>
                        <m:d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ar-AE" b="1">
                          <a:latin typeface="Cambria Math" panose="02040503050406030204" pitchFamily="18" charset="0"/>
                        </a:rPr>
                        <m:t>𝐚</m:t>
                      </m:r>
                      <m:d>
                        <m:d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b="1">
                              <a:latin typeface="Cambria Math" panose="02040503050406030204" pitchFamily="18" charset="0"/>
                            </a:rPr>
                            <m:t>𝐚</m:t>
                          </m:r>
                        </m:e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</m:sup>
                      </m:sSup>
                      <m:d>
                        <m:d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b="1" dirty="0"/>
              </a:p>
              <a:p>
                <a:pPr lvl="2"/>
                <a:endParaRPr lang="ar-AE" b="1" dirty="0"/>
              </a:p>
              <a:p>
                <a:pPr lvl="2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b="1">
                              <a:latin typeface="Cambria Math" panose="02040503050406030204" pitchFamily="18" charset="0"/>
                            </a:rPr>
                            <m:t>𝐂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ar-AE" b="1">
                          <a:latin typeface="Cambria Math" panose="02040503050406030204" pitchFamily="18" charset="0"/>
                        </a:rPr>
                        <m:t>𝐚</m:t>
                      </m:r>
                      <m:d>
                        <m:d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b="1">
                              <a:latin typeface="Cambria Math" panose="02040503050406030204" pitchFamily="18" charset="0"/>
                            </a:rPr>
                            <m:t>𝐚</m:t>
                          </m:r>
                        </m:e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</m:sup>
                      </m:sSup>
                      <m:d>
                        <m:d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ar-AE" b="1">
                          <a:latin typeface="Cambria Math" panose="02040503050406030204" pitchFamily="18" charset="0"/>
                        </a:rPr>
                        <m:t>𝐚</m:t>
                      </m:r>
                      <m:d>
                        <m:d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b="1">
                              <a:latin typeface="Cambria Math" panose="02040503050406030204" pitchFamily="18" charset="0"/>
                            </a:rPr>
                            <m:t>𝐚</m:t>
                          </m:r>
                        </m:e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</m:sup>
                      </m:sSup>
                      <m:d>
                        <m:d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b="1" dirty="0"/>
              </a:p>
              <a:p>
                <a:pPr lvl="2"/>
                <a:endParaRPr lang="ar-AE" b="1" dirty="0"/>
              </a:p>
              <a:p>
                <a:pPr lvl="2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b="1">
                              <a:latin typeface="Cambria Math" panose="02040503050406030204" pitchFamily="18" charset="0"/>
                            </a:rPr>
                            <m:t>𝐂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b="1">
                          <a:latin typeface="Cambria Math" panose="02040503050406030204" pitchFamily="18" charset="0"/>
                        </a:rPr>
                        <m:t>𝐚</m:t>
                      </m:r>
                      <m:d>
                        <m:d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b="1">
                              <a:latin typeface="Cambria Math" panose="02040503050406030204" pitchFamily="18" charset="0"/>
                            </a:rPr>
                            <m:t>𝐚</m:t>
                          </m:r>
                        </m:e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</m:sup>
                      </m:sSup>
                      <m:d>
                        <m:d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ar-AE" b="1">
                          <a:latin typeface="Cambria Math" panose="02040503050406030204" pitchFamily="18" charset="0"/>
                        </a:rPr>
                        <m:t>𝐚</m:t>
                      </m:r>
                      <m:d>
                        <m:d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b="1">
                              <a:latin typeface="Cambria Math" panose="02040503050406030204" pitchFamily="18" charset="0"/>
                            </a:rPr>
                            <m:t>𝐚</m:t>
                          </m:r>
                        </m:e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</m:sup>
                      </m:sSup>
                      <m:d>
                        <m:d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, ∀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dirty="0"/>
              </a:p>
              <a:p>
                <a:pPr lvl="2"/>
                <a:endParaRPr lang="en-US" dirty="0"/>
              </a:p>
              <a:p>
                <a:pPr lvl="1"/>
                <a:r>
                  <a:rPr lang="en-US" dirty="0"/>
                  <a:t>These matrices transform the main-beam and DPSL constraints into trace forms.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680B1F6-419A-91FC-DD8D-6EB6048EB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1468" y="2432808"/>
                <a:ext cx="5457037" cy="3139321"/>
              </a:xfrm>
              <a:prstGeom prst="rect">
                <a:avLst/>
              </a:prstGeom>
              <a:blipFill>
                <a:blip r:embed="rId3"/>
                <a:stretch>
                  <a:fillRect l="-782" t="-971" r="-1564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3455451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782284-B213-9EED-75B1-2EB56DA51C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68488D-A924-5635-86C2-B1F0901855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Why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Represents Feasibility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minimizes total transmit power:</a:t>
                </a:r>
              </a:p>
              <a:p>
                <a:pPr lvl="3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If the optimal solution satisfies:</a:t>
                </a:r>
              </a:p>
              <a:p>
                <a:pPr lvl="3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Then the original power constraint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is satisfied:</a:t>
                </a: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begChr m:val="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hr m:val="∑"/>
                                <m:grow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sSubSup>
                                  <m:sSub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  <m:sup>
                                    <m: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∗</m:t>
                                    </m:r>
                                  </m:sup>
                                </m:sSubSup>
                              </m:e>
                            </m:nary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Therefore: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ar-AE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nor/>
                      </m:rPr>
                      <a:rPr lang="ar-AE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feasible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if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reaches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power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ar-AE" i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ar-AE" i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Expansion of Main-Beam Constraint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b="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From Eq. (6):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>
                        <a:latin typeface="Cambria Math" panose="02040503050406030204" pitchFamily="18" charset="0"/>
                      </a:rPr>
                      <m:t>5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>
                        <a:latin typeface="Cambria Math" panose="02040503050406030204" pitchFamily="18" charset="0"/>
                      </a:rPr>
                      <m:t>5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Trace form:</a:t>
                </a:r>
              </a:p>
              <a:p>
                <a:pPr lvl="3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1"/>
                <a:endParaRPr lang="en-US" b="0" dirty="0"/>
              </a:p>
              <a:p>
                <a:pPr lvl="2"/>
                <a:endParaRPr lang="ar-AE" b="0" dirty="0"/>
              </a:p>
              <a:p>
                <a:pPr lvl="2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68488D-A924-5635-86C2-B1F0901855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203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AAAAD-29CE-DF6F-19DE-3DD593A8F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709569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46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474278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056C98-CD87-0611-B151-50AC7C9DF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2440F1-DA68-851E-9458-B72389855D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7030A0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7030A0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Expansion of Main-Beam Constraint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From Eq. (6):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>
                        <a:latin typeface="Cambria Math" panose="02040503050406030204" pitchFamily="18" charset="0"/>
                      </a:rPr>
                      <m:t>5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>
                        <a:latin typeface="Cambria Math" panose="02040503050406030204" pitchFamily="18" charset="0"/>
                      </a:rPr>
                      <m:t>5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Trace form:</a:t>
                </a:r>
              </a:p>
              <a:p>
                <a:pPr lvl="2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Expansion of DPSL Constraint</a:t>
                </a:r>
              </a:p>
              <a:p>
                <a:pPr lvl="2"/>
                <a:r>
                  <a:rPr lang="en-US" dirty="0"/>
                  <a:t>From Eq. (5):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DPSL constraint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Therefore: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Trace form:</a:t>
                </a:r>
              </a:p>
              <a:p>
                <a:pPr lvl="2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ar-AE" b="0" dirty="0"/>
              </a:p>
              <a:p>
                <a:pPr lvl="2"/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2440F1-DA68-851E-9458-B72389855D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202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24CBD6-2409-7B89-E7D5-27346DE28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987017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5F1B3-3BBA-7621-D1CA-1631F2E84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48480FB-0F73-0E76-199A-DCDAD0B040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Expansion of SINR Constraint</a:t>
                </a:r>
              </a:p>
              <a:p>
                <a:pPr lvl="2"/>
                <a:r>
                  <a:rPr lang="en-US" dirty="0"/>
                  <a:t>From Eq. (2):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SINR constraint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Therefore: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Equivalent form:</a:t>
                </a: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ar-AE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48480FB-0F73-0E76-199A-DCDAD0B040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75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12589B-A95A-C7E3-256B-4FED17D33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214887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ECD3E-4CF4-690C-1EBE-5B4B711DB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0F0D86-B5A8-6E17-A335-932917B6B0E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54978" y="1653885"/>
                <a:ext cx="10515600" cy="4527272"/>
              </a:xfrm>
            </p:spPr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SINR Constraint in Trace Form</a:t>
                </a: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Divide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ar-AE" dirty="0"/>
                  <a:t>: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Trace form: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Three Pareto Boundary Cases</a:t>
                </a:r>
              </a:p>
              <a:p>
                <a:pPr lvl="2"/>
                <a:r>
                  <a:rPr lang="en-US" dirty="0"/>
                  <a:t>The paper considers three cases on the Pareto boundary: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ar-AE"/>
                      <m:t>1</m:t>
                    </m:r>
                    <m:r>
                      <m:rPr>
                        <m:nor/>
                      </m:rPr>
                      <a:rPr lang="ar-AE"/>
                      <m:t>.</m:t>
                    </m:r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m:rPr>
                        <m:nor/>
                      </m:rPr>
                      <a:rPr lang="en-US"/>
                      <m:t>Radar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constrained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case</m:t>
                    </m:r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ar-AE"/>
                      <m:t>2</m:t>
                    </m:r>
                    <m:r>
                      <m:rPr>
                        <m:nor/>
                      </m:rPr>
                      <a:rPr lang="ar-AE"/>
                      <m:t>.</m:t>
                    </m:r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m:rPr>
                        <m:nor/>
                      </m:rPr>
                      <a:rPr lang="en-US"/>
                      <m:t>Communication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constrained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case</m:t>
                    </m:r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ar-AE"/>
                      <m:t>3</m:t>
                    </m:r>
                    <m:r>
                      <m:rPr>
                        <m:nor/>
                      </m:rPr>
                      <a:rPr lang="ar-AE"/>
                      <m:t>.</m:t>
                    </m:r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m:rPr>
                        <m:nor/>
                      </m:rPr>
                      <a:rPr lang="en-US"/>
                      <m:t>Both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constrained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case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 rank-one optimality is proved separately: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Lemma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3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Radar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constrained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case</m:t>
                    </m:r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Lemma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4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Communication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constrained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case</m:t>
                    </m:r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Lemma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5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Both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constrained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case</m:t>
                    </m:r>
                  </m:oMath>
                </a14:m>
                <a:endParaRPr lang="en-US" b="0" dirty="0"/>
              </a:p>
              <a:p>
                <a:pPr lvl="2"/>
                <a:endParaRPr lang="ar-AE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0F0D86-B5A8-6E17-A335-932917B6B0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54978" y="1653885"/>
                <a:ext cx="10515600" cy="4527272"/>
              </a:xfrm>
              <a:blipFill>
                <a:blip r:embed="rId2"/>
                <a:stretch>
                  <a:fillRect l="-522" t="-1211" b="-130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D1D3E9-9FA6-0056-65A4-A90653B49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602536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CCF217-2EF2-F917-B34F-FADC6BB4E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E78CFE-36E9-AFD2-3E80-25DF658DDB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Radar-Constrained Case</a:t>
                </a:r>
              </a:p>
              <a:p>
                <a:pPr lvl="2"/>
                <a:r>
                  <a:rPr lang="en-US" dirty="0"/>
                  <a:t>In the radar-constrained case: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communication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constraints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are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inactive</m:t>
                    </m:r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Therefore,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becomes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: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lim>
                    </m:limLow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subject to: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where: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E78CFE-36E9-AFD2-3E80-25DF658DDB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746599-F9EE-6EB9-5D6D-3395F94DD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353329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EE03D-3C46-F9EB-A3D3-2A1415C6A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964F41-BD59-1DB7-6D4C-BCA763A242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Lemma 3: Rank-one optimality for radar-constrained case</a:t>
                </a:r>
              </a:p>
              <a:p>
                <a:pPr lvl="1"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: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lim>
                    </m:limLow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subject to radar constraints.</a:t>
                </a:r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is feasible, then it always has an optimal solution:</a:t>
                </a: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ar-AE" b="1" dirty="0"/>
              </a:p>
              <a:p>
                <a:pPr lvl="1"/>
                <a:r>
                  <a:rPr lang="en-US" dirty="0"/>
                  <a:t>such that:</a:t>
                </a:r>
              </a:p>
              <a:p>
                <a:pPr lvl="2"/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rank</m:t>
                        </m:r>
                      </m:fName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  <m:sup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bSup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Proof is given in: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Appendix</m:t>
                    </m:r>
                    <m:r>
                      <m:rPr>
                        <m:nor/>
                      </m:rPr>
                      <a:rPr lang="en-US" b="0" i="0" smtClean="0"/>
                      <m:t> </m:t>
                    </m:r>
                    <m:r>
                      <m:rPr>
                        <m:nor/>
                      </m:rPr>
                      <a:rPr lang="en-US" i="0" smtClean="0"/>
                      <m:t>B</m:t>
                    </m:r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964F41-BD59-1DB7-6D4C-BCA763A242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7A3A0E-3615-82E2-822C-C6C117C86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35970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3B102-EED4-FBB1-C1A8-D2FDAC72C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AEDBA1-8FE1-4D11-5794-95DE70055D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Appendix B: </a:t>
                </a:r>
                <a:r>
                  <a:rPr lang="en-US" dirty="0" err="1">
                    <a:solidFill>
                      <a:srgbClr val="7030A0"/>
                    </a:solidFill>
                  </a:rPr>
                  <a:t>Lagrangian</a:t>
                </a:r>
                <a:r>
                  <a:rPr lang="en-US" dirty="0">
                    <a:solidFill>
                      <a:srgbClr val="7030A0"/>
                    </a:solidFill>
                  </a:rPr>
                  <a:t>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lvl="2"/>
                <a:r>
                  <a:rPr lang="en-US" dirty="0"/>
                  <a:t>The </a:t>
                </a:r>
                <a:r>
                  <a:rPr lang="en-US" dirty="0" err="1"/>
                  <a:t>Lagrangian</a:t>
                </a:r>
                <a:r>
                  <a:rPr lang="en-US" dirty="0"/>
                  <a:t> is: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=−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𝐙</m:t>
                        </m:r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𝛀</m:t>
                        </m:r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where: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𝐙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⪰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and: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𝛀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𝐈</m:t>
                    </m:r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The dual variables are: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Complementary Slackness</a:t>
                </a:r>
              </a:p>
              <a:p>
                <a:pPr lvl="3"/>
                <a:r>
                  <a:rPr lang="en-US" dirty="0"/>
                  <a:t>At optimum: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𝐙</m:t>
                        </m:r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Since: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the paper obtains: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This gives the first rank condition: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AEDBA1-8FE1-4D11-5794-95DE70055D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229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1FB61E-AF7B-8B14-85AA-EE7B14D8E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496052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59A4B-B160-937C-982B-A8FAF857E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0D262A-C90C-754F-3771-F73E991FF0F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Stationarity</a:t>
                </a:r>
              </a:p>
              <a:p>
                <a:pPr lvl="2"/>
                <a:r>
                  <a:rPr lang="en-US" dirty="0"/>
                  <a:t>Derivative of the </a:t>
                </a:r>
                <a:r>
                  <a:rPr lang="en-US" dirty="0" err="1"/>
                  <a:t>Lagrangian</a:t>
                </a:r>
                <a:r>
                  <a:rPr lang="en-US" dirty="0"/>
                  <a:t> at optimum:</a:t>
                </a:r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𝐙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𝛀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Thus: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𝐙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𝛀</m:t>
                    </m:r>
                  </m:oMath>
                </a14:m>
                <a:endParaRPr lang="en-US" b="1" dirty="0"/>
              </a:p>
              <a:p>
                <a:pPr lvl="2"/>
                <a:r>
                  <a:rPr lang="en-US" dirty="0"/>
                  <a:t>Substitute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𝛀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𝐙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𝐈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nary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Then the paper writes: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𝐙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Expansion Using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b>
                        <m:r>
                          <a:rPr lang="ar-AE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ar-AE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ar-AE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b>
                        <m:r>
                          <a:rPr lang="ar-AE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ar-AE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ar-AE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b>
                        <m:r>
                          <a:rPr lang="ar-AE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b="1" dirty="0">
                  <a:solidFill>
                    <a:srgbClr val="7030A0"/>
                  </a:solidFill>
                </a:endParaRPr>
              </a:p>
              <a:p>
                <a:pPr lvl="2"/>
                <a:r>
                  <a:rPr lang="en-US" dirty="0"/>
                  <a:t>From Eq. (18):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latin typeface="Cambria Math" panose="02040503050406030204" pitchFamily="18" charset="0"/>
                      </a:rPr>
                      <m:t>5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latin typeface="Cambria Math" panose="02040503050406030204" pitchFamily="18" charset="0"/>
                      </a:rPr>
                      <m:t>5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Therefore: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nary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𝐈</m:t>
                    </m:r>
                  </m:oMath>
                </a14:m>
                <a:endParaRPr lang="ar-AE" b="1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5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5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2"/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0D262A-C90C-754F-3771-F73E991FF0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31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8A1290-2CCB-EB89-AF6B-8BD759905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894127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53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29361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580D2-06CC-8A7D-056C-FDB2C77BA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221B27-A919-E4C8-9BDC-4480F115CE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Rank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ar-AE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and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ar-AE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ar-AE" b="1" dirty="0">
                  <a:solidFill>
                    <a:srgbClr val="7030A0"/>
                  </a:solidFill>
                </a:endParaRPr>
              </a:p>
              <a:p>
                <a:pPr lvl="2"/>
                <a:r>
                  <a:rPr lang="en-US" dirty="0"/>
                  <a:t>Since:</a:t>
                </a:r>
              </a:p>
              <a:p>
                <a:pPr lvl="3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nary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𝐈</m:t>
                    </m:r>
                  </m:oMath>
                </a14:m>
                <a:r>
                  <a:rPr lang="en-US" dirty="0"/>
                  <a:t> is full-rank: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𝚿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Also, not all dual variables can be zero. Therefore: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𝚿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Final Rank Argument</a:t>
                </a:r>
              </a:p>
              <a:p>
                <a:pPr lvl="2"/>
                <a:r>
                  <a:rPr lang="en-US" dirty="0"/>
                  <a:t>Since: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sz="1400" b="1">
                        <a:latin typeface="Cambria Math" panose="02040503050406030204" pitchFamily="18" charset="0"/>
                      </a:rPr>
                      <m:t>𝐙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400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ar-AE" sz="14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 sz="14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400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ar-AE" sz="14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ar-AE" sz="1400" b="0" dirty="0"/>
              </a:p>
              <a:p>
                <a:pPr lvl="2"/>
                <a:r>
                  <a:rPr lang="en-US" dirty="0"/>
                  <a:t>the rank inequality gives: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400" b="1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</m:d>
                    <m:r>
                      <a:rPr lang="ar-AE" sz="140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1400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1400" b="1">
                                <a:latin typeface="Cambria Math" panose="02040503050406030204" pitchFamily="18" charset="0"/>
                              </a:rPr>
                              <m:t>𝚿</m:t>
                            </m:r>
                          </m:e>
                          <m:sub>
                            <m:r>
                              <a:rPr lang="ar-AE" sz="1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ar-AE" sz="1400">
                        <a:latin typeface="Cambria Math" panose="02040503050406030204" pitchFamily="18" charset="0"/>
                      </a:rPr>
                      <m:t>≥</m:t>
                    </m:r>
                    <m:r>
                      <m:rPr>
                        <m:sty m:val="p"/>
                      </m:rPr>
                      <a:rPr lang="en-US" sz="1400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1400" b="1">
                                <a:latin typeface="Cambria Math" panose="02040503050406030204" pitchFamily="18" charset="0"/>
                              </a:rPr>
                              <m:t>𝚿</m:t>
                            </m:r>
                          </m:e>
                          <m:sub>
                            <m:r>
                              <a:rPr lang="ar-AE" sz="14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ar-AE" sz="1400" b="0" dirty="0"/>
              </a:p>
              <a:p>
                <a:pPr lvl="2"/>
                <a:r>
                  <a:rPr lang="en-US" dirty="0"/>
                  <a:t>Using: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1400" b="1">
                                <a:latin typeface="Cambria Math" panose="02040503050406030204" pitchFamily="18" charset="0"/>
                              </a:rPr>
                              <m:t>𝚿</m:t>
                            </m:r>
                          </m:e>
                          <m:sub>
                            <m:r>
                              <a:rPr lang="ar-AE" sz="14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ar-AE" sz="14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4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endParaRPr lang="ar-AE" sz="1400" b="0" dirty="0"/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1400" b="1">
                                <a:latin typeface="Cambria Math" panose="02040503050406030204" pitchFamily="18" charset="0"/>
                              </a:rPr>
                              <m:t>𝚿</m:t>
                            </m:r>
                          </m:e>
                          <m:sub>
                            <m:r>
                              <a:rPr lang="ar-AE" sz="1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ar-AE" sz="14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40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sz="1400" b="0" dirty="0"/>
              </a:p>
              <a:p>
                <a:pPr lvl="2"/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221B27-A919-E4C8-9BDC-4480F115CE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44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1BDA7C-3A1F-24FA-6444-FED0717D3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545983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54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680416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3A7D2-86B6-B37C-97BF-02550FB5A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FBD702-6BF1-A703-96A6-9657C705C5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Final Rank Argument</a:t>
                </a:r>
              </a:p>
              <a:p>
                <a:pPr lvl="2"/>
                <a:r>
                  <a:rPr lang="en-US" dirty="0"/>
                  <a:t>we get: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400" b="1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</m:d>
                    <m:r>
                      <a:rPr lang="ar-AE" sz="1400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 sz="14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ar-AE" sz="1400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sz="140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sz="1400" dirty="0"/>
              </a:p>
              <a:p>
                <a:pPr lvl="2"/>
                <a:r>
                  <a:rPr lang="en-US" dirty="0"/>
                  <a:t>Together with: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400" b="1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</m:d>
                    <m:r>
                      <a:rPr lang="ar-AE" sz="1400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sz="14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ar-AE" sz="1400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sz="140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sz="1400" dirty="0"/>
              </a:p>
              <a:p>
                <a:pPr lvl="2"/>
                <a:r>
                  <a:rPr lang="en-US" dirty="0"/>
                  <a:t>therefore: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400" b="1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</m:d>
                    <m:r>
                      <a:rPr lang="ar-AE" sz="14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4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ar-AE" sz="1400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sz="140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sz="1400" dirty="0"/>
              </a:p>
              <a:p>
                <a:pPr lvl="2"/>
                <a:r>
                  <a:rPr lang="en-US" dirty="0"/>
                  <a:t>Because: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400" b="1">
                            <a:latin typeface="Cambria Math" panose="02040503050406030204" pitchFamily="18" charset="0"/>
                          </a:rPr>
                          <m:t>𝐙</m:t>
                        </m:r>
                        <m:sSub>
                          <m:sSubPr>
                            <m:ctrlPr>
                              <a:rPr lang="ar-AE" sz="14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1400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sz="140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 sz="14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4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sz="1400" dirty="0"/>
              </a:p>
              <a:p>
                <a:pPr lvl="2"/>
                <a:r>
                  <a:rPr lang="en-US" dirty="0"/>
                  <a:t>and: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sz="14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400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sz="140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 sz="1400">
                        <a:latin typeface="Cambria Math" panose="02040503050406030204" pitchFamily="18" charset="0"/>
                      </a:rPr>
                      <m:t>≠</m:t>
                    </m:r>
                    <m:r>
                      <a:rPr lang="ar-AE" sz="14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sz="1400" dirty="0"/>
              </a:p>
              <a:p>
                <a:pPr lvl="2"/>
                <a:r>
                  <a:rPr lang="en-US" dirty="0"/>
                  <a:t>the optimal solution satisfies:</a:t>
                </a: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rank</m:t>
                        </m:r>
                      </m:fName>
                      <m:e>
                        <m:d>
                          <m:d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sz="1400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sz="140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ar-AE" sz="14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sz="14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FBD702-6BF1-A703-96A6-9657C705C5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76CDE6-9D5D-F629-7A07-D69CCDA6A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949613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A3E5D-6DD6-7391-BCEC-07A4F718A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380724-8B92-95C3-503E-C8BE1778E0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Communication-Constrained Case</a:t>
                </a:r>
              </a:p>
              <a:p>
                <a:pPr lvl="2"/>
                <a:r>
                  <a:rPr lang="en-US" dirty="0"/>
                  <a:t>In the communication-constrained case: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radar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constraints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are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inactive</m:t>
                    </m:r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The problem becomes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: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d>
                          <m:dPr>
                            <m:begChr m:val="{"/>
                            <m:endChr m:val="}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lim>
                    </m:limLow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4"/>
                <a:r>
                  <a:rPr lang="en-US" dirty="0"/>
                  <a:t>subject to:</a:t>
                </a:r>
              </a:p>
              <a:p>
                <a:pPr lvl="5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5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5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5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sz="1600" dirty="0">
                    <a:solidFill>
                      <a:srgbClr val="7030A0"/>
                    </a:solidFill>
                  </a:rPr>
                  <a:t>Lemma 4: Rank-one optimality for communication-constrained case</a:t>
                </a:r>
              </a:p>
              <a:p>
                <a:pPr lvl="2"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US" dirty="0"/>
                  <a:t>, if it is feasible, then there always exists an optimal solution: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⋆</m:t>
                            </m:r>
                          </m:sup>
                        </m:sSubSup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such that: 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rank</m:t>
                        </m:r>
                      </m:fName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bSup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b="0" dirty="0"/>
              </a:p>
              <a:p>
                <a:pPr lvl="1"/>
                <a:r>
                  <a:rPr lang="en-US" sz="1400" dirty="0"/>
                  <a:t>Proof is given in:</a:t>
                </a:r>
              </a:p>
              <a:p>
                <a:pPr lvl="2"/>
                <a:r>
                  <a:rPr lang="en-US" sz="1200" b="0" dirty="0"/>
                  <a:t>Appendix C</a:t>
                </a:r>
                <a:endParaRPr lang="ar-AE" sz="1200" b="0" dirty="0"/>
              </a:p>
              <a:p>
                <a:pPr lvl="4"/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380724-8B92-95C3-503E-C8BE1778E0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11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18C062-5D86-049A-6273-409A04278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956797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1230FD-878E-6D8B-F173-E74FE4D6D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EB1199-CB76-F440-30CE-DE625C50B6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Lemma 4: Rank-one optimality for communication-constrained case</a:t>
                </a:r>
              </a:p>
              <a:p>
                <a:pPr lvl="2"/>
                <a:r>
                  <a:rPr lang="en-US" dirty="0">
                    <a:solidFill>
                      <a:srgbClr val="002060"/>
                    </a:solidFill>
                  </a:rPr>
                  <a:t>Appendix C: Separable SDP Result</a:t>
                </a:r>
              </a:p>
              <a:p>
                <a:pPr lvl="3"/>
                <a:r>
                  <a:rPr lang="en-US" dirty="0"/>
                  <a:t>Appendix C uses the result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37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Lemma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ar-AE" dirty="0"/>
                  <a:t>.</a:t>
                </a:r>
              </a:p>
              <a:p>
                <a:pPr lvl="3"/>
                <a:r>
                  <a:rPr lang="en-US" dirty="0"/>
                  <a:t>Consider the separable SDP:</a:t>
                </a:r>
              </a:p>
              <a:p>
                <a:pPr lvl="4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d>
                          <m:dPr>
                            <m:begChr m:val="{"/>
                            <m:endChr m:val="}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𝐗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</m:sSub>
                          </m:e>
                        </m:d>
                      </m:lim>
                    </m:limLow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subject to:</a:t>
                </a:r>
              </a:p>
              <a:p>
                <a:pPr lvl="4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𝑚𝑙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▹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,…,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ar-AE" b="0" dirty="0"/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≻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𝑙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,…,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endParaRPr lang="ar-AE" b="0" dirty="0"/>
              </a:p>
              <a:p>
                <a:pPr lvl="4"/>
                <a:r>
                  <a:rPr lang="en-US" dirty="0"/>
                  <a:t>where: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▹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≤</m:t>
                        </m:r>
                      </m:e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≥</m:t>
                        </m:r>
                      </m:e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Appendix C: Rank Bound</a:t>
                </a:r>
              </a:p>
              <a:p>
                <a:pPr lvl="3"/>
                <a:r>
                  <a:rPr lang="en-US" sz="1400" dirty="0"/>
                  <a:t>If the separable SDP is feasible, it has an optimal solution:</a:t>
                </a:r>
              </a:p>
              <a:p>
                <a:pPr lvl="4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sz="1400" b="1"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  <m:sup>
                            <m: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</m:oMath>
                </a14:m>
                <a:endParaRPr lang="ar-AE" sz="1400" b="0" dirty="0"/>
              </a:p>
              <a:p>
                <a:pPr lvl="3"/>
                <a:r>
                  <a:rPr lang="en-US" sz="1400" dirty="0"/>
                  <a:t>such that:</a:t>
                </a:r>
              </a:p>
              <a:p>
                <a:pPr lvl="4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ar-AE" sz="14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 sz="14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  <m:e>
                        <m:sSup>
                          <m:sSup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ar-AE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rank</m:t>
                                </m:r>
                                <m: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⁡</m:t>
                                </m:r>
                                <m:d>
                                  <m:dPr>
                                    <m:ctrlPr>
                                      <a:rPr lang="ar-AE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ar-AE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ar-AE" sz="1400" b="1">
                                            <a:latin typeface="Cambria Math" panose="02040503050406030204" pitchFamily="18" charset="0"/>
                                          </a:rPr>
                                          <m:t>𝐗</m:t>
                                        </m:r>
                                      </m:e>
                                      <m:sub>
                                        <m:r>
                                          <a:rPr lang="ar-AE" sz="1400" i="1">
                                            <a:latin typeface="Cambria Math" panose="02040503050406030204" pitchFamily="18" charset="0"/>
                                          </a:rPr>
                                          <m:t>𝑙</m:t>
                                        </m:r>
                                      </m:sub>
                                      <m:sup>
                                        <m:r>
                                          <a:rPr lang="en-US" sz="1400" b="0" i="0" smtClean="0">
                                            <a:latin typeface="Cambria Math" panose="02040503050406030204" pitchFamily="18" charset="0"/>
                                          </a:rPr>
                                          <m:t>∗</m:t>
                                        </m:r>
                                      </m:sup>
                                    </m:sSubSup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ar-AE" sz="1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ar-AE" sz="1400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sz="1400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ar-AE" sz="1400" b="0" dirty="0"/>
              </a:p>
              <a:p>
                <a:pPr lvl="3"/>
                <a:r>
                  <a:rPr lang="en-US" sz="1400" dirty="0"/>
                  <a:t>Applying this result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sz="1400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400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400" i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US" sz="1400" dirty="0"/>
                  <a:t>, the paper obtains:</a:t>
                </a:r>
              </a:p>
              <a:p>
                <a:pPr lvl="4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 sz="14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 sz="14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p>
                          <m:sSup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ar-AE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rank</m:t>
                                </m:r>
                                <m: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⁡</m:t>
                                </m:r>
                                <m:d>
                                  <m:dPr>
                                    <m:ctrlPr>
                                      <a:rPr lang="ar-AE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ar-AE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ar-AE" sz="1400" b="1">
                                            <a:latin typeface="Cambria Math" panose="02040503050406030204" pitchFamily="18" charset="0"/>
                                          </a:rPr>
                                          <m:t>𝐒</m:t>
                                        </m:r>
                                      </m:e>
                                      <m:sub>
                                        <m:r>
                                          <a:rPr lang="ar-AE" sz="1400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  <m:sup>
                                        <m:r>
                                          <a:rPr lang="en-US" sz="1400" b="0" i="0" smtClean="0">
                                            <a:latin typeface="Cambria Math" panose="02040503050406030204" pitchFamily="18" charset="0"/>
                                          </a:rPr>
                                          <m:t>∗</m:t>
                                        </m:r>
                                      </m:sup>
                                    </m:sSubSup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ar-AE" sz="1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ar-AE" sz="1400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sz="14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ar-AE" sz="1400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sz="140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ar-AE" sz="1400" b="0" dirty="0"/>
              </a:p>
              <a:p>
                <a:pPr lvl="2"/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EB1199-CB76-F440-30CE-DE625C50B6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316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4873F-F0A7-8898-3828-1AE68272F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237128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22DE4-25A1-95EF-B22E-DF443D154F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57AAF7-9BB6-5F45-7E0C-D38BAA9661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05312" y="1645496"/>
                <a:ext cx="10515600" cy="4527272"/>
              </a:xfrm>
            </p:spPr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Lemma 4: Rank-one optimality for communication-constrained case</a:t>
                </a:r>
              </a:p>
              <a:p>
                <a:pPr lvl="2"/>
                <a:r>
                  <a:rPr lang="en-US" dirty="0">
                    <a:solidFill>
                      <a:srgbClr val="002060"/>
                    </a:solidFill>
                  </a:rPr>
                  <a:t>Appendix C: Final Rank-One Conclusion</a:t>
                </a:r>
              </a:p>
              <a:p>
                <a:pPr lvl="3"/>
                <a:r>
                  <a:rPr lang="en-US" dirty="0"/>
                  <a:t>Due to the SINR constraint of each CU:</a:t>
                </a:r>
              </a:p>
              <a:p>
                <a:pPr lvl="4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Therefore: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Since:</a:t>
                </a:r>
              </a:p>
              <a:p>
                <a:pPr lvl="4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rank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⁡</m:t>
                                </m:r>
                                <m:d>
                                  <m:d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ar-AE" b="1">
                                            <a:latin typeface="Cambria Math" panose="02040503050406030204" pitchFamily="18" charset="0"/>
                                          </a:rPr>
                                          <m:t>𝐒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  <m:sup>
                                        <m: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∗</m:t>
                                        </m:r>
                                      </m:sup>
                                    </m:sSubSup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and all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the paper concludes: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57AAF7-9BB6-5F45-7E0C-D38BAA9661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05312" y="1645496"/>
                <a:ext cx="10515600" cy="4527272"/>
              </a:xfrm>
              <a:blipFill>
                <a:blip r:embed="rId2"/>
                <a:stretch>
                  <a:fillRect l="-522" t="-13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7251A5-D5D2-596B-0965-11BA8C17E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249086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8D52D-7039-1178-230F-705ED7309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9684B0-1507-61A1-736A-58398761D8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51451" y="1653885"/>
                <a:ext cx="10515600" cy="4527272"/>
              </a:xfrm>
            </p:spPr>
            <p:txBody>
              <a:bodyPr/>
              <a:lstStyle/>
              <a:p>
                <a:r>
                  <a:rPr lang="en-US" dirty="0">
                    <a:solidFill>
                      <a:srgbClr val="7030A0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7030A0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Both-Constrained Case</a:t>
                </a:r>
              </a:p>
              <a:p>
                <a:pPr lvl="2"/>
                <a:r>
                  <a:rPr lang="en-US" dirty="0"/>
                  <a:t>In the both-constrained case: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radar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constraints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and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communication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constraints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are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both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active</m:t>
                    </m:r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The paper proves rank-one optimality through Lemma 5.</a:t>
                </a:r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Lemma 5: Rank-one optimality for both-constrained case</a:t>
                </a:r>
              </a:p>
              <a:p>
                <a:pPr lvl="3"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, if it is feasible and both-constrained, then it always has an optimal solution:</a:t>
                </a:r>
              </a:p>
              <a:p>
                <a:pPr lvl="4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such that: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Proof is given in: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Appendix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/>
                      <m:t>D</m:t>
                    </m:r>
                  </m:oMath>
                </a14:m>
                <a:endParaRPr lang="ar-AE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9684B0-1507-61A1-736A-58398761D8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51451" y="1653885"/>
                <a:ext cx="10515600" cy="4527272"/>
              </a:xfrm>
              <a:blipFill>
                <a:blip r:embed="rId2"/>
                <a:stretch>
                  <a:fillRect l="-522" t="-1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720714-476E-05E4-2E23-05FA0A1AD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784803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33C88-DA1F-74CB-C9A5-50875E040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277E0D-451B-A583-5851-197DE5DF9F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Appendix D: Transmit Signal Decomposition</a:t>
                </a:r>
              </a:p>
              <a:p>
                <a:pPr lvl="2"/>
                <a:r>
                  <a:rPr lang="en-US" dirty="0"/>
                  <a:t>Appendix D rewrites the transmit signal as: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𝐬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where: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𝐬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is the dedicated radar signal.</a:t>
                </a:r>
              </a:p>
              <a:p>
                <a:pPr lvl="2"/>
                <a:r>
                  <a:rPr lang="en-US" dirty="0"/>
                  <a:t>The transmit strategy becomes: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….,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where: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d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277E0D-451B-A583-5851-197DE5DF9F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CE0C68-EBDB-43E9-4591-0B43FC367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129390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ECC43-54DA-1D27-EF2A-26F94E37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36C7EC-6AB7-4560-A04F-E41CB211C5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Appendix D: Reformulated Problem</a:t>
                </a:r>
              </a:p>
              <a:p>
                <a:pPr lvl="1"/>
                <a:r>
                  <a:rPr lang="en-US" dirty="0"/>
                  <a:t>The problem becomes: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lim>
                    </m:limLow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subject to: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Radar constraints:</a:t>
                </a:r>
              </a:p>
              <a:p>
                <a:pPr lvl="2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36C7EC-6AB7-4560-A04F-E41CB211C5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23D14C-39A1-049E-DAF9-E45AD91D9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981681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04644-13E9-6960-70B8-99F0970C3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EED61B-30FC-5F16-2A88-D41E01FE94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Appendix D: Communication Constraint With Dedicated Radar Signal</a:t>
                </a:r>
              </a:p>
              <a:p>
                <a:pPr lvl="2"/>
                <a:r>
                  <a:rPr lang="en-US" sz="1800" dirty="0"/>
                  <a:t>The communication constraint becomes:</a:t>
                </a:r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Important effect: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appears as extra interference to CU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r>
                  <a:rPr lang="en-US" dirty="0"/>
                  <a:t>The paper states:</a:t>
                </a:r>
              </a:p>
              <a:p>
                <a:pPr lvl="4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ar-AE" b="1" dirty="0"/>
              </a:p>
              <a:p>
                <a:pPr lvl="3"/>
                <a:r>
                  <a:rPr lang="en-US" dirty="0"/>
                  <a:t>because the dedicated radar signal incurs additional interference to the CUs.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EED61B-30FC-5F16-2A88-D41E01FE94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56220A-41B7-F888-BB33-8DD2FE898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119521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70FD2-1247-CD1D-B488-4D10B17F7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A774AB-0DC3-FEF4-438E-F48D676CFA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49691"/>
                <a:ext cx="10515600" cy="5778760"/>
              </a:xfrm>
            </p:spPr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Appendix D: </a:t>
                </a:r>
                <a:r>
                  <a:rPr lang="en-US" dirty="0" err="1">
                    <a:solidFill>
                      <a:srgbClr val="7030A0"/>
                    </a:solidFill>
                  </a:rPr>
                  <a:t>Lagrangian</a:t>
                </a:r>
                <a:endParaRPr lang="en-US" dirty="0">
                  <a:solidFill>
                    <a:srgbClr val="7030A0"/>
                  </a:solidFill>
                </a:endParaRPr>
              </a:p>
              <a:p>
                <a:pPr lvl="2"/>
                <a:r>
                  <a:rPr lang="en-US" dirty="0"/>
                  <a:t>The </a:t>
                </a:r>
                <a:r>
                  <a:rPr lang="en-US" dirty="0" err="1"/>
                  <a:t>Lagrangian</a:t>
                </a:r>
                <a:r>
                  <a:rPr lang="en-US" dirty="0"/>
                  <a:t> is: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=−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𝚽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𝚽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where: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𝚽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𝚷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𝐈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𝚽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𝚷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𝐈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r>
                      <a:rPr lang="ar-AE" b="1">
                        <a:latin typeface="Cambria Math" panose="02040503050406030204" pitchFamily="18" charset="0"/>
                      </a:rPr>
                      <m:t>𝚷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Appendix D: Complementary Slackness</a:t>
                </a:r>
              </a:p>
              <a:p>
                <a:pPr lvl="2"/>
                <a:r>
                  <a:rPr lang="en-US" dirty="0"/>
                  <a:t>At optimum: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Since: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⋆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 paper obtains: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Also, because: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one has: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A774AB-0DC3-FEF4-438E-F48D676CFA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49691"/>
                <a:ext cx="10515600" cy="5778760"/>
              </a:xfrm>
              <a:blipFill>
                <a:blip r:embed="rId2"/>
                <a:stretch>
                  <a:fillRect l="-522" t="-1055" b="-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0DDA12-C78B-B0C9-F1A4-041409A52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759903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63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9581726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22087-0D48-F95B-8943-9EC7CA1B8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A8A510-B5D9-0795-8107-943C19472B9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Appendix D: Stationarity Conditions</a:t>
                </a:r>
              </a:p>
              <a:p>
                <a:pPr lvl="2"/>
                <a:r>
                  <a:rPr lang="en-US" dirty="0"/>
                  <a:t>The derivative of the </a:t>
                </a:r>
                <a:r>
                  <a:rPr lang="en-US" dirty="0" err="1"/>
                  <a:t>Lagrangian</a:t>
                </a:r>
                <a:r>
                  <a:rPr lang="en-US" dirty="0"/>
                  <a:t> at the optimum gives:</a:t>
                </a:r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and</a:t>
                </a:r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Thus: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𝐈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𝚷</m:t>
                    </m:r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and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𝐈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𝚷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>
                                    <a:latin typeface="Cambria Math" panose="02040503050406030204" pitchFamily="18" charset="0"/>
                                  </a:rPr>
                                  <m:t>Γ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den>
                        </m:f>
                      </m:e>
                    </m:d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Therefore: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>
                                    <a:latin typeface="Cambria Math" panose="02040503050406030204" pitchFamily="18" charset="0"/>
                                  </a:rPr>
                                  <m:t>Γ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den>
                        </m:f>
                      </m:e>
                    </m:d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A8A510-B5D9-0795-8107-943C19472B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CDC1EA-7DE7-D16E-82AC-226E186FB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814454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EFE8D-B881-BBA0-A38B-0BE7DC590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311" y="789054"/>
            <a:ext cx="10515600" cy="681250"/>
          </a:xfrm>
        </p:spPr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CEB6A9-71CC-D8B1-87D2-80CE623CB2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Appendix D: Rank Argument</a:t>
                </a:r>
              </a:p>
              <a:p>
                <a:pPr lvl="2"/>
                <a:r>
                  <a:rPr lang="en-US" dirty="0"/>
                  <a:t>From: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>
                                    <a:latin typeface="Cambria Math" panose="02040503050406030204" pitchFamily="18" charset="0"/>
                                  </a:rPr>
                                  <m:t>Γ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den>
                        </m:f>
                      </m:e>
                    </m:d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 paper obtains: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rank</m:t>
                        </m:r>
                      </m:fName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𝜆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>
                                            <a:latin typeface="Cambria Math" panose="02040503050406030204" pitchFamily="18" charset="0"/>
                                          </a:rPr>
                                          <m:t>Γ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d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Since: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and:</a:t>
                </a: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rank</m:t>
                        </m:r>
                      </m:fName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𝜆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>
                                            <a:latin typeface="Cambria Math" panose="02040503050406030204" pitchFamily="18" charset="0"/>
                                          </a:rPr>
                                          <m:t>Γ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d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then: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Together with: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we obtain: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CEB6A9-71CC-D8B1-87D2-80CE623CB2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98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15724-5865-22A6-44E0-AEF3D64DF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42874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001BD-17E1-FA67-A75E-BAD3C9FA27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4503B-E90E-405C-D84D-9A9DA13571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Appendix D: Final Rank-One Result</a:t>
                </a:r>
              </a:p>
              <a:p>
                <a:pPr lvl="2"/>
                <a:r>
                  <a:rPr lang="en-US" dirty="0"/>
                  <a:t>Since: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and: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with: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 optimal covariance matrices satisfy: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This proves Lemma 5.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4503B-E90E-405C-D84D-9A9DA13571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C1A091-3827-C762-C456-3A02BBBCF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354997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7AFBA-8ACA-26EC-921A-8A66FA649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1E5594-11B4-21CC-3681-BFB2F8F245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Proposition 2: Optimality achieved by single-stream transmission</a:t>
                </a:r>
              </a:p>
              <a:p>
                <a:pPr lvl="2"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, if the problem is feasible, then there exists an optimal solution:</a:t>
                </a:r>
              </a:p>
              <a:p>
                <a:pPr lvl="3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such that: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Therefore: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It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sufficient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to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consider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rank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one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signal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covariance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matrices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Proof of Proposition 2</a:t>
                </a:r>
              </a:p>
              <a:p>
                <a:pPr lvl="2"/>
                <a:r>
                  <a:rPr lang="en-US" dirty="0"/>
                  <a:t>The proof follows directly from three cases: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Radar</m:t>
                    </m:r>
                    <m:r>
                      <m:rPr>
                        <m:nor/>
                      </m:rPr>
                      <a:rPr lang="en-US" b="0"/>
                      <m:t>−</m:t>
                    </m:r>
                    <m:r>
                      <m:rPr>
                        <m:nor/>
                      </m:rPr>
                      <a:rPr lang="en-US" b="0"/>
                      <m:t>constrained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 i="1"/>
                      <m:t>case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Lemma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3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Communication</m:t>
                    </m:r>
                    <m:r>
                      <m:rPr>
                        <m:nor/>
                      </m:rPr>
                      <a:rPr lang="en-US" b="0"/>
                      <m:t>−</m:t>
                    </m:r>
                    <m:r>
                      <m:rPr>
                        <m:nor/>
                      </m:rPr>
                      <a:rPr lang="en-US" b="0"/>
                      <m:t>constrained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 i="1"/>
                      <m:t>case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Lemma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4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Both</m:t>
                    </m:r>
                    <m:r>
                      <m:rPr>
                        <m:nor/>
                      </m:rPr>
                      <a:rPr lang="en-US" b="0"/>
                      <m:t>−</m:t>
                    </m:r>
                    <m:r>
                      <m:rPr>
                        <m:nor/>
                      </m:rPr>
                      <a:rPr lang="en-US" b="0"/>
                      <m:t>constrained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 i="1"/>
                      <m:t>case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Lemma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5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Therefore: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ar-AE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1</m:t>
                    </m:r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m:rPr>
                        <m:nor/>
                      </m:rPr>
                      <a:rPr lang="en-US"/>
                      <m:t>can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achieve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optimality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with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single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stream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transmission</m:t>
                    </m:r>
                  </m:oMath>
                </a14:m>
                <a:endParaRPr lang="ar-AE" b="0" dirty="0"/>
              </a:p>
              <a:p>
                <a:pPr lvl="1"/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1E5594-11B4-21CC-3681-BFB2F8F245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9533A5-B771-B585-A0EB-0542E4FEC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293200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1F7FD-EE39-AD8D-08A8-FC60CED37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477A6C-BBBF-45B6-21CB-FAC9FF8E09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7030A0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7030A0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Final Conceptual Summary</a:t>
                </a:r>
              </a:p>
              <a:p>
                <a:pPr lvl="2"/>
                <a:r>
                  <a:rPr lang="en-US" dirty="0"/>
                  <a:t>The paper proves: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This means: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does not need to be high-rank.</a:t>
                </a:r>
              </a:p>
              <a:p>
                <a:pPr lvl="3"/>
                <a:r>
                  <a:rPr lang="en-US" dirty="0"/>
                  <a:t>Each CU can be served using one stream.</a:t>
                </a:r>
              </a:p>
              <a:p>
                <a:pPr lvl="2"/>
                <a:r>
                  <a:rPr lang="en-US" dirty="0"/>
                  <a:t>Final message: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The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Pareto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optimal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DFRC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solution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can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be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achieved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by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single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stream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beamforming</m:t>
                    </m:r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477A6C-BBBF-45B6-21CB-FAC9FF8E09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7F4147-94FC-5791-B072-788274717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541077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59349-863F-143B-BCC1-54FEE2058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0" dirty="0"/>
              <a:t>Hardware-</a:t>
            </a:r>
            <a:r>
              <a:rPr lang="en-US" sz="2800" b="0" dirty="0" err="1"/>
              <a:t>Impared</a:t>
            </a:r>
            <a:r>
              <a:rPr lang="en-US" sz="2800" b="0" dirty="0"/>
              <a:t> Optimization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FA4A4E-2750-E4DB-085C-7A117791A96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Impairment-Aware SINR, DPSL, and Fairness-Profile Reformulation</a:t>
                </a:r>
              </a:p>
              <a:p>
                <a:pPr lvl="1"/>
                <a:r>
                  <a:rPr lang="en-US" dirty="0"/>
                  <a:t>Ideal transmitter model: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Hardware-impaired transmitter model: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𝐳</m:t>
                        </m:r>
                      </m:e>
                      <m:sup>
                        <m:d>
                          <m:d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where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𝐳</m:t>
                        </m:r>
                      </m:e>
                      <m:sup>
                        <m:d>
                          <m:d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∼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𝒞𝒩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Communication Signal With Impairment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𝐬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𝐳</m:t>
                            </m:r>
                          </m:e>
                          <m:sup>
                            <m:d>
                              <m:dPr>
                                <m:ctrlPr>
                                  <a:rPr lang="ar-AE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sup>
                        </m:s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Expand: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𝐬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nor/>
                          </m:rPr>
                          <a:rPr lang="en-US"/>
                          <m:t>desired</m:t>
                        </m:r>
                        <m:r>
                          <m:rPr>
                            <m:nor/>
                          </m:rPr>
                          <a:rPr lang="en-US"/>
                          <m:t> </m:t>
                        </m:r>
                        <m:r>
                          <m:rPr>
                            <m:nor/>
                          </m:rPr>
                          <a:rPr lang="en-US"/>
                          <m:t>signal</m:t>
                        </m:r>
                      </m:lim>
                    </m:limLow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nary>
                              <m:naryPr>
                                <m:chr m:val="∑"/>
                                <m:grow m:val="on"/>
                                <m:supHide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≠</m:t>
                                </m:r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/>
                              <m:e>
                                <m:sSubSup>
                                  <m:sSub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𝐡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bSup>
                              </m:e>
                            </m:nary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𝐬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nor/>
                          </m:rPr>
                          <a:rPr lang="en-US"/>
                          <m:t>multi</m:t>
                        </m:r>
                        <m:r>
                          <m:rPr>
                            <m:nor/>
                          </m:rPr>
                          <a:rPr lang="en-US"/>
                          <m:t>−</m:t>
                        </m:r>
                        <m:r>
                          <m:rPr>
                            <m:nor/>
                          </m:rPr>
                          <a:rPr lang="en-US"/>
                          <m:t>user</m:t>
                        </m:r>
                        <m:r>
                          <m:rPr>
                            <m:nor/>
                          </m:rPr>
                          <a:rPr lang="en-US"/>
                          <m:t> </m:t>
                        </m:r>
                        <m:r>
                          <m:rPr>
                            <m:nor/>
                          </m:rPr>
                          <a:rPr lang="en-US"/>
                          <m:t>interference</m:t>
                        </m:r>
                      </m:lim>
                    </m:limLow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𝐳</m:t>
                                </m:r>
                              </m:e>
                              <m:sup>
                                <m:d>
                                  <m:dPr>
                                    <m:ctrlPr>
                                      <a:rPr lang="ar-AE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sup>
                            </m:sSup>
                          </m:e>
                        </m:groupChr>
                      </m:e>
                      <m:lim>
                        <m:r>
                          <m:rPr>
                            <m:nor/>
                          </m:rPr>
                          <a:rPr lang="en-US"/>
                          <m:t>hardware</m:t>
                        </m:r>
                        <m:r>
                          <m:rPr>
                            <m:nor/>
                          </m:rPr>
                          <a:rPr lang="en-US"/>
                          <m:t> </m:t>
                        </m:r>
                        <m:r>
                          <m:rPr>
                            <m:nor/>
                          </m:rPr>
                          <a:rPr lang="en-US"/>
                          <m:t>distortion</m:t>
                        </m:r>
                      </m:lim>
                    </m:limLow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nor/>
                          </m:rPr>
                          <a:rPr lang="en-US"/>
                          <m:t>AWGN</m:t>
                        </m:r>
                      </m:lim>
                    </m:limLow>
                  </m:oMath>
                </a14:m>
                <a:endParaRPr lang="ar-AE" b="0" dirty="0"/>
              </a:p>
              <a:p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FA4A4E-2750-E4DB-085C-7A117791A96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59FBA2-81FC-C42F-2F03-D4D6A0427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997723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6F0A9-CE84-AC63-FF38-211AA9F99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Hardware-</a:t>
            </a:r>
            <a:r>
              <a:rPr lang="en-US" b="0" dirty="0" err="1"/>
              <a:t>Impared</a:t>
            </a:r>
            <a:r>
              <a:rPr lang="en-US" b="0" dirty="0"/>
              <a:t> Optimization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85E5E0-7E28-615F-2814-006A79F1BD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Impairment-Aware SINR, DPSL, and Fairness-Profile Reformulation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Distortion Covariance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p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diag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,…., </m:t>
                        </m:r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For antenna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func>
                              <m:func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tr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>
                                            <a:latin typeface="Cambria Math" panose="02040503050406030204" pitchFamily="18" charset="0"/>
                                          </a:rPr>
                                          <m:t>𝚲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nary>
                                      <m:naryPr>
                                        <m:chr m:val="∑"/>
                                        <m:grow m:val="on"/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naryPr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=</m:t>
                                        </m:r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  <m:sup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p>
                                      <m:e>
                                        <m:sSub>
                                          <m:sSubPr>
                                            <m:ctrlP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ar-AE" b="1">
                                                <a:latin typeface="Cambria Math" panose="02040503050406030204" pitchFamily="18" charset="0"/>
                                              </a:rPr>
                                              <m:t>𝐒</m:t>
                                            </m:r>
                                          </m:e>
                                          <m:sub>
                                            <m: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</m:e>
                                    </m:nary>
                                  </m:e>
                                </m:d>
                              </m:e>
                            </m:func>
                          </m:e>
                        </m:rad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Where,</a:t>
                </a:r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𝚲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diag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Meaning of Antenna-Wise Distortion</a:t>
                </a:r>
              </a:p>
              <a:p>
                <a:pPr lvl="2"/>
                <a:r>
                  <a:rPr lang="en-US" dirty="0"/>
                  <a:t>Antenna-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transmit power:</a:t>
                </a: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𝚲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nary>
                              <m:naryPr>
                                <m:chr m:val="∑"/>
                                <m:grow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</m:e>
                    </m:func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Transmit magnitude:</a:t>
                </a:r>
              </a:p>
              <a:p>
                <a:pPr lvl="3"/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unc>
                          <m:func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tr</m:t>
                            </m:r>
                          </m:fName>
                          <m:e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𝚲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nary>
                                  <m:naryPr>
                                    <m:chr m:val="∑"/>
                                    <m:grow m:val="on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>
                                            <a:latin typeface="Cambria Math" panose="02040503050406030204" pitchFamily="18" charset="0"/>
                                          </a:rPr>
                                          <m:t>𝐒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</m:d>
                          </m:e>
                        </m:func>
                      </m:e>
                    </m:ra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Distortion magnitude: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/>
                          <m:t>transmit</m:t>
                        </m:r>
                        <m:r>
                          <m:rPr>
                            <m:nor/>
                          </m:rPr>
                          <a:rPr lang="en-US"/>
                          <m:t> </m:t>
                        </m:r>
                        <m:r>
                          <m:rPr>
                            <m:nor/>
                          </m:rPr>
                          <a:rPr lang="en-US"/>
                          <m:t>magnitude</m:t>
                        </m:r>
                        <m:r>
                          <m:rPr>
                            <m:nor/>
                          </m:rPr>
                          <a:rPr lang="en-US"/>
                          <m:t> </m:t>
                        </m:r>
                        <m:r>
                          <m:rPr>
                            <m:nor/>
                          </m:rPr>
                          <a:rPr lang="en-US"/>
                          <m:t>at</m:t>
                        </m:r>
                        <m:r>
                          <m:rPr>
                            <m:nor/>
                          </m:rPr>
                          <a:rPr lang="en-US"/>
                          <m:t> </m:t>
                        </m:r>
                        <m:r>
                          <m:rPr>
                            <m:nor/>
                          </m:rPr>
                          <a:rPr lang="en-US"/>
                          <m:t>antenna</m:t>
                        </m:r>
                        <m:r>
                          <m:rPr>
                            <m:nor/>
                          </m:rPr>
                          <a:rPr lang="en-US"/>
                          <m:t> </m:t>
                        </m:r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</m:d>
                  </m:oMath>
                </a14:m>
                <a:endParaRPr lang="ar-AE" b="0" dirty="0"/>
              </a:p>
              <a:p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85E5E0-7E28-615F-2814-006A79F1BD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4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E77610-AFEA-84FA-FD96-7A9155BD4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532029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9BBE0-75D6-E72A-BF41-8CB54D398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Hardware-</a:t>
            </a:r>
            <a:r>
              <a:rPr lang="en-US" b="0" dirty="0" err="1"/>
              <a:t>Impared</a:t>
            </a:r>
            <a:r>
              <a:rPr lang="en-US" b="0" dirty="0"/>
              <a:t> Optimization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097424-C08D-628A-CEB7-BD16D6C1EA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Impairment-Aware SINR, DPSL, and Fairness-Profile Reformulation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Distortion Function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dirty="0"/>
                  <a:t> is monotonically increasing.</a:t>
                </a:r>
              </a:p>
              <a:p>
                <a:pPr lvl="2"/>
                <a:r>
                  <a:rPr lang="en-US" dirty="0"/>
                  <a:t>Linear model: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𝜅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Convex nonlinear model: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convex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polynomial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with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positive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coefficients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Core idea: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larger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transmit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magnitude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larger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distortion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magnitude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SINR With Hardware Impairment</a:t>
                </a:r>
              </a:p>
              <a:p>
                <a:pPr lvl="2"/>
                <a:r>
                  <a:rPr lang="en-US" dirty="0"/>
                  <a:t>Ideal SINR: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Impaired SINR: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p>
                            <m:d>
                              <m:dPr>
                                <m:ctrlPr>
                                  <a:rPr lang="ar-AE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sup>
                        </m:s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endParaRPr lang="ar-AE" b="0" dirty="0"/>
              </a:p>
              <a:p>
                <a:pPr lvl="1"/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097424-C08D-628A-CEB7-BD16D6C1EA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239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822E90-FD28-43F7-7048-6C6FB1BD0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448045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BA2B6B-41DF-E4B5-09CB-9CFC5679F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Hardware-</a:t>
            </a:r>
            <a:r>
              <a:rPr lang="en-US" b="0" dirty="0" err="1"/>
              <a:t>Impared</a:t>
            </a:r>
            <a:r>
              <a:rPr lang="en-US" b="0" dirty="0"/>
              <a:t> Optimization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88CC5F-882B-91E8-232A-D75439633F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Impairment-Aware SINR, DPSL, and Fairness-Profile Reformulation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Effect on Communication</a:t>
                </a:r>
              </a:p>
              <a:p>
                <a:pPr lvl="2"/>
                <a:r>
                  <a:rPr lang="en-US" dirty="0"/>
                  <a:t>New distortion-interference term: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p>
                        <m:d>
                          <m:d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Thus: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denominator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increases</m:t>
                    </m:r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Hardware impairment reduces communication SINR.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Power Constraint With Impairment</a:t>
                </a:r>
              </a:p>
              <a:p>
                <a:pPr lvl="2"/>
                <a:r>
                  <a:rPr lang="en-US" dirty="0"/>
                  <a:t>Ideal power constraint:</a:t>
                </a: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begChr m:val="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hr m:val="∑"/>
                                <m:grow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Impaired power constraint:</a:t>
                </a: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begChr m:val="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hr m:val="∑"/>
                                <m:grow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nary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𝐂</m:t>
                                </m:r>
                              </m:e>
                              <m:sup>
                                <m:d>
                                  <m:dPr>
                                    <m:ctrlPr>
                                      <a:rPr lang="ar-AE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sup>
                            </m:sSup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Expand:</a:t>
                </a: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begChr m:val="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hr m:val="∑"/>
                                <m:grow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𝐂</m:t>
                                </m:r>
                              </m:e>
                              <m:sup>
                                <m:d>
                                  <m:dPr>
                                    <m:ctrlPr>
                                      <a:rPr lang="ar-AE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sup>
                            </m:sSup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88CC5F-882B-91E8-232A-D75439633F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7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EDBCD-8161-81A4-EC89-0A9956070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04817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E1C61-71B0-9005-2FB7-0605C915D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Hardware-</a:t>
            </a:r>
            <a:r>
              <a:rPr lang="en-US" b="0" dirty="0" err="1"/>
              <a:t>Impared</a:t>
            </a:r>
            <a:r>
              <a:rPr lang="en-US" b="0" dirty="0"/>
              <a:t> Optimization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463E01-A87F-CF5C-E69F-31EC3DBADB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Impairment-Aware SINR, DPSL, and Fairness-Profile Reformulation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Radar Probing Power With Impairment</a:t>
                </a:r>
              </a:p>
              <a:p>
                <a:pPr lvl="2"/>
                <a:r>
                  <a:rPr lang="en-US" dirty="0"/>
                  <a:t>Ideal probing power: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1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Impaired probing power: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1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p>
                            <m:d>
                              <m:dPr>
                                <m:ctrlPr>
                                  <a:rPr lang="ar-AE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sup>
                        </m:sSup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Expand: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1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p>
                        <m:d>
                          <m:d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en-US" b="1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DPSL With Impairment</a:t>
                </a:r>
              </a:p>
              <a:p>
                <a:pPr lvl="2"/>
                <a:r>
                  <a:rPr lang="en-US" dirty="0"/>
                  <a:t>Ideal DPSL: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Impaired DPSL: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p>
                            <m:d>
                              <m:dPr>
                                <m:ctrlPr>
                                  <a:rPr lang="ar-AE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sup>
                        </m:sSup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p>
                            <m:d>
                              <m:dPr>
                                <m:ctrlPr>
                                  <a:rPr lang="ar-AE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sup>
                        </m:sSup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1"/>
                <a:endParaRPr lang="ar-AE" b="1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463E01-A87F-CF5C-E69F-31EC3DBADB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68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FB701A-C443-8C5A-13ED-238741C98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173579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04832-B357-AAF3-D775-A058323ACB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Hardware-</a:t>
            </a:r>
            <a:r>
              <a:rPr lang="en-US" b="0" dirty="0" err="1"/>
              <a:t>Impared</a:t>
            </a:r>
            <a:r>
              <a:rPr lang="en-US" b="0" dirty="0"/>
              <a:t> Optimization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4BBCD3-FC36-D4B4-108A-780795DD13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Impairment-Aware SINR, DPSL, and Fairness-Profile Reformulation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Expanded DPSL With Impairment</a:t>
                </a: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p>
                        <m:d>
                          <m:d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p>
                        <m:d>
                          <m:d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1"/>
                <a:r>
                  <a:rPr lang="en-US" dirty="0"/>
                  <a:t>So:</a:t>
                </a: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p>
                        <m:d>
                          <m:d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p>
                        <m:d>
                          <m:d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en-US" b="1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Main-Beam Constraint With Impairment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>
                        <a:latin typeface="Cambria Math" panose="02040503050406030204" pitchFamily="18" charset="0"/>
                      </a:rPr>
                      <m:t>5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p>
                            <m:d>
                              <m:dPr>
                                <m:ctrlPr>
                                  <a:rPr lang="ar-AE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sup>
                        </m:sSup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p>
                            <m:d>
                              <m:dPr>
                                <m:ctrlPr>
                                  <a:rPr lang="ar-AE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sup>
                        </m:sSup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2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latin typeface="Cambria Math" panose="02040503050406030204" pitchFamily="18" charset="0"/>
                      </a:rPr>
                      <m:t>5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p>
                            <m:d>
                              <m:dPr>
                                <m:ctrlPr>
                                  <a:rPr lang="ar-AE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sup>
                        </m:sSup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p>
                            <m:d>
                              <m:dPr>
                                <m:ctrlPr>
                                  <a:rPr lang="ar-AE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sup>
                        </m:sSup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</m:oMath>
                </a14:m>
                <a:endParaRPr lang="en-US" b="1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Impairment-Aware Utility Problem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en-US" b="1" dirty="0">
                  <a:solidFill>
                    <a:srgbClr val="7030A0"/>
                  </a:solidFill>
                </a:endParaRP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: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d>
                          <m:dPr>
                            <m:begChr m:val="{"/>
                            <m:endChr m:val="}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lim>
                    </m:limLow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lim>
                    </m:limLow>
                    <m:d>
                      <m:dPr>
                        <m:begChr m:val="{"/>
                        <m:endChr m:val="}"/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b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den>
                        </m:f>
                      </m:e>
                      <m:e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  <m:sup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b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subject to:</a:t>
                </a:r>
              </a:p>
              <a:p>
                <a:pPr lvl="2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begChr m:val="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hr m:val="∑"/>
                                <m:grow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nary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𝐂</m:t>
                                </m:r>
                              </m:e>
                              <m:sup>
                                <m:d>
                                  <m:dPr>
                                    <m:ctrlPr>
                                      <a:rPr lang="ar-AE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sup>
                            </m:sSup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and impaired main-beam constraints.</a:t>
                </a:r>
              </a:p>
              <a:p>
                <a:pPr lvl="1"/>
                <a:endParaRPr lang="ar-AE" b="1" dirty="0"/>
              </a:p>
              <a:p>
                <a:pPr lvl="1"/>
                <a:endParaRPr lang="ar-AE" b="1" dirty="0"/>
              </a:p>
              <a:p>
                <a:pPr lvl="2"/>
                <a:endParaRPr lang="en-US" b="1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4BBCD3-FC36-D4B4-108A-780795DD13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63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308134-A89E-B27B-958D-A3241FCC1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993118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974B7-B7AF-8238-2E82-B3865439B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Hardware-</a:t>
            </a:r>
            <a:r>
              <a:rPr lang="en-US" b="0" dirty="0" err="1"/>
              <a:t>Impared</a:t>
            </a:r>
            <a:r>
              <a:rPr lang="en-US" b="0" dirty="0"/>
              <a:t> Optimization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C411BE-E8D4-EDE4-9E45-C286AE03D5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Impairment-Aware SINR, DPSL, and Fairness-Profile Reformulation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Fixed Targets for Bisection</a:t>
                </a:r>
              </a:p>
              <a:p>
                <a:pPr lvl="2"/>
                <a:r>
                  <a:rPr lang="en-US" dirty="0"/>
                  <a:t>Using the same ray-search idea: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 i="1">
                        <a:latin typeface="Cambria Math" panose="02040503050406030204" pitchFamily="18" charset="0"/>
                      </a:rPr>
                      <m:t>𝜏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 i="1">
                        <a:latin typeface="Cambria Math" panose="02040503050406030204" pitchFamily="18" charset="0"/>
                      </a:rPr>
                      <m:t>𝜏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For a fixed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Feasibility Problem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find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,….,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subject to:</a:t>
                </a:r>
              </a:p>
              <a:p>
                <a:pPr lvl="2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begChr m:val="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hr m:val="∑"/>
                                <m:grow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nary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𝐂</m:t>
                                </m:r>
                              </m:e>
                              <m:sup>
                                <m:d>
                                  <m:dPr>
                                    <m:ctrlPr>
                                      <a:rPr lang="ar-AE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sup>
                            </m:sSup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and impaired main-beam constraints.</a:t>
                </a:r>
              </a:p>
              <a:p>
                <a:pPr lvl="1"/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C411BE-E8D4-EDE4-9E45-C286AE03D5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0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5F6441-85A9-43DE-64FD-A898D7696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052191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72122-F8C4-C388-04EA-C7E192D19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Hardware-</a:t>
            </a:r>
            <a:r>
              <a:rPr lang="en-US" b="0" dirty="0" err="1"/>
              <a:t>Impared</a:t>
            </a:r>
            <a:r>
              <a:rPr lang="en-US" b="0" dirty="0"/>
              <a:t> Optimization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671917-3D34-E34F-8E13-C30863B368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Impairment-Aware SINR, DPSL, and Fairness-Profile Reformulation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Expanded SINR Constraint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p>
                            <m:d>
                              <m:dPr>
                                <m:ctrlPr>
                                  <a:rPr lang="ar-AE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sup>
                        </m:s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Equivalent:</a:t>
                </a: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p>
                            <m:d>
                              <m:dPr>
                                <m:ctrlPr>
                                  <a:rPr lang="ar-AE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sup>
                        </m:s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Expanded DPSL Constraint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p>
                            <m:d>
                              <m:dPr>
                                <m:ctrlPr>
                                  <a:rPr lang="ar-AE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sup>
                        </m:sSup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p>
                            <m:d>
                              <m:dPr>
                                <m:ctrlPr>
                                  <a:rPr lang="ar-AE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sup>
                        </m:sSup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Main Difficulty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p>
                        <m:d>
                          <m:d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diag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begChr m:val="{"/>
                        <m:endChr m:val="}"/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…</m:t>
                        </m:r>
                      </m:e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func>
                              <m:func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tr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>
                                            <a:latin typeface="Cambria Math" panose="02040503050406030204" pitchFamily="18" charset="0"/>
                                          </a:rPr>
                                          <m:t>𝚲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nary>
                                      <m:naryPr>
                                        <m:chr m:val="∑"/>
                                        <m:grow m:val="on"/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naryPr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=</m:t>
                                        </m:r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  <m:sup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p>
                                      <m:e>
                                        <m:sSub>
                                          <m:sSubPr>
                                            <m:ctrlP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ar-AE" b="1">
                                                <a:latin typeface="Cambria Math" panose="02040503050406030204" pitchFamily="18" charset="0"/>
                                              </a:rPr>
                                              <m:t>𝐒</m:t>
                                            </m:r>
                                          </m:e>
                                          <m:sub>
                                            <m: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</m:e>
                                    </m:nary>
                                  </m:e>
                                </m:d>
                              </m:e>
                            </m:func>
                          </m:e>
                        </m:rad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Therefore: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p>
                        <m:d>
                          <m:d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</m:oMath>
                </a14:m>
                <a:r>
                  <a:rPr lang="en-US" dirty="0"/>
                  <a:t> depends on: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,….,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is harder than ideal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671917-3D34-E34F-8E13-C30863B368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61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27F2C5-290B-AD6B-323E-5DB272075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474677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76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5428513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EAA36-0B7F-3787-F61E-9EF765E0C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Hardware-</a:t>
            </a:r>
            <a:r>
              <a:rPr lang="en-US" b="0" dirty="0" err="1"/>
              <a:t>Impared</a:t>
            </a:r>
            <a:r>
              <a:rPr lang="en-US" b="0" dirty="0"/>
              <a:t> Optimization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3C2319-C7C9-D0A7-8C07-655D90B32B3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Impairment-Aware SINR, DPSL, and Fairness-Profile Reformulation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Proposition 3: Convex Reformulation</a:t>
                </a:r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dirty="0"/>
                  <a:t> is monotonic increasing and convex, 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can be reformulated as a convex problem.</a:t>
                </a:r>
              </a:p>
              <a:p>
                <a:pPr lvl="1"/>
                <a:r>
                  <a:rPr lang="en-US" dirty="0"/>
                  <a:t>Introduce: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𝐃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diag</m:t>
                        </m:r>
                      </m:fName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Then replace: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p>
                        <m:d>
                          <m:d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𝐃</m:t>
                    </m:r>
                  </m:oMath>
                </a14:m>
                <a:endParaRPr lang="en-US" b="1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Auxiliary Distortion Constraint</a:t>
                </a:r>
              </a:p>
              <a:p>
                <a:pPr lvl="2"/>
                <a:r>
                  <a:rPr lang="en-US" dirty="0"/>
                  <a:t>For each antenna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func>
                              <m:func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tr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>
                                            <a:latin typeface="Cambria Math" panose="02040503050406030204" pitchFamily="18" charset="0"/>
                                          </a:rPr>
                                          <m:t>𝚲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nary>
                                      <m:naryPr>
                                        <m:chr m:val="∑"/>
                                        <m:grow m:val="on"/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naryPr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=</m:t>
                                        </m:r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  <m:sup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p>
                                      <m:e>
                                        <m:sSub>
                                          <m:sSubPr>
                                            <m:ctrlP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ar-AE" b="1">
                                                <a:latin typeface="Cambria Math" panose="02040503050406030204" pitchFamily="18" charset="0"/>
                                              </a:rPr>
                                              <m:t>𝐒</m:t>
                                            </m:r>
                                          </m:e>
                                          <m:sub>
                                            <m: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</m:e>
                                    </m:nary>
                                  </m:e>
                                </m:d>
                              </m:e>
                            </m:func>
                          </m:e>
                        </m:rad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This means: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is upper-bounds the distortion magnitude at antenna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3C2319-C7C9-D0A7-8C07-655D90B32B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r="-4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2FCB38-9DCE-2EC4-E324-7F1CB5B15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389777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10D2B-F235-E8B0-8512-7E9E85B69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Hardware-</a:t>
            </a:r>
            <a:r>
              <a:rPr lang="en-US" b="0" dirty="0" err="1"/>
              <a:t>Impared</a:t>
            </a:r>
            <a:r>
              <a:rPr lang="en-US" b="0" dirty="0"/>
              <a:t> Optimization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B340E7-9367-E106-A2A1-1A9DAA9B01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Impairment-Aware SINR, DPSL, and Fairness-Profile Reformulation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0000FF"/>
                    </a:solidFill>
                  </a:rPr>
                  <a:t>Convex Problem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dirty="0">
                  <a:solidFill>
                    <a:srgbClr val="0000FF"/>
                  </a:solidFill>
                </a:endParaRP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: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find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,….,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,….,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subject to:</a:t>
                </a: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begChr m:val="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hr m:val="∑"/>
                                <m:grow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nary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𝐃</m:t>
                            </m:r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r>
                      <a:rPr lang="ar-AE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func>
                              <m:func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tr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>
                                            <a:latin typeface="Cambria Math" panose="02040503050406030204" pitchFamily="18" charset="0"/>
                                          </a:rPr>
                                          <m:t>𝚲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nary>
                                      <m:naryPr>
                                        <m:chr m:val="∑"/>
                                        <m:grow m:val="on"/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naryPr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=</m:t>
                                        </m:r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  <m:sup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p>
                                      <m:e>
                                        <m:sSub>
                                          <m:sSubPr>
                                            <m:ctrlP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ar-AE" b="1">
                                                <a:latin typeface="Cambria Math" panose="02040503050406030204" pitchFamily="18" charset="0"/>
                                              </a:rPr>
                                              <m:t>𝐒</m:t>
                                            </m:r>
                                          </m:e>
                                          <m:sub>
                                            <m: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</m:e>
                                    </m:nary>
                                  </m:e>
                                </m:d>
                              </m:e>
                            </m:func>
                          </m:e>
                        </m:rad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Expanded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SINR Constraint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r>
                          <a:rPr lang="ar-AE" b="1">
                            <a:latin typeface="Cambria Math" panose="02040503050406030204" pitchFamily="18" charset="0"/>
                          </a:rPr>
                          <m:t>𝐃</m:t>
                        </m:r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Equivalent:</a:t>
                </a: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 b="1">
                        <a:latin typeface="Cambria Math" panose="02040503050406030204" pitchFamily="18" charset="0"/>
                      </a:rPr>
                      <m:t>𝐃</m:t>
                    </m:r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b="0" dirty="0"/>
              </a:p>
              <a:p>
                <a:pPr lvl="1"/>
                <a:endParaRPr lang="ar-AE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B340E7-9367-E106-A2A1-1A9DAA9B01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88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823666-2A02-288F-A16F-5A0644983F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451140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B0E13-3157-D2C7-68F2-EB3F55E34C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Hardware-</a:t>
            </a:r>
            <a:r>
              <a:rPr lang="en-US" b="0" dirty="0" err="1"/>
              <a:t>Impared</a:t>
            </a:r>
            <a:r>
              <a:rPr lang="en-US" b="0" dirty="0"/>
              <a:t> Optimization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7F036F-9BB5-6AA6-DE37-EFE679D3B4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Impairment-Aware SINR, DPSL, and Fairness-Profile Reformulation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Expanded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DPSL Constraint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 b="1">
                            <a:latin typeface="Cambria Math" panose="02040503050406030204" pitchFamily="18" charset="0"/>
                          </a:rPr>
                          <m:t>𝐃</m:t>
                        </m:r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 b="1">
                            <a:latin typeface="Cambria Math" panose="02040503050406030204" pitchFamily="18" charset="0"/>
                          </a:rPr>
                          <m:t>𝐃</m:t>
                        </m:r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Expand: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𝐃𝐚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𝐃𝐚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Why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is Convex</a:t>
                </a:r>
              </a:p>
              <a:p>
                <a:pPr lvl="2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dirty="0"/>
                  <a:t> is monotonic increasing and convex, then: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func>
                              <m:func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tr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>
                                            <a:latin typeface="Cambria Math" panose="02040503050406030204" pitchFamily="18" charset="0"/>
                                          </a:rPr>
                                          <m:t>𝚲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nary>
                                      <m:naryPr>
                                        <m:chr m:val="∑"/>
                                        <m:grow m:val="on"/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naryPr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=</m:t>
                                        </m:r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  <m:sup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p>
                                      <m:e>
                                        <m:sSub>
                                          <m:sSubPr>
                                            <m:ctrlP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ar-AE" b="1">
                                                <a:latin typeface="Cambria Math" panose="02040503050406030204" pitchFamily="18" charset="0"/>
                                              </a:rPr>
                                              <m:t>𝐒</m:t>
                                            </m:r>
                                          </m:e>
                                          <m:sub>
                                            <m: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</m:e>
                                    </m:nary>
                                  </m:e>
                                </m:d>
                              </m:e>
                            </m:func>
                          </m:e>
                        </m:rad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is convex.</a:t>
                </a:r>
              </a:p>
              <a:p>
                <a:pPr lvl="2"/>
                <a:r>
                  <a:rPr lang="en-US" dirty="0"/>
                  <a:t>Also: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is a convex QCQP and can be reduced to SDP.</a:t>
                </a:r>
              </a:p>
              <a:p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7F036F-9BB5-6AA6-DE37-EFE679D3B4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BB75D0-D595-5E58-EC9E-B1FA86DFF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155769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AD664-889A-056F-D85F-225DB7378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Hardware-</a:t>
            </a:r>
            <a:r>
              <a:rPr lang="en-US" b="0" dirty="0" err="1"/>
              <a:t>Impared</a:t>
            </a:r>
            <a:r>
              <a:rPr lang="en-US" b="0" dirty="0"/>
              <a:t> Optimization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A7F93C-6967-C114-447B-35451D93884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Complexity</a:t>
                </a:r>
              </a:p>
              <a:p>
                <a:pPr lvl="1"/>
                <a:r>
                  <a:rPr lang="en-US" dirty="0"/>
                  <a:t>The problem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has polynomial complexity in: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and the bisection iteration number:</a:t>
                </a:r>
              </a:p>
              <a:p>
                <a:pPr lvl="2"/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𝑚𝑎𝑥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m:rPr>
                                        <m:sty m:val="p"/>
                                      </m:rPr>
                                      <a:rPr lang="el-GR">
                                        <a:latin typeface="Cambria Math" panose="02040503050406030204" pitchFamily="18" charset="0"/>
                                      </a:rPr>
                                      <m:t>Δ</m:t>
                                    </m:r>
                                  </m:den>
                                </m:f>
                              </m:e>
                            </m:d>
                          </m:e>
                        </m:fun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Thus: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can be solved with polynomial worst-case complexity.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A7F93C-6967-C114-447B-35451D9388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543BDB-BDF9-D09C-3785-E84E35B43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726861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6C942-078D-4813-ED15-91C4E7EFE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Hardware-</a:t>
            </a:r>
            <a:r>
              <a:rPr lang="en-US" b="0" dirty="0" err="1"/>
              <a:t>Impared</a:t>
            </a:r>
            <a:r>
              <a:rPr lang="en-US" b="0" dirty="0"/>
              <a:t> Optimization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622810-27F3-D4F9-5FF2-ED0476F375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Final Summary</a:t>
                </a:r>
              </a:p>
              <a:p>
                <a:pPr lvl="1"/>
                <a:r>
                  <a:rPr lang="en-US" dirty="0"/>
                  <a:t>Ideal case:</a:t>
                </a:r>
              </a:p>
              <a:p>
                <a:pPr lvl="2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Hardware-impaired case:</a:t>
                </a:r>
              </a:p>
              <a:p>
                <a:pPr lvl="2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p>
                        <m:d>
                          <m:d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Main changes: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→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→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a:rPr lang="ar-AE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sty m:val="p"/>
                      </m:rPr>
                      <a:rPr lang="ar-AE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ar-AE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sty m:val="p"/>
                      </m:rPr>
                      <a:rPr lang="ar-AE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sty m:val="p"/>
                      </m:rPr>
                      <a:rPr lang="ar-AE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Final message: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The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/>
                      <m:t>DFRC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Pareto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optimization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framework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extended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to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practical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hardware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impaired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transmitters</m:t>
                    </m:r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622810-27F3-D4F9-5FF2-ED0476F375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02B23C-D7AC-D1F4-5BA4-D5C06E618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184306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F3A26-9360-C418-567F-25CE77FAF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44FCA6-7EFB-87C3-4AEC-F490914CDED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Similarity-Based Benchmark Schemes for DFRC Beamforming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Covariance Similarity [21] vs. Waveform Similarity [22]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Why Benchmark Schemes Are Needed</a:t>
                </a:r>
              </a:p>
              <a:p>
                <a:pPr lvl="2"/>
                <a:r>
                  <a:rPr lang="en-US" dirty="0">
                    <a:solidFill>
                      <a:srgbClr val="0070C0"/>
                    </a:solidFill>
                  </a:rPr>
                  <a:t>Benchmark Motivation</a:t>
                </a:r>
              </a:p>
              <a:p>
                <a:pPr lvl="2"/>
                <a:r>
                  <a:rPr lang="en-US" dirty="0"/>
                  <a:t>The proposed Pareto method directly maximizes the radar DPSL: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d>
                          <m:dPr>
                            <m:begChr m:val="{"/>
                            <m:endChr m:val="}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lim>
                    </m:limLow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func>
                      </m:e>
                      <m:lim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lim>
                    </m:limLow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where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To compare with existing DFRC designs, we use similarity-based schemes: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Keep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the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joint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communication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radar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signal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close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to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radar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only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reference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The radar-only covariance is obtained first:</a:t>
                </a:r>
              </a:p>
              <a:p>
                <a:pPr lvl="4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arg</m:t>
                        </m:r>
                      </m:fName>
                      <m:e>
                        <m:limLow>
                          <m:limLow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lim>
                        </m:limLow>
                      </m:e>
                    </m:func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lim>
                    </m:limLow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𝐂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ar-AE" b="0" dirty="0"/>
              </a:p>
              <a:p>
                <a:pPr lvl="4"/>
                <a:r>
                  <a:rPr lang="en-US" dirty="0"/>
                  <a:t>where</a:t>
                </a:r>
              </a:p>
              <a:p>
                <a:pPr lvl="5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44FCA6-7EFB-87C3-4AEC-F490914CDE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1E7A61-9EFE-29DA-99E8-2C851FADC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280226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6D043-F2C2-2E48-3AB9-590C28754F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29C110-4ED3-5A87-4CDC-3404231359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Paper [21]: Covariance-Similarity Scheme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Paper [21] Benchmark: Covariance Matching</a:t>
                </a:r>
              </a:p>
              <a:p>
                <a:pPr lvl="2"/>
                <a:r>
                  <a:rPr lang="en-US" dirty="0"/>
                  <a:t>Paper [21] designs communication covariance matrices:</a:t>
                </a:r>
              </a:p>
              <a:p>
                <a:pPr lvl="3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,….,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 total joint transmit covariance 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sum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 goal is to keep this joint covariance close to the radar-only covariance:</a:t>
                </a:r>
              </a:p>
              <a:p>
                <a:pPr lvl="3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d>
                          <m:dPr>
                            <m:begChr m:val="{"/>
                            <m:endChr m:val="}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lim>
                    </m:limLow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begChr m:val=""/>
                            <m:endChr m:val="∥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  <m:sup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bSup>
                          </m:e>
                        </m:d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subject to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diag</m:t>
                        </m:r>
                      </m:fName>
                      <m:e>
                        <m:d>
                          <m:dPr>
                            <m:begChr m:val="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hr m:val="∑"/>
                                <m:grow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r>
                      <a:rPr lang="ar-AE" b="1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endParaRPr lang="ar-AE" b="1" dirty="0"/>
              </a:p>
              <a:p>
                <a:pPr lvl="3"/>
                <a:r>
                  <a:rPr lang="en-US" dirty="0"/>
                  <a:t>and communication SINR constraints: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29C110-4ED3-5A87-4CDC-3404231359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DB126A-38F3-7425-6ABE-CE0591B55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547030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35BA9-1606-7360-1F0C-C85186A0B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Reproduction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8E701D-2606-43EA-A7DB-F7CA5863C7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Expanding the SINR Constraint in Paper [21]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SINR Constraint for Covariance-Similarity Scheme</a:t>
                </a:r>
              </a:p>
              <a:p>
                <a:pPr lvl="2"/>
                <a:r>
                  <a:rPr lang="en-US" dirty="0"/>
                  <a:t>For CU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, the received SINR 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 constraint 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Substitute the SINR expression:</a:t>
                </a:r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Equivalent linear form: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or</a:t>
                </a:r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b="1" dirty="0"/>
              </a:p>
              <a:p>
                <a:r>
                  <a:rPr lang="en-US" dirty="0"/>
                  <a:t>This is why the covariance-similarity benchmark can be solved by convex optimization.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8E701D-2606-43EA-A7DB-F7CA5863C7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1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4F905-6F4B-9E86-C884-EB10CC161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922116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87DFD-A44E-4FC6-D1BF-35BBCD044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5A90C3-973B-EDF5-1687-2848EEE75B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Paper [21] Radar Performance Evaluation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DPSL Evaluation After Solving Paper [21]</a:t>
                </a:r>
              </a:p>
              <a:p>
                <a:pPr lvl="2"/>
                <a:r>
                  <a:rPr lang="en-US" dirty="0"/>
                  <a:t>After obtaining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bSup>
                          </m:e>
                        </m:d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b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 joint covariance is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sum</m:t>
                        </m:r>
                      </m:sub>
                      <m:sup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nary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 radar probing power at angle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sum</m:t>
                        </m:r>
                      </m:sub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The DPSL at sidelobe angle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US" dirty="0"/>
                  <a:t>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Expanded: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sum</m:t>
                        </m:r>
                      </m:sub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sum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⋆</m:t>
                        </m:r>
                      </m:sup>
                    </m:sSubSup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Final plotted metric: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lim>
                    </m:limLow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and in dB scale: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dB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10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log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min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5A90C3-973B-EDF5-1687-2848EEE75B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517E5E-E134-6A17-0ECA-CB91A7BFB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6464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E11CE-7174-9F57-59FD-44B300BAB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Reproduction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B0B369-873F-D999-7F2A-FEC0B6CBB4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Paper [22]: Waveform-Similarity Scheme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Paper [22] Benchmark: Waveform Matching</a:t>
                </a:r>
              </a:p>
              <a:p>
                <a:pPr lvl="1"/>
                <a:r>
                  <a:rPr lang="en-US" dirty="0"/>
                  <a:t>Paper [22] designs the transmit waveform matrix: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𝐗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ℂ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</m:sSup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where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number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of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transmit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antennas</m:t>
                    </m:r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number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of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waveform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snapshots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The received communication signal is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𝐘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𝐇𝐗</m:t>
                    </m:r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𝐖</m:t>
                    </m:r>
                  </m:oMath>
                </a14:m>
                <a:endParaRPr lang="en-US" b="1" dirty="0"/>
              </a:p>
              <a:p>
                <a:pPr lvl="1"/>
                <a:r>
                  <a:rPr lang="en-US" dirty="0"/>
                  <a:t>The desired symbol matrix is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ℂ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</m:sSup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The multi-user interference is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𝐇𝐗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𝐒</m:t>
                    </m:r>
                  </m:oMath>
                </a14:m>
                <a:endParaRPr lang="en-US" b="1" dirty="0"/>
              </a:p>
              <a:p>
                <a:pPr lvl="1"/>
                <a:r>
                  <a:rPr lang="en-US" dirty="0"/>
                  <a:t>and the MUI energy is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∥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𝐇𝐗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𝐒</m:t>
                    </m:r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b="1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B0B369-873F-D999-7F2A-FEC0B6CBB4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00F67F-6AB7-FFCC-E9A2-C38D541C9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380977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33D1E-D558-F302-BC2A-EBF45019F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Reproduction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998FDEA-8649-45D6-144C-1BCB70D6D03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Paper [22] Waveform Similarity Objective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Weighted Communication-Radar Waveform Design</a:t>
                </a:r>
              </a:p>
              <a:p>
                <a:pPr lvl="1"/>
                <a:r>
                  <a:rPr lang="en-US" dirty="0"/>
                  <a:t>Paper [22] uses a weighted objective: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r>
                          <a:rPr lang="ar-AE" b="1">
                            <a:latin typeface="Cambria Math" panose="02040503050406030204" pitchFamily="18" charset="0"/>
                          </a:rPr>
                          <m:t>𝐗</m:t>
                        </m:r>
                      </m:lim>
                    </m:limLow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𝜌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∥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𝐇𝐗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𝐒</m:t>
                    </m:r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∥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𝐗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subject to the power constraint: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∥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𝐗</m:t>
                    </m:r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𝐿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Here,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controls the communication-radar tradeoff.</a:t>
                </a:r>
              </a:p>
              <a:p>
                <a:pPr lvl="3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then the design emphasizes communication MUI minimization: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∥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𝐇𝐗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𝐒</m:t>
                    </m:r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b="1" dirty="0"/>
              </a:p>
              <a:p>
                <a:pPr lvl="3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then the design emphasizes radar waveform similarity:</a:t>
                </a:r>
              </a:p>
              <a:p>
                <a:pPr lvl="4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∥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𝐗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For our comparison, we use a balanced radar-dominant value:</a:t>
                </a:r>
              </a:p>
              <a:p>
                <a:pPr lvl="4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05</m:t>
                    </m:r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/>
                      <m:t>or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b="0" dirty="0"/>
              </a:p>
              <a:p>
                <a:pPr lvl="4"/>
                <a:r>
                  <a:rPr lang="en-US" dirty="0"/>
                  <a:t>depending on stability.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998FDEA-8649-45D6-144C-1BCB70D6D0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47D9C3-995B-85FF-9767-150E60C3B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058284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86AB3-69DB-BAF6-4B95-AC4AA64F9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Reproduction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11298C-09BC-3301-DC1D-D3B356FE19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Constructing the Radar Reference Waveform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b>
                        <m:r>
                          <a:rPr lang="ar-AE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1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From Radar-Only Covariance to Reference Waveform</a:t>
                </a:r>
              </a:p>
              <a:p>
                <a:pPr lvl="2"/>
                <a:r>
                  <a:rPr lang="en-US" dirty="0"/>
                  <a:t>Radar-only covariance: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We need a waveform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such that</a:t>
                </a:r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Use eigenvalue decomposition: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𝐔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𝚲</m:t>
                    </m:r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𝐔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Then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  <m:sup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bSup>
                          </m:e>
                        </m:d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𝐔</m:t>
                    </m:r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𝚲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𝐔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Construct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rad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  <m:sup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bSup>
                          </m:e>
                        </m:d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 b="1">
                        <a:latin typeface="Cambria Math" panose="02040503050406030204" pitchFamily="18" charset="0"/>
                      </a:rPr>
                      <m:t>𝐐</m:t>
                    </m:r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where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𝐐</m:t>
                    </m:r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Then</a:t>
                </a:r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This ensures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has the same radar covariance as the radar-only solution.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11298C-09BC-3301-DC1D-D3B356FE19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9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EB693E-3A42-D2F0-3742-0634DC4EF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957645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565F8-6A7B-09C9-5F76-4A55612C3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Reproduction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97FBDE-26CE-5F7E-2E2B-0BAE28F002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Solving Paper [22] Waveform Problem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Compact Least-Squares Form</a:t>
                </a:r>
              </a:p>
              <a:p>
                <a:pPr lvl="1"/>
                <a:r>
                  <a:rPr lang="en-US" dirty="0"/>
                  <a:t>The objective is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∥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𝐇𝐗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𝐒</m:t>
                    </m:r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∥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𝐗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This can be rewritten as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r>
                          <a:rPr lang="ar-AE" b="1">
                            <a:latin typeface="Cambria Math" panose="02040503050406030204" pitchFamily="18" charset="0"/>
                          </a:rPr>
                          <m:t>𝐗</m:t>
                        </m:r>
                      </m:lim>
                    </m:limLow>
                    <m:r>
                      <a:rPr lang="ar-AE">
                        <a:latin typeface="Cambria Math" panose="02040503050406030204" pitchFamily="18" charset="0"/>
                      </a:rPr>
                      <m:t>∥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𝐀𝐗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𝐁</m:t>
                    </m:r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b="1" dirty="0"/>
              </a:p>
              <a:p>
                <a:pPr lvl="1"/>
                <a:r>
                  <a:rPr lang="en-US" dirty="0"/>
                  <a:t>where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𝐀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ad>
                                <m:radPr>
                                  <m:degHide m:val="on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</m:rad>
                              <m:r>
                                <a:rPr lang="ar-AE" b="1">
                                  <a:latin typeface="Cambria Math" panose="02040503050406030204" pitchFamily="18" charset="0"/>
                                </a:rPr>
                                <m:t>𝐇</m:t>
                              </m:r>
                            </m:e>
                          </m:mr>
                          <m:mr>
                            <m:e>
                              <m:rad>
                                <m:radPr>
                                  <m:degHide m:val="on"/>
                                  <m:ctrlPr>
                                    <a:rPr lang="ar-AE" b="1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</m:rad>
                              <m:sSub>
                                <m:sSubPr>
                                  <m:ctrlPr>
                                    <a:rPr lang="ar-AE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b="1">
                                      <a:latin typeface="Cambria Math" panose="02040503050406030204" pitchFamily="18" charset="0"/>
                                    </a:rPr>
                                    <m:t>𝐈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𝐁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ad>
                                <m:radPr>
                                  <m:degHide m:val="on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</m:rad>
                              <m:r>
                                <a:rPr lang="ar-AE" b="1">
                                  <a:latin typeface="Cambria Math" panose="02040503050406030204" pitchFamily="18" charset="0"/>
                                </a:rPr>
                                <m:t>𝐒</m:t>
                              </m:r>
                            </m:e>
                          </m:mr>
                          <m:mr>
                            <m:e>
                              <m:rad>
                                <m:radPr>
                                  <m:degHide m:val="on"/>
                                  <m:ctrlPr>
                                    <a:rPr lang="ar-AE" b="1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</m:rad>
                              <m:sSub>
                                <m:sSubPr>
                                  <m:ctrlPr>
                                    <a:rPr lang="ar-AE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b="1"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The power constraint is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∥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𝐗</m:t>
                    </m:r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𝐿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Using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𝐐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r>
                      <a:rPr lang="ar-AE" b="1">
                        <a:latin typeface="Cambria Math" panose="02040503050406030204" pitchFamily="18" charset="0"/>
                      </a:rPr>
                      <m:t>𝐀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 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and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𝐆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r>
                      <a:rPr lang="ar-AE" b="1">
                        <a:latin typeface="Cambria Math" panose="02040503050406030204" pitchFamily="18" charset="0"/>
                      </a:rPr>
                      <m:t>𝐁</m:t>
                    </m:r>
                  </m:oMath>
                </a14:m>
                <a:endParaRPr lang="ar-AE" b="1" dirty="0"/>
              </a:p>
              <a:p>
                <a:pPr lvl="1"/>
                <a:r>
                  <a:rPr lang="en-US" dirty="0"/>
                  <a:t>the solution has the form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p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𝐐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𝐈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†</m:t>
                        </m:r>
                      </m:sup>
                    </m:sSup>
                    <m:r>
                      <a:rPr lang="ar-AE" b="1">
                        <a:latin typeface="Cambria Math" panose="02040503050406030204" pitchFamily="18" charset="0"/>
                      </a:rPr>
                      <m:t>𝐆</m:t>
                    </m:r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is chosen such that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∥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𝐿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97FBDE-26CE-5F7E-2E2B-0BAE28F002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60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2223-EFFB-C44A-47AF-D9B5387F9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1" y="6356350"/>
            <a:ext cx="311092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89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4574345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1F207-5FDC-04FB-3470-196731DEB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Reproduction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76C6BA-39B6-7311-8E67-3D5E9872FA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Paper [22] Radar Evaluation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Converting Waveform to Covariance</a:t>
                </a:r>
              </a:p>
              <a:p>
                <a:pPr lvl="2"/>
                <a:r>
                  <a:rPr lang="en-US" dirty="0"/>
                  <a:t>After solving Paper [22], we obtain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The waveform covariance 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𝐗</m:t>
                                </m:r>
                              </m:e>
                              <m:sup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Then the probing power 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The DPSL at sidelobe angle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US" dirty="0"/>
                  <a:t>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The plotted metric 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lim>
                    </m:limLow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dB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10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min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76C6BA-39B6-7311-8E67-3D5E9872FA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30B9AC-63B8-EE6A-EEB6-3E6FF4CFF3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90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971117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2F9009F-D5A7-10CF-0CF9-60584949A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/>
          <a:lstStyle/>
          <a:p>
            <a:r>
              <a:rPr lang="en-US" dirty="0"/>
              <a:t>Reproduction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8914C86-45B4-C100-4077-B60416E9F1FA}"/>
                  </a:ext>
                </a:extLst>
              </p:cNvPr>
              <p:cNvSpPr txBox="1"/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0000F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Mathematical Difference Between P21       and P22</a:t>
                </a:r>
              </a:p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7030A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Covariance Similarity vs. Waveform    Similarity</a:t>
                </a:r>
              </a:p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Paper [21]:</a:t>
                </a:r>
              </a:p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limLow>
                      <m:limLow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d>
                          <m:dPr>
                            <m:begChr m:val="{"/>
                            <m:endChr m:val="}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0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sz="2000" b="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lim>
                    </m:limLow>
                    <m:sSubSup>
                      <m:sSubSupPr>
                        <m:ctrlPr>
                          <a:rPr lang="en-US" sz="2000" b="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b="0" i="0">
                            <a:latin typeface="Cambria Math" panose="02040503050406030204" pitchFamily="18" charset="0"/>
                          </a:rPr>
                          <m:t>∥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en-US" sz="2000" b="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2000" b="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000" b="0" i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000" b="0" i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2000" b="0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sz="2000" b="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0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sz="2000" b="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r>
                          <a:rPr lang="en-US" sz="2000" b="0" i="0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begChr m:val=""/>
                            <m:endChr m:val="∥"/>
                            <m:ctrlPr>
                              <a:rPr lang="en-US" sz="2000" b="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sz="2000" b="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000" b="1" i="0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sz="2000" b="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  <m:sup>
                                <m:r>
                                  <a:rPr lang="en-US" sz="2000" b="0" i="0" smtClean="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bSup>
                          </m:e>
                        </m:d>
                      </m:e>
                      <m:sub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>
                        <m:r>
                          <a:rPr lang="en-US" sz="2000" b="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sz="20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Paper [22]:</a:t>
                </a:r>
              </a:p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limLow>
                      <m:limLow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r>
                          <a:rPr lang="en-US" sz="2000" b="1" i="0">
                            <a:latin typeface="Cambria Math" panose="02040503050406030204" pitchFamily="18" charset="0"/>
                          </a:rPr>
                          <m:t>𝐗</m:t>
                        </m:r>
                      </m:lim>
                    </m:limLow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0" i="1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000" b="0" i="0">
                        <a:latin typeface="Cambria Math" panose="02040503050406030204" pitchFamily="18" charset="0"/>
                      </a:rPr>
                      <m:t>∥</m:t>
                    </m:r>
                    <m:r>
                      <a:rPr lang="en-US" sz="2000" b="1" i="0">
                        <a:latin typeface="Cambria Math" panose="02040503050406030204" pitchFamily="18" charset="0"/>
                      </a:rPr>
                      <m:t>𝐇𝐗</m:t>
                    </m:r>
                    <m:r>
                      <a:rPr lang="en-US" sz="2000" b="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 b="1" i="0">
                        <a:latin typeface="Cambria Math" panose="02040503050406030204" pitchFamily="18" charset="0"/>
                      </a:rPr>
                      <m:t>𝐒</m:t>
                    </m:r>
                    <m:sSubSup>
                      <m:sSubSupPr>
                        <m:ctrlPr>
                          <a:rPr lang="en-US" sz="2000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b="0" i="0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b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>
                        <m:r>
                          <a:rPr lang="en-US" sz="2000" b="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2000" b="0" i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20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</m:d>
                    <m:r>
                      <a:rPr lang="en-US" sz="2000" b="0" i="0">
                        <a:latin typeface="Cambria Math" panose="02040503050406030204" pitchFamily="18" charset="0"/>
                      </a:rPr>
                      <m:t>∥</m:t>
                    </m:r>
                    <m:r>
                      <a:rPr lang="en-US" sz="2000" b="1" i="0">
                        <a:latin typeface="Cambria Math" panose="02040503050406030204" pitchFamily="18" charset="0"/>
                      </a:rPr>
                      <m:t>𝐗</m:t>
                    </m:r>
                    <m:r>
                      <a:rPr lang="en-US" sz="2000" b="0" i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000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b>
                        <m:r>
                          <a:rPr lang="en-US" sz="2000" b="0" i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Sup>
                      <m:sSubSupPr>
                        <m:ctrlPr>
                          <a:rPr lang="en-US" sz="2000" b="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b="0" i="0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b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>
                        <m:r>
                          <a:rPr lang="en-US" sz="2000" b="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sz="20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8914C86-45B4-C100-4077-B60416E9F1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  <a:blipFill>
                <a:blip r:embed="rId2"/>
                <a:stretch>
                  <a:fillRect l="-1075" t="-1348" r="-34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5AD8AD-E0C9-65AA-ACED-C2E6514D6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91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CB2F3AA4-FB7D-C4EB-40B3-F355C48725D3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1823458165"/>
                  </p:ext>
                </p:extLst>
              </p:nvPr>
            </p:nvGraphicFramePr>
            <p:xfrm>
              <a:off x="5880683" y="1649691"/>
              <a:ext cx="5375442" cy="4503635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tx1">
                        <a:lumMod val="65000"/>
                        <a:lumOff val="35000"/>
                      </a:schemeClr>
                    </a:solidFill>
                  </a:tblPr>
                  <a:tblGrid>
                    <a:gridCol w="2058000">
                      <a:extLst>
                        <a:ext uri="{9D8B030D-6E8A-4147-A177-3AD203B41FA5}">
                          <a16:colId xmlns:a16="http://schemas.microsoft.com/office/drawing/2014/main" val="206343307"/>
                        </a:ext>
                      </a:extLst>
                    </a:gridCol>
                    <a:gridCol w="1597878">
                      <a:extLst>
                        <a:ext uri="{9D8B030D-6E8A-4147-A177-3AD203B41FA5}">
                          <a16:colId xmlns:a16="http://schemas.microsoft.com/office/drawing/2014/main" val="3556240765"/>
                        </a:ext>
                      </a:extLst>
                    </a:gridCol>
                    <a:gridCol w="1719564">
                      <a:extLst>
                        <a:ext uri="{9D8B030D-6E8A-4147-A177-3AD203B41FA5}">
                          <a16:colId xmlns:a16="http://schemas.microsoft.com/office/drawing/2014/main" val="3280975148"/>
                        </a:ext>
                      </a:extLst>
                    </a:gridCol>
                  </a:tblGrid>
                  <a:tr h="54570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 b="1" cap="all" spc="60">
                              <a:solidFill>
                                <a:schemeClr val="tx1"/>
                              </a:solidFill>
                            </a:rPr>
                            <a:t>Item</a:t>
                          </a:r>
                        </a:p>
                      </a:txBody>
                      <a:tcPr marL="152381" marR="152381" marT="152381" marB="152381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 b="1" cap="all" spc="60" dirty="0">
                              <a:solidFill>
                                <a:schemeClr val="tx1"/>
                              </a:solidFill>
                            </a:rPr>
                            <a:t>Paper [21]</a:t>
                          </a:r>
                        </a:p>
                      </a:txBody>
                      <a:tcPr marL="152381" marR="152381" marT="152381" marB="152381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 b="1" cap="all" spc="60">
                              <a:solidFill>
                                <a:schemeClr val="tx1"/>
                              </a:solidFill>
                            </a:rPr>
                            <a:t>Paper [22]</a:t>
                          </a:r>
                        </a:p>
                      </a:txBody>
                      <a:tcPr marL="152381" marR="152381" marT="152381" marB="152381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55165456"/>
                      </a:ext>
                    </a:extLst>
                  </a:tr>
                  <a:tr h="46149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Design variable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ar-AE" sz="18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sz="1800" b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ar-AE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ar-AE" sz="1800" cap="none" spc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 b="1" cap="none" spc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𝐗</m:t>
                                </m:r>
                              </m:oMath>
                            </m:oMathPara>
                          </a14:m>
                          <a:endParaRPr lang="en-US" sz="1800" cap="none" spc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63309071"/>
                      </a:ext>
                    </a:extLst>
                  </a:tr>
                  <a:tr h="73097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Domain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bg1"/>
                              </a:solidFill>
                            </a:rPr>
                            <a:t>Covariance   domain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bg1"/>
                              </a:solidFill>
                            </a:rPr>
                            <a:t>Waveform     domain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5778189"/>
                      </a:ext>
                    </a:extLst>
                  </a:tr>
                  <a:tr h="46149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Radar reference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ar-AE" sz="18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ar-AE" sz="1800" b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ar-AE" sz="1800" b="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  <m:sup>
                                    <m:r>
                                      <a:rPr lang="ar-AE" sz="1800" b="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⋆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ar-AE" sz="1800" cap="none" spc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ar-AE" sz="18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sz="1800" b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𝐗</m:t>
                                    </m:r>
                                  </m:e>
                                  <m:sub>
                                    <m:r>
                                      <a:rPr lang="ar-AE" sz="1800" b="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ar-AE" sz="1800" cap="none" spc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07269331"/>
                      </a:ext>
                    </a:extLst>
                  </a:tr>
                  <a:tr h="73097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Objective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bg1"/>
                              </a:solidFill>
                            </a:rPr>
                            <a:t>Match         covariance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bg1"/>
                              </a:solidFill>
                            </a:rPr>
                            <a:t>Match          waveform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39120727"/>
                      </a:ext>
                    </a:extLst>
                  </a:tr>
                  <a:tr h="73097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bg1"/>
                              </a:solidFill>
                            </a:rPr>
                            <a:t>Communication  control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bg1"/>
                              </a:solidFill>
                            </a:rPr>
                            <a:t>SINR          constraint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bg1"/>
                              </a:solidFill>
                            </a:rPr>
                            <a:t>MUI                minimization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32498520"/>
                      </a:ext>
                    </a:extLst>
                  </a:tr>
                  <a:tr h="84200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bg1"/>
                              </a:solidFill>
                            </a:rPr>
                            <a:t>Radar               evaluation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DPSL from </a:t>
                          </a:r>
                          <a14:m>
                            <m:oMath xmlns:m="http://schemas.openxmlformats.org/officeDocument/2006/math">
                              <m:nary>
                                <m:naryPr>
                                  <m:chr m:val="∑"/>
                                  <m:limLoc m:val="subSup"/>
                                  <m:grow m:val="on"/>
                                  <m:supHide m:val="on"/>
                                  <m:ctrlPr>
                                    <a:rPr lang="ar-AE" sz="1800" i="1" cap="none" spc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ar-AE" sz="1800" i="1" cap="none" spc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/>
                                <m:e>
                                  <m:sSub>
                                    <m:sSubPr>
                                      <m:ctrlPr>
                                        <a:rPr lang="ar-AE" sz="1800" i="1" cap="none" spc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sz="1800" b="1" i="0" cap="none" spc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𝐒</m:t>
                                      </m:r>
                                    </m:e>
                                    <m:sub>
                                      <m:r>
                                        <a:rPr lang="ar-AE" sz="1800" b="0" i="1" cap="none" spc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nary>
                            </m:oMath>
                          </a14:m>
                          <a:endParaRPr lang="ar-AE" sz="1800" cap="none" spc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bg1"/>
                              </a:solidFill>
                            </a:rPr>
                            <a:t>DPSL from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ar-AE" sz="1800" i="1" cap="none" spc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ar-AE" sz="1800" cap="none" spc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ar-AE" sz="1800" i="1" cap="none" spc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ar-AE" sz="1800" b="1" i="0" cap="none" spc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  <m:sSup>
                                <m:sSupPr>
                                  <m:ctrlPr>
                                    <a:rPr lang="ar-AE" sz="1800" b="1" i="1" cap="none" spc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ar-AE" sz="1800" b="1" i="0" cap="none" spc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</m:e>
                                <m:sup>
                                  <m:r>
                                    <a:rPr lang="ar-AE" sz="1800" b="0" i="1" cap="none" spc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sup>
                              </m:sSup>
                            </m:oMath>
                          </a14:m>
                          <a:endParaRPr lang="ar-AE" sz="1800" cap="none" spc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73471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CB2F3AA4-FB7D-C4EB-40B3-F355C48725D3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1823458165"/>
                  </p:ext>
                </p:extLst>
              </p:nvPr>
            </p:nvGraphicFramePr>
            <p:xfrm>
              <a:off x="5880683" y="1649691"/>
              <a:ext cx="5375442" cy="4503635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tx1">
                        <a:lumMod val="65000"/>
                        <a:lumOff val="35000"/>
                      </a:schemeClr>
                    </a:solidFill>
                  </a:tblPr>
                  <a:tblGrid>
                    <a:gridCol w="2058000">
                      <a:extLst>
                        <a:ext uri="{9D8B030D-6E8A-4147-A177-3AD203B41FA5}">
                          <a16:colId xmlns:a16="http://schemas.microsoft.com/office/drawing/2014/main" val="206343307"/>
                        </a:ext>
                      </a:extLst>
                    </a:gridCol>
                    <a:gridCol w="1597878">
                      <a:extLst>
                        <a:ext uri="{9D8B030D-6E8A-4147-A177-3AD203B41FA5}">
                          <a16:colId xmlns:a16="http://schemas.microsoft.com/office/drawing/2014/main" val="3556240765"/>
                        </a:ext>
                      </a:extLst>
                    </a:gridCol>
                    <a:gridCol w="1719564">
                      <a:extLst>
                        <a:ext uri="{9D8B030D-6E8A-4147-A177-3AD203B41FA5}">
                          <a16:colId xmlns:a16="http://schemas.microsoft.com/office/drawing/2014/main" val="3280975148"/>
                        </a:ext>
                      </a:extLst>
                    </a:gridCol>
                  </a:tblGrid>
                  <a:tr h="54570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 b="1" cap="all" spc="60">
                              <a:solidFill>
                                <a:schemeClr val="tx1"/>
                              </a:solidFill>
                            </a:rPr>
                            <a:t>Item</a:t>
                          </a:r>
                        </a:p>
                      </a:txBody>
                      <a:tcPr marL="152381" marR="152381" marT="152381" marB="152381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 b="1" cap="all" spc="60" dirty="0">
                              <a:solidFill>
                                <a:schemeClr val="tx1"/>
                              </a:solidFill>
                            </a:rPr>
                            <a:t>Paper [21]</a:t>
                          </a:r>
                        </a:p>
                      </a:txBody>
                      <a:tcPr marL="152381" marR="152381" marT="152381" marB="152381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 b="1" cap="all" spc="60">
                              <a:solidFill>
                                <a:schemeClr val="tx1"/>
                              </a:solidFill>
                            </a:rPr>
                            <a:t>Paper [22]</a:t>
                          </a:r>
                        </a:p>
                      </a:txBody>
                      <a:tcPr marL="152381" marR="152381" marT="152381" marB="152381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55165456"/>
                      </a:ext>
                    </a:extLst>
                  </a:tr>
                  <a:tr h="46149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Design variable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128517" t="-120000" r="-107224" b="-890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213121" t="-120000" b="-890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63309071"/>
                      </a:ext>
                    </a:extLst>
                  </a:tr>
                  <a:tr h="73097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Domain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bg1"/>
                              </a:solidFill>
                            </a:rPr>
                            <a:t>Covariance   domain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bg1"/>
                              </a:solidFill>
                            </a:rPr>
                            <a:t>Waveform     domain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5778189"/>
                      </a:ext>
                    </a:extLst>
                  </a:tr>
                  <a:tr h="46149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Radar reference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128517" t="-381333" r="-107224" b="-629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213121" t="-381333" b="-629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07269331"/>
                      </a:ext>
                    </a:extLst>
                  </a:tr>
                  <a:tr h="73097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Objective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bg1"/>
                              </a:solidFill>
                            </a:rPr>
                            <a:t>Match         covariance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bg1"/>
                              </a:solidFill>
                            </a:rPr>
                            <a:t>Match          waveform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39120727"/>
                      </a:ext>
                    </a:extLst>
                  </a:tr>
                  <a:tr h="73097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bg1"/>
                              </a:solidFill>
                            </a:rPr>
                            <a:t>Communication  control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bg1"/>
                              </a:solidFill>
                            </a:rPr>
                            <a:t>SINR          constraint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bg1"/>
                              </a:solidFill>
                            </a:rPr>
                            <a:t>MUI                minimization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32498520"/>
                      </a:ext>
                    </a:extLst>
                  </a:tr>
                  <a:tr h="84200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bg1"/>
                              </a:solidFill>
                            </a:rPr>
                            <a:t>Radar               evaluation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128517" t="-436232" r="-107224" b="-673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213121" t="-436232" b="-6739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73471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1886337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328CB5D-82DB-AD0B-9B15-8D95FB2E7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Reproduction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E44BCC2E-C887-A619-61EF-A61C905E65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Final Comparison Logic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How All Schemes Are Compared</a:t>
                </a:r>
              </a:p>
              <a:p>
                <a:pPr lvl="2"/>
                <a:r>
                  <a:rPr lang="en-US" dirty="0"/>
                  <a:t>All schemes are evaluated using the same radar metric: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lim>
                    </m:limLow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pro</m:t>
                            </m:r>
                          </m:sub>
                        </m:sSub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pro</m:t>
                            </m:r>
                          </m:sub>
                        </m:sSub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Radar-only: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⇒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radar</m:t>
                        </m:r>
                      </m:sup>
                    </m:sSub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Proposed:</a:t>
                </a:r>
              </a:p>
              <a:p>
                <a:pPr lvl="3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⇒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prop</m:t>
                        </m:r>
                      </m:sup>
                    </m:sSub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Paper [21]:</a:t>
                </a:r>
              </a:p>
              <a:p>
                <a:pPr lvl="3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d>
                              <m:dPr>
                                <m:begChr m:val="["/>
                                <m:endChr m:val="]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21</m:t>
                                </m:r>
                              </m:e>
                            </m:d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⇒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  <m:sup>
                        <m:d>
                          <m:dPr>
                            <m:begChr m:val="["/>
                            <m:endChr m:val="]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21</m:t>
                            </m:r>
                          </m:e>
                        </m:d>
                      </m:sup>
                    </m:sSub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Paper [22]: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p>
                        <m:d>
                          <m:dPr>
                            <m:begChr m:val="["/>
                            <m:endChr m:val="]"/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22</m:t>
                            </m:r>
                          </m:e>
                        </m:d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⇒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  <m:sup>
                        <m:d>
                          <m:dPr>
                            <m:begChr m:val="["/>
                            <m:endChr m:val="]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22</m:t>
                            </m:r>
                          </m:e>
                        </m:d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p>
                        <m:d>
                          <m:dPr>
                            <m:begChr m:val="["/>
                            <m:endChr m:val="]"/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22</m:t>
                            </m:r>
                          </m:e>
                        </m:d>
                      </m:sup>
                    </m:sSup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𝐗</m:t>
                                </m:r>
                              </m:e>
                              <m:sup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ar-AE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22</m:t>
                                    </m:r>
                                  </m:e>
                                </m:d>
                              </m:sup>
                            </m:sSup>
                          </m:e>
                        </m:d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⇒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  <m:sup>
                        <m:d>
                          <m:dPr>
                            <m:begChr m:val="["/>
                            <m:endChr m:val="]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22</m:t>
                            </m:r>
                          </m:e>
                        </m:d>
                      </m:sup>
                    </m:sSub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Expected order: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radar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prop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  <m:sup>
                        <m:d>
                          <m:dPr>
                            <m:begChr m:val="["/>
                            <m:endChr m:val="]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21</m:t>
                            </m:r>
                          </m:e>
                        </m:d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  <m:sup>
                        <m:d>
                          <m:dPr>
                            <m:begChr m:val="["/>
                            <m:endChr m:val="]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22</m:t>
                            </m:r>
                          </m:e>
                        </m:d>
                      </m:sup>
                    </m:sSubSup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E44BCC2E-C887-A619-61EF-A61C905E65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EF53CB-ABA9-01B4-529F-8BD9291DF9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92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879626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1206D-3DC6-A1CC-77E9-D0CF0D34C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Reproduction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8C2884-7AFD-327A-2F60-760CD326E9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Main Observation</a:t>
                </a:r>
              </a:p>
              <a:p>
                <a:pPr lvl="1"/>
                <a:r>
                  <a:rPr lang="en-US" dirty="0"/>
                  <a:t>Radar-only gives the upper-bound radar performance because it has no communication                          constraints.</a:t>
                </a:r>
              </a:p>
              <a:p>
                <a:pPr lvl="1"/>
                <a:r>
                  <a:rPr lang="en-US" dirty="0"/>
                  <a:t>The proposed Pareto method directly maximizes the minimum DPSL while satisfying                  communication SINR constraints: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d>
                          <m:dPr>
                            <m:begChr m:val="{"/>
                            <m:endChr m:val="}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lim>
                    </m:limLow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lim>
                    </m:limLow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/>
                      <m:t>s</m:t>
                    </m:r>
                    <m:r>
                      <m:rPr>
                        <m:nor/>
                      </m:rPr>
                      <a:rPr lang="en-US"/>
                      <m:t>.</m:t>
                    </m:r>
                    <m:r>
                      <m:rPr>
                        <m:nor/>
                      </m:rPr>
                      <a:rPr lang="en-US"/>
                      <m:t>t</m:t>
                    </m:r>
                    <m:r>
                      <m:rPr>
                        <m:nor/>
                      </m:rPr>
                      <a:rPr lang="en-US" i="1"/>
                      <m:t>.</m:t>
                    </m:r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Therefore, it remains close to radar-only performance.</a:t>
                </a:r>
              </a:p>
              <a:p>
                <a:pPr lvl="1"/>
                <a:r>
                  <a:rPr lang="en-US" dirty="0"/>
                  <a:t>The similarity-based benchmarks do not directly maximize DPSL:</a:t>
                </a:r>
              </a:p>
              <a:p>
                <a:pPr lvl="1"/>
                <a:r>
                  <a:rPr lang="en-US" dirty="0"/>
                  <a:t>Paper [21]: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matches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covariance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Paper [22]: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matches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waveform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and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minimizes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MUI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Therefore, their DPSL performance is generally lower than the proposed method.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8C2884-7AFD-327A-2F60-760CD326E9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r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4E51FD-BAE7-6479-6871-B48B218084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93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8109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1557</TotalTime>
  <Words>7216</Words>
  <Application>Microsoft Office PowerPoint</Application>
  <PresentationFormat>Widescreen</PresentationFormat>
  <Paragraphs>1421</Paragraphs>
  <Slides>93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93</vt:i4>
      </vt:variant>
    </vt:vector>
  </HeadingPairs>
  <TitlesOfParts>
    <vt:vector size="99" baseType="lpstr">
      <vt:lpstr>맑은 고딕</vt:lpstr>
      <vt:lpstr>Arial</vt:lpstr>
      <vt:lpstr>Arial Black</vt:lpstr>
      <vt:lpstr>Cambria Math</vt:lpstr>
      <vt:lpstr>Tahoma</vt:lpstr>
      <vt:lpstr>Office 테마</vt:lpstr>
      <vt:lpstr>Joint Radar-Communication Transmission: A Generalized      Pareto Optimization Framework </vt:lpstr>
      <vt:lpstr>Table of Contents</vt:lpstr>
      <vt:lpstr>Abstract</vt:lpstr>
      <vt:lpstr>Abstract</vt:lpstr>
      <vt:lpstr>Introduction</vt:lpstr>
      <vt:lpstr>Introduction</vt:lpstr>
      <vt:lpstr>Introduction</vt:lpstr>
      <vt:lpstr>Introduction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Hardware-Impared Optimization</vt:lpstr>
      <vt:lpstr>Hardware-Impared Optimization</vt:lpstr>
      <vt:lpstr>Hardware-Impared Optimization</vt:lpstr>
      <vt:lpstr>Hardware-Impared Optimization</vt:lpstr>
      <vt:lpstr>Hardware-Impared Optimization</vt:lpstr>
      <vt:lpstr>Hardware-Impared Optimization</vt:lpstr>
      <vt:lpstr>Hardware-Impared Optimization</vt:lpstr>
      <vt:lpstr>Hardware-Impared Optimization</vt:lpstr>
      <vt:lpstr>Hardware-Impared Optimization</vt:lpstr>
      <vt:lpstr>Hardware-Impared Optimization</vt:lpstr>
      <vt:lpstr>Hardware-Impared Optimization</vt:lpstr>
      <vt:lpstr>Hardware-Impared Optimization</vt:lpstr>
      <vt:lpstr>Hardware-Impared Optimization</vt:lpstr>
      <vt:lpstr>Reproduction</vt:lpstr>
      <vt:lpstr>Reproduction</vt:lpstr>
      <vt:lpstr>Reproduction</vt:lpstr>
      <vt:lpstr>Reproduction</vt:lpstr>
      <vt:lpstr>Reproduction</vt:lpstr>
      <vt:lpstr>Reproduction</vt:lpstr>
      <vt:lpstr>Reproduction</vt:lpstr>
      <vt:lpstr>Reproduction</vt:lpstr>
      <vt:lpstr>Reproduction</vt:lpstr>
      <vt:lpstr>Reproduction</vt:lpstr>
      <vt:lpstr>Reproduction</vt:lpstr>
      <vt:lpstr>Reproduction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Jihwan Moon</dc:creator>
  <cp:lastModifiedBy>Refat Khan</cp:lastModifiedBy>
  <cp:revision>20</cp:revision>
  <dcterms:created xsi:type="dcterms:W3CDTF">2018-05-20T06:28:16Z</dcterms:created>
  <dcterms:modified xsi:type="dcterms:W3CDTF">2026-06-08T00:23:53Z</dcterms:modified>
</cp:coreProperties>
</file>