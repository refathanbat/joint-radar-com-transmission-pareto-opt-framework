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1420" r:id="rId2"/>
    <p:sldId id="1422" r:id="rId3"/>
    <p:sldId id="1421" r:id="rId4"/>
    <p:sldId id="1423" r:id="rId5"/>
    <p:sldId id="1424" r:id="rId6"/>
    <p:sldId id="1425" r:id="rId7"/>
    <p:sldId id="1426" r:id="rId8"/>
    <p:sldId id="1427" r:id="rId9"/>
    <p:sldId id="1429" r:id="rId10"/>
    <p:sldId id="1430" r:id="rId11"/>
    <p:sldId id="1431" r:id="rId12"/>
    <p:sldId id="1432" r:id="rId13"/>
    <p:sldId id="1433" r:id="rId14"/>
    <p:sldId id="1434" r:id="rId15"/>
    <p:sldId id="1435" r:id="rId16"/>
    <p:sldId id="1436" r:id="rId17"/>
    <p:sldId id="1437" r:id="rId18"/>
    <p:sldId id="1438" r:id="rId19"/>
    <p:sldId id="1439" r:id="rId20"/>
    <p:sldId id="1440" r:id="rId21"/>
    <p:sldId id="1441" r:id="rId22"/>
    <p:sldId id="1442" r:id="rId23"/>
    <p:sldId id="1443" r:id="rId24"/>
    <p:sldId id="1445" r:id="rId25"/>
    <p:sldId id="1446" r:id="rId26"/>
    <p:sldId id="1448" r:id="rId27"/>
    <p:sldId id="1449" r:id="rId28"/>
    <p:sldId id="1450" r:id="rId29"/>
    <p:sldId id="1451" r:id="rId30"/>
    <p:sldId id="1452" r:id="rId31"/>
    <p:sldId id="1453" r:id="rId32"/>
    <p:sldId id="1503" r:id="rId33"/>
    <p:sldId id="1454" r:id="rId34"/>
    <p:sldId id="1455" r:id="rId35"/>
    <p:sldId id="1456" r:id="rId36"/>
    <p:sldId id="1457" r:id="rId37"/>
    <p:sldId id="1458" r:id="rId38"/>
    <p:sldId id="1459" r:id="rId39"/>
    <p:sldId id="1460" r:id="rId40"/>
    <p:sldId id="1461" r:id="rId41"/>
    <p:sldId id="1462" r:id="rId42"/>
    <p:sldId id="1463" r:id="rId43"/>
    <p:sldId id="1464" r:id="rId44"/>
    <p:sldId id="1465" r:id="rId45"/>
    <p:sldId id="1466" r:id="rId46"/>
    <p:sldId id="1467" r:id="rId47"/>
    <p:sldId id="1468" r:id="rId48"/>
    <p:sldId id="1469" r:id="rId49"/>
    <p:sldId id="1470" r:id="rId50"/>
    <p:sldId id="1471" r:id="rId51"/>
    <p:sldId id="1472" r:id="rId52"/>
    <p:sldId id="1473" r:id="rId53"/>
    <p:sldId id="1474" r:id="rId54"/>
    <p:sldId id="1475" r:id="rId55"/>
    <p:sldId id="1476" r:id="rId56"/>
    <p:sldId id="1477" r:id="rId57"/>
    <p:sldId id="1478" r:id="rId58"/>
    <p:sldId id="1479" r:id="rId59"/>
    <p:sldId id="1480" r:id="rId60"/>
    <p:sldId id="1481" r:id="rId61"/>
    <p:sldId id="1482" r:id="rId62"/>
    <p:sldId id="1483" r:id="rId63"/>
    <p:sldId id="1484" r:id="rId64"/>
    <p:sldId id="1485" r:id="rId65"/>
    <p:sldId id="1486" r:id="rId66"/>
    <p:sldId id="1487" r:id="rId67"/>
    <p:sldId id="1488" r:id="rId68"/>
    <p:sldId id="1489" r:id="rId69"/>
    <p:sldId id="1490" r:id="rId70"/>
    <p:sldId id="1491" r:id="rId71"/>
    <p:sldId id="1492" r:id="rId72"/>
    <p:sldId id="1493" r:id="rId73"/>
    <p:sldId id="1494" r:id="rId74"/>
    <p:sldId id="1495" r:id="rId75"/>
    <p:sldId id="1496" r:id="rId76"/>
    <p:sldId id="1497" r:id="rId77"/>
    <p:sldId id="1498" r:id="rId78"/>
    <p:sldId id="1499" r:id="rId79"/>
    <p:sldId id="1500" r:id="rId80"/>
    <p:sldId id="1501" r:id="rId81"/>
    <p:sldId id="1502" r:id="rId82"/>
    <p:sldId id="1504" r:id="rId83"/>
    <p:sldId id="1505" r:id="rId84"/>
    <p:sldId id="1506" r:id="rId85"/>
    <p:sldId id="1507" r:id="rId86"/>
    <p:sldId id="1508" r:id="rId87"/>
    <p:sldId id="1509" r:id="rId88"/>
    <p:sldId id="1510" r:id="rId89"/>
    <p:sldId id="1511" r:id="rId90"/>
    <p:sldId id="1512" r:id="rId91"/>
    <p:sldId id="1513" r:id="rId92"/>
    <p:sldId id="1514" r:id="rId93"/>
    <p:sldId id="1515" r:id="rId9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10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Joint Radar-Communication Transmission: A Generalized      Pareto Optimization Framework</a:t>
            </a:r>
            <a:br>
              <a:rPr lang="en-US" dirty="0"/>
            </a:b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 algn="just"/>
            <a:r>
              <a:rPr lang="en-US" dirty="0"/>
              <a:t>Authors : Li Chen, Fan Liu, Weidong Wang, Christos </a:t>
            </a:r>
            <a:r>
              <a:rPr lang="en-US" dirty="0" err="1"/>
              <a:t>Masouros</a:t>
            </a:r>
            <a:endParaRPr lang="en-US" dirty="0"/>
          </a:p>
          <a:p>
            <a:pPr lvl="1" algn="just"/>
            <a:r>
              <a:rPr lang="en-US" dirty="0"/>
              <a:t>Publishers : IEEE Transactions on Signal Processing</a:t>
            </a:r>
          </a:p>
          <a:p>
            <a:pPr lvl="1" algn="just"/>
            <a:r>
              <a:rPr lang="en-US" dirty="0"/>
              <a:t>Date of Publication: 05 May 2021</a:t>
            </a:r>
            <a:endParaRPr lang="en-US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79E2-5333-E51F-D2C7-66228C07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07C4-309A-D194-0F3D-788BB913D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System Model</a:t>
            </a:r>
          </a:p>
          <a:p>
            <a:r>
              <a:rPr lang="en-US" dirty="0"/>
              <a:t>Joint Radar and Communication Optimization</a:t>
            </a:r>
          </a:p>
          <a:p>
            <a:r>
              <a:rPr lang="en-US" dirty="0"/>
              <a:t>Optimality Achieved by Single Transmission</a:t>
            </a:r>
          </a:p>
          <a:p>
            <a:r>
              <a:rPr lang="en-US" dirty="0"/>
              <a:t>Hardware-</a:t>
            </a:r>
            <a:r>
              <a:rPr lang="en-US" dirty="0" err="1"/>
              <a:t>Impared</a:t>
            </a:r>
            <a:r>
              <a:rPr lang="en-US" dirty="0"/>
              <a:t> Optimization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8B7F4-4143-1603-058D-BEF9498E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58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F91E-F042-F8B7-F329-172AE53A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6A0F6D-AC85-AB28-749F-EEBFEB7AE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 </a:t>
                </a:r>
                <a:r>
                  <a:rPr lang="en-US" dirty="0">
                    <a:solidFill>
                      <a:srgbClr val="0000FF"/>
                    </a:solidFill>
                  </a:rPr>
                  <a:t>Abstract Overview</a:t>
                </a:r>
              </a:p>
              <a:p>
                <a:pPr lvl="1"/>
                <a:r>
                  <a:rPr lang="en-US" dirty="0"/>
                  <a:t>Main Idea of the Paper</a:t>
                </a:r>
              </a:p>
              <a:p>
                <a:pPr lvl="2"/>
                <a:r>
                  <a:rPr lang="en-US" dirty="0"/>
                  <a:t>This paper studies a </a:t>
                </a:r>
                <a:r>
                  <a:rPr lang="en-US" dirty="0">
                    <a:solidFill>
                      <a:srgbClr val="7030A0"/>
                    </a:solidFill>
                  </a:rPr>
                  <a:t>multi-antenna DFRC system</a:t>
                </a:r>
                <a:r>
                  <a:rPr lang="en-US" dirty="0"/>
                  <a:t>, where one transmitter performs: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Radar sensing: </a:t>
                </a:r>
                <a:r>
                  <a:rPr lang="en-US" dirty="0"/>
                  <a:t>detects targets 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Communication: </a:t>
                </a:r>
                <a:r>
                  <a:rPr lang="en-US" dirty="0"/>
                  <a:t>serves multiple users </a:t>
                </a:r>
              </a:p>
              <a:p>
                <a:pPr lvl="3"/>
                <a:r>
                  <a:rPr lang="en-US" dirty="0"/>
                  <a:t>The main goal is to find the best </a:t>
                </a:r>
                <a:r>
                  <a:rPr lang="en-US" dirty="0">
                    <a:solidFill>
                      <a:srgbClr val="0070C0"/>
                    </a:solidFill>
                  </a:rPr>
                  <a:t>trade-off</a:t>
                </a:r>
                <a:r>
                  <a:rPr lang="en-US" dirty="0"/>
                  <a:t> between: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Radar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DPSL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User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SINR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Here, </a:t>
                </a:r>
                <a:r>
                  <a:rPr lang="en-US" dirty="0">
                    <a:solidFill>
                      <a:srgbClr val="7030A0"/>
                    </a:solidFill>
                  </a:rPr>
                  <a:t>DPSL</a:t>
                </a:r>
                <a:r>
                  <a:rPr lang="en-US" dirty="0"/>
                  <a:t> means the difference between radar </a:t>
                </a:r>
                <a:r>
                  <a:rPr lang="en-US" dirty="0" err="1"/>
                  <a:t>mainlobe</a:t>
                </a:r>
                <a:r>
                  <a:rPr lang="en-US" dirty="0"/>
                  <a:t> peak and sidelobe level.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6A0F6D-AC85-AB28-749F-EEBFEB7AE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C05EA-EE8D-592E-9EA2-45A37A00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31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2314-6EC4-0BEB-53B0-D7C9D7B3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C833-43E5-0422-408A-35C40E18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Key Contributions</a:t>
            </a:r>
          </a:p>
          <a:p>
            <a:pPr lvl="1"/>
            <a:r>
              <a:rPr lang="en-US" dirty="0"/>
              <a:t>What This Paper Contributes</a:t>
            </a:r>
          </a:p>
          <a:p>
            <a:pPr lvl="2"/>
            <a:r>
              <a:rPr lang="en-US" dirty="0"/>
              <a:t>The paper proposes a </a:t>
            </a:r>
            <a:r>
              <a:rPr lang="en-US" dirty="0">
                <a:solidFill>
                  <a:srgbClr val="7030A0"/>
                </a:solidFill>
              </a:rPr>
              <a:t>Pareto optimization framework </a:t>
            </a:r>
            <a:r>
              <a:rPr lang="en-US" dirty="0"/>
              <a:t>for DFRC.</a:t>
            </a:r>
          </a:p>
          <a:p>
            <a:pPr lvl="2"/>
            <a:r>
              <a:rPr lang="en-US" dirty="0"/>
              <a:t>Main contributions:</a:t>
            </a:r>
          </a:p>
          <a:p>
            <a:pPr lvl="3"/>
            <a:r>
              <a:rPr lang="en-US" dirty="0"/>
              <a:t>Defines an </a:t>
            </a:r>
            <a:r>
              <a:rPr lang="en-US" dirty="0">
                <a:solidFill>
                  <a:srgbClr val="7030A0"/>
                </a:solidFill>
              </a:rPr>
              <a:t>achievable performance region </a:t>
            </a:r>
            <a:r>
              <a:rPr lang="en-US" dirty="0"/>
              <a:t>using radar DPSL and user SINR. </a:t>
            </a:r>
          </a:p>
          <a:p>
            <a:pPr lvl="3"/>
            <a:r>
              <a:rPr lang="en-US" dirty="0"/>
              <a:t>Proves this region is </a:t>
            </a:r>
            <a:r>
              <a:rPr lang="en-US" dirty="0">
                <a:solidFill>
                  <a:srgbClr val="7030A0"/>
                </a:solidFill>
              </a:rPr>
              <a:t>compact and normal</a:t>
            </a:r>
            <a:r>
              <a:rPr lang="en-US" dirty="0"/>
              <a:t>. </a:t>
            </a:r>
          </a:p>
          <a:p>
            <a:pPr lvl="3"/>
            <a:r>
              <a:rPr lang="en-US" dirty="0"/>
              <a:t>Uses </a:t>
            </a:r>
            <a:r>
              <a:rPr lang="en-US" dirty="0">
                <a:solidFill>
                  <a:srgbClr val="7030A0"/>
                </a:solidFill>
              </a:rPr>
              <a:t>fairness-profile optimization </a:t>
            </a:r>
            <a:r>
              <a:rPr lang="en-US" dirty="0"/>
              <a:t>to find Pareto boundary points. </a:t>
            </a:r>
          </a:p>
          <a:p>
            <a:pPr lvl="3"/>
            <a:r>
              <a:rPr lang="en-US" dirty="0"/>
              <a:t>Solves the problem using a </a:t>
            </a:r>
            <a:r>
              <a:rPr lang="en-US" dirty="0">
                <a:solidFill>
                  <a:srgbClr val="7030A0"/>
                </a:solidFill>
              </a:rPr>
              <a:t>bisection search algorithm</a:t>
            </a:r>
            <a:r>
              <a:rPr lang="en-US" dirty="0"/>
              <a:t>. </a:t>
            </a:r>
          </a:p>
          <a:p>
            <a:pPr lvl="3"/>
            <a:r>
              <a:rPr lang="en-US" dirty="0"/>
              <a:t>Shows optimal performance can be achieved by </a:t>
            </a:r>
            <a:r>
              <a:rPr lang="en-US" dirty="0">
                <a:solidFill>
                  <a:srgbClr val="7030A0"/>
                </a:solidFill>
              </a:rPr>
              <a:t>single-stream transmission</a:t>
            </a:r>
            <a:r>
              <a:rPr lang="en-US" dirty="0"/>
              <a:t>. </a:t>
            </a:r>
          </a:p>
          <a:p>
            <a:pPr lvl="3"/>
            <a:r>
              <a:rPr lang="en-US" dirty="0"/>
              <a:t>Extends the design to include </a:t>
            </a:r>
            <a:r>
              <a:rPr lang="en-US" dirty="0">
                <a:solidFill>
                  <a:srgbClr val="7030A0"/>
                </a:solidFill>
              </a:rPr>
              <a:t>hardware impairments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1DE78-22BA-78E8-E516-365D41B5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58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C9B8-50E9-6981-D585-A6223379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640B-002A-0A1E-6F03-03A6DA9E5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Why DFRC is needed</a:t>
            </a:r>
          </a:p>
          <a:p>
            <a:pPr lvl="2"/>
            <a:r>
              <a:rPr lang="en-US" dirty="0"/>
              <a:t>Radar and communication systems increasingly use the same spectrum. </a:t>
            </a:r>
          </a:p>
          <a:p>
            <a:pPr lvl="2"/>
            <a:r>
              <a:rPr lang="en-US" dirty="0"/>
              <a:t>Sub-6 GHz and </a:t>
            </a:r>
            <a:r>
              <a:rPr lang="en-US" dirty="0" err="1"/>
              <a:t>mmWave</a:t>
            </a:r>
            <a:r>
              <a:rPr lang="en-US" dirty="0"/>
              <a:t> bands are shared by both systems. </a:t>
            </a:r>
          </a:p>
          <a:p>
            <a:pPr lvl="2"/>
            <a:r>
              <a:rPr lang="en-US" dirty="0"/>
              <a:t>Spectrum scarcity motivates joint radar-communication design.</a:t>
            </a:r>
          </a:p>
          <a:p>
            <a:r>
              <a:rPr lang="en-US" dirty="0">
                <a:solidFill>
                  <a:srgbClr val="7030A0"/>
                </a:solidFill>
              </a:rPr>
              <a:t>Two Research Directions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CRSS (Communication and radar spectrum sharing) has two main directions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RCC:</a:t>
            </a:r>
            <a:r>
              <a:rPr lang="en-US" dirty="0"/>
              <a:t> radar and communication are separate systems. 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DFRC: </a:t>
            </a:r>
            <a:r>
              <a:rPr lang="en-US" dirty="0"/>
              <a:t>one system performs both radar sensing and communication. </a:t>
            </a:r>
          </a:p>
          <a:p>
            <a:pPr lvl="1"/>
            <a:r>
              <a:rPr lang="en-US" dirty="0"/>
              <a:t>This paper focuses on </a:t>
            </a:r>
            <a:r>
              <a:rPr lang="en-US" dirty="0">
                <a:solidFill>
                  <a:srgbClr val="7030A0"/>
                </a:solidFill>
              </a:rPr>
              <a:t>DFRC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4F0CE-F995-A551-0B1E-A3D14BDC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19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67AC-FD6E-711D-9362-FAAA73CE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677784-2C5A-34B8-417E-C17200ACB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Limitation of Existing DFRC Works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Previous works usually do: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Optimize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radar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communication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or the opposite.</a:t>
                </a:r>
              </a:p>
              <a:p>
                <a:pPr lvl="1"/>
                <a:r>
                  <a:rPr lang="en-US" dirty="0"/>
                  <a:t>But they do not fully show the </a:t>
                </a:r>
                <a:r>
                  <a:rPr lang="en-US" dirty="0">
                    <a:solidFill>
                      <a:srgbClr val="7030A0"/>
                    </a:solidFill>
                  </a:rPr>
                  <a:t>best radar-communication trade-off.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Main Challenge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and communication have different goals</a:t>
                </a:r>
              </a:p>
              <a:p>
                <a:pPr lvl="2"/>
                <a:r>
                  <a:rPr lang="en-US" dirty="0"/>
                  <a:t>Radar wants strong beampattern toward target. </a:t>
                </a:r>
              </a:p>
              <a:p>
                <a:pPr lvl="2"/>
                <a:r>
                  <a:rPr lang="en-US" dirty="0"/>
                  <a:t>Communication wants high SINR for users. </a:t>
                </a:r>
              </a:p>
              <a:p>
                <a:pPr lvl="2"/>
                <a:r>
                  <a:rPr lang="en-US" dirty="0"/>
                  <a:t>Improving one may reduce the other. </a:t>
                </a:r>
              </a:p>
              <a:p>
                <a:pPr lvl="1"/>
                <a:r>
                  <a:rPr lang="en-US" dirty="0"/>
                  <a:t>So the problem becomes a </a:t>
                </a:r>
                <a:r>
                  <a:rPr lang="en-US" dirty="0">
                    <a:solidFill>
                      <a:srgbClr val="7030A0"/>
                    </a:solidFill>
                  </a:rPr>
                  <a:t>multi-objective optimization problem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677784-2C5A-34B8-417E-C17200ACB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EC4B9-7E63-84A9-2B14-5B37B426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33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3829-44EF-EEA7-4E0D-19FE9590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B1CC7-BACA-F6BA-6DE1-55E9ED790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Main Idea of This Paper</a:t>
                </a:r>
              </a:p>
              <a:p>
                <a:pPr lvl="1"/>
                <a:r>
                  <a:rPr lang="en-US" dirty="0"/>
                  <a:t>The paper proposes a:</a:t>
                </a:r>
              </a:p>
              <a:p>
                <a:pPr lvl="2"/>
                <a:r>
                  <a:rPr lang="en-US" dirty="0"/>
                  <a:t>Pareto optimization framework</a:t>
                </a:r>
                <a:endParaRPr lang="en-US" b="0" dirty="0"/>
              </a:p>
              <a:p>
                <a:pPr lvl="2"/>
                <a:r>
                  <a:rPr lang="en-US" dirty="0"/>
                  <a:t>for multi-antenna DFRC.</a:t>
                </a:r>
              </a:p>
              <a:p>
                <a:pPr lvl="1"/>
                <a:r>
                  <a:rPr lang="en-US" dirty="0"/>
                  <a:t>It studies the trade-off between: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Radar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DPSL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User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SINR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Achievable Performance Region</a:t>
                </a:r>
              </a:p>
              <a:p>
                <a:pPr lvl="1"/>
                <a:r>
                  <a:rPr lang="en-US" dirty="0"/>
                  <a:t>The paper defines a region using: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Radar DPSL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SINR of each communication user </a:t>
                </a:r>
              </a:p>
              <a:p>
                <a:pPr lvl="2"/>
                <a:r>
                  <a:rPr lang="en-US" dirty="0"/>
                  <a:t>This region shows all possible radar-communication performance combinations.</a:t>
                </a:r>
              </a:p>
              <a:p>
                <a:pPr lvl="1"/>
                <a:r>
                  <a:rPr lang="en-US" dirty="0"/>
                  <a:t>They prove the region is: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compact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normal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B1CC7-BACA-F6BA-6DE1-55E9ED790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8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9E16A-77E9-5576-82AF-9B3AF8A48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98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9762-462D-A6B8-9D4A-6814532C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3BACC-6F47-2824-CD56-F57D1BA4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Fairness-Profile Optimization</a:t>
            </a:r>
          </a:p>
          <a:p>
            <a:pPr lvl="1"/>
            <a:r>
              <a:rPr lang="en-US" dirty="0"/>
              <a:t>The paper uses </a:t>
            </a:r>
            <a:r>
              <a:rPr lang="en-US" dirty="0">
                <a:solidFill>
                  <a:srgbClr val="7030A0"/>
                </a:solidFill>
              </a:rPr>
              <a:t>fairness-profile optimization.</a:t>
            </a:r>
          </a:p>
          <a:p>
            <a:r>
              <a:rPr lang="en-US" dirty="0">
                <a:solidFill>
                  <a:srgbClr val="7030A0"/>
                </a:solidFill>
              </a:rPr>
              <a:t>Meaning:</a:t>
            </a:r>
          </a:p>
          <a:p>
            <a:pPr lvl="1"/>
            <a:r>
              <a:rPr lang="en-US" dirty="0"/>
              <a:t>Radar and users have minimum acceptable performance. </a:t>
            </a:r>
          </a:p>
          <a:p>
            <a:pPr lvl="1"/>
            <a:r>
              <a:rPr lang="en-US" dirty="0"/>
              <a:t>Then the design moves toward the Pareto boundary. </a:t>
            </a:r>
          </a:p>
          <a:p>
            <a:pPr lvl="1"/>
            <a:r>
              <a:rPr lang="en-US" dirty="0"/>
              <a:t>This gives a balanced radar-communication trade-off. </a:t>
            </a:r>
          </a:p>
          <a:p>
            <a:pPr lvl="1"/>
            <a:r>
              <a:rPr lang="en-US" dirty="0"/>
              <a:t>It includes both:</a:t>
            </a:r>
          </a:p>
          <a:p>
            <a:pPr lvl="2"/>
            <a:r>
              <a:rPr lang="en-US" dirty="0"/>
              <a:t>max DPSL with SINR constraints </a:t>
            </a:r>
          </a:p>
          <a:p>
            <a:pPr lvl="2"/>
            <a:r>
              <a:rPr lang="en-US" dirty="0"/>
              <a:t>max SINR with DPSL constraints</a:t>
            </a:r>
          </a:p>
          <a:p>
            <a:r>
              <a:rPr lang="en-US" dirty="0">
                <a:solidFill>
                  <a:srgbClr val="0000FF"/>
                </a:solidFill>
              </a:rPr>
              <a:t>Main Contributions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Key contributions</a:t>
            </a:r>
          </a:p>
          <a:p>
            <a:pPr lvl="2"/>
            <a:r>
              <a:rPr lang="en-US" dirty="0"/>
              <a:t>Proposes Pareto framework for DFRC. </a:t>
            </a:r>
          </a:p>
          <a:p>
            <a:pPr lvl="2"/>
            <a:r>
              <a:rPr lang="en-US" dirty="0"/>
              <a:t>Defines DPSL–SINR performance region. </a:t>
            </a:r>
          </a:p>
          <a:p>
            <a:pPr lvl="2"/>
            <a:r>
              <a:rPr lang="en-US" dirty="0"/>
              <a:t>Solves the problem using bisection search. </a:t>
            </a:r>
          </a:p>
          <a:p>
            <a:pPr lvl="2"/>
            <a:r>
              <a:rPr lang="en-US" dirty="0"/>
              <a:t>Proves single-stream transmission is optimal. </a:t>
            </a:r>
          </a:p>
          <a:p>
            <a:pPr lvl="2"/>
            <a:r>
              <a:rPr lang="en-US" dirty="0"/>
              <a:t>Extends the design to hardware impairments.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7139E-CB00-66AA-DD9D-7E654E13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12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7DA8-DE6E-2EC4-B893-6ED30AF8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860009-F375-5607-966E-F847D4E57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268" y="1649413"/>
            <a:ext cx="2915174" cy="25988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6F315-F6AA-CE47-11E0-E055F974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BA0B4-1B55-DF74-8047-FA4F5F862FF1}"/>
              </a:ext>
            </a:extLst>
          </p:cNvPr>
          <p:cNvSpPr txBox="1"/>
          <p:nvPr/>
        </p:nvSpPr>
        <p:spPr>
          <a:xfrm>
            <a:off x="2919370" y="4215468"/>
            <a:ext cx="61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1. System model of multi-antenna DFRC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B93479-7A88-DCEF-608D-D8A7C91838C8}"/>
                  </a:ext>
                </a:extLst>
              </p:cNvPr>
              <p:cNvSpPr txBox="1"/>
              <p:nvPr/>
            </p:nvSpPr>
            <p:spPr>
              <a:xfrm>
                <a:off x="910206" y="4580390"/>
                <a:ext cx="10872131" cy="1514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DFRC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with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antennas</m:t>
                    </m:r>
                  </m:oMath>
                </a14:m>
                <a:endParaRPr lang="en-US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single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antenna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communication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users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radar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target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direction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the total transmitted DFRC signal.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B93479-7A88-DCEF-608D-D8A7C9183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06" y="4580390"/>
                <a:ext cx="10872131" cy="1514870"/>
              </a:xfrm>
              <a:prstGeom prst="rect">
                <a:avLst/>
              </a:prstGeom>
              <a:blipFill>
                <a:blip r:embed="rId3"/>
                <a:stretch>
                  <a:fillRect l="-336" t="-2008" b="-24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01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669C-2D1F-3767-843E-B3550ED2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48956-BF48-B23D-3C5A-1D3E40A6CE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Received Signal</a:t>
                </a:r>
              </a:p>
              <a:p>
                <a:pPr lvl="2"/>
                <a:r>
                  <a:rPr lang="en-US" dirty="0"/>
                  <a:t>Received signal of CU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i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Substitute: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Expand desired + interference: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desired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signal</m:t>
                        </m:r>
                      </m:lim>
                    </m:limLow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grow m:val="on"/>
                                <m:supHide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</m:e>
                            </m:nary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multi</m:t>
                        </m:r>
                        <m:r>
                          <m:rPr>
                            <m:nor/>
                          </m:rPr>
                          <a:rPr lang="en-US"/>
                          <m:t>−</m:t>
                        </m:r>
                        <m:r>
                          <m:rPr>
                            <m:nor/>
                          </m:rPr>
                          <a:rPr lang="en-US"/>
                          <m:t>user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interference</m:t>
                        </m:r>
                      </m:lim>
                    </m:limLow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noise</m:t>
                        </m:r>
                      </m:lim>
                    </m:limLow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48956-BF48-B23D-3C5A-1D3E40A6C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6CAF-1099-EB27-AF19-3A94B50F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0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6D1B-7EF0-FD8F-7317-8E04DA7F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620AC-1DFA-6FE8-949B-838C8F186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Signal Covariance Matrix</a:t>
                </a:r>
              </a:p>
              <a:p>
                <a:pPr lvl="2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Total transmit covariance: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𝐬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𝐬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Because user’s signals are independent: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620AC-1DFA-6FE8-949B-838C8F186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B7BFB-2353-C6C7-0C47-233188D1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9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0230-4DDA-77AF-70B9-DDC908AA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ABC7B4-F21D-275A-339C-E41EA0022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SINR Derivation</a:t>
                </a:r>
              </a:p>
              <a:p>
                <a:pPr lvl="2"/>
                <a:r>
                  <a:rPr lang="en-US" dirty="0"/>
                  <a:t>Desired signal power: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signal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Interference power: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int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Noise power: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noise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Thus: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                                              (1)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ABC7B4-F21D-275A-339C-E41EA0022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8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D129A-7E9E-0B75-EBF9-67DA130F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40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31C8-748C-D34B-6263-DBA2581B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A65C3E-AE5B-1418-8FB8-E4B8EB0B20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Transmit Power Constraint</a:t>
                </a:r>
              </a:p>
              <a:p>
                <a:pPr lvl="1"/>
                <a:r>
                  <a:rPr lang="en-US" dirty="0"/>
                  <a:t>Total transmit power: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tx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Using trace identity: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sSup>
                                  <m:sSupPr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A65C3E-AE5B-1418-8FB8-E4B8EB0B2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E2CDA-B080-5312-7DDA-6B07ABE4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4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0B07-A832-DF9F-F25B-E93EFD83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A6938-343A-73FD-2F7C-393BE33227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Probing Power</a:t>
                </a:r>
              </a:p>
              <a:p>
                <a:pPr lvl="1"/>
                <a:r>
                  <a:rPr lang="en-US" dirty="0"/>
                  <a:t>Radar steering vector: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,…….,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Power radiated toward angle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Substitute covariance: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A6938-343A-73FD-2F7C-393BE33227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B7C7E-EDEF-88E2-F62E-87AE3DBA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464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9F6D-5B44-A865-BB40-C543ED28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A1580B-C085-D22B-483A-9EAE39F6D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DPSL Radar Metric</a:t>
                </a:r>
              </a:p>
              <a:p>
                <a:pPr lvl="1"/>
                <a:r>
                  <a:rPr lang="en-US" dirty="0"/>
                  <a:t>Main beam power: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main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Sidelobe power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side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main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side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A1580B-C085-D22B-483A-9EAE39F6D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F8EA5-86C7-C706-D994-73D9F939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8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4BD1-3687-798C-6D96-F3E1B6C3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3CDE3-213D-8B41-3EC4-5F0DCCEF42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DFRC System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3 dB Main Beam Width Constraint</a:t>
                </a:r>
              </a:p>
              <a:p>
                <a:pPr lvl="2"/>
                <a:r>
                  <a:rPr lang="en-US" dirty="0"/>
                  <a:t>Peak power at target direction: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peak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Half-power level: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/>
                          <m:t>dB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peak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At beam boundary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At beam boundary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Expanded form: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ar-AE" i="1"/>
                      <m:t>3 </m:t>
                    </m:r>
                    <m:r>
                      <m:rPr>
                        <m:nor/>
                      </m:rPr>
                      <a:rPr lang="en-US"/>
                      <m:t>dB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beam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width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3CDE3-213D-8B41-3EC4-5F0DCCEF4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5842-7B71-DAD7-D51E-F4B1C42A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78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DD2D-C46F-2526-50E2-6FFCFB38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2298E-839C-F035-20BB-9AD0D11EE7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Goal of Section III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CU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SINR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Radar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DPSL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US" dirty="0"/>
                  <a:t>Same covariance matrices control both communication and radar.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Achievable Performance Region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:∀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                                                         </a:t>
                </a:r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,……,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eq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eq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                                                                                     </a:t>
                </a:r>
                <a:endParaRPr lang="ar-AE" b="0" dirty="0"/>
              </a:p>
              <a:p>
                <a:pPr lvl="1"/>
                <a:r>
                  <a:rPr lang="en-US" dirty="0"/>
                  <a:t>So,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ℛ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ar-AE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2298E-839C-F035-20BB-9AD0D11EE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03225-190B-2471-41E6-231E0630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67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6A3B-F4DD-8DA1-DD9E-28F24F58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0B9D6-5B31-9E75-9A28-089DA7274E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all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feasible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70C0"/>
                        </a:solidFill>
                      </a:rPr>
                      <m:t>transmit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70C0"/>
                        </a:solidFill>
                      </a:rPr>
                      <m:t>covariance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70C0"/>
                        </a:solidFill>
                      </a:rPr>
                      <m:t>matrices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They must satisfy: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Non-Convex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Numerator and denominator both depend 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generally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</m:oMath>
                </a14:m>
                <a:endParaRPr lang="en-US" b="0" dirty="0"/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0B9D6-5B31-9E75-9A28-089DA7274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F0229-A5C8-F2A0-C465-FE27FF82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7467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620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7E98-BB9B-8867-AAD2-59A2318D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DB020-E7DE-9287-A4CE-B6F537191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Compact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compact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closed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bounded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Why bounded?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Power is limited, so SINR and DPSL cannot become infinite.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Normal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is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normal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means: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Simple meaning: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If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better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performance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achievable</m:t>
                    </m:r>
                    <m:r>
                      <m:rPr>
                        <m:nor/>
                      </m:rPr>
                      <a:rPr lang="en-US" b="0"/>
                      <m:t>, </m:t>
                    </m:r>
                    <m:r>
                      <m:rPr>
                        <m:nor/>
                      </m:rPr>
                      <a:rPr lang="en-US" b="0"/>
                      <m:t>worse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performance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also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achievable</m:t>
                    </m:r>
                    <m:r>
                      <m:rPr>
                        <m:nor/>
                      </m:rPr>
                      <a:rPr lang="en-US" b="0"/>
                      <m:t>.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DB020-E7DE-9287-A4CE-B6F537191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3B697-BE9F-7F65-B860-1278F2C7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462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547C-BFD6-E1F7-770D-DADECBF0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745DCE-001C-B2A9-9AB2-540B121B0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Pareto Boundary</a:t>
                </a:r>
              </a:p>
              <a:p>
                <a:pPr lvl="1"/>
                <a:r>
                  <a:rPr lang="en-US" dirty="0"/>
                  <a:t>A point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Pareto optimal if: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but there is no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So, no other feasible point can improve all metrics together.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Pareto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boundary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Appendix A: Compactness Proof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are continuous functions,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dirty="0"/>
                  <a:t> is compact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is also compact.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continuous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mapping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compact</m:t>
                    </m:r>
                  </m:oMath>
                </a14:m>
                <a:endParaRPr lang="ar-AE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745DCE-001C-B2A9-9AB2-540B121B0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A517-2787-3F24-CD3F-54D6EB6F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0742-5361-11D5-368A-83855AF26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341567-04D5-E974-D24A-03F87123F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Appendix A: Compactness Proof</a:t>
                </a:r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A: Normality Proof Idea</a:t>
                </a:r>
              </a:p>
              <a:p>
                <a:pPr lvl="2"/>
                <a:r>
                  <a:rPr lang="en-US" dirty="0"/>
                  <a:t>Start from an achievable point: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achieved by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Now scale the covariance matrices: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DPSL with Power Scaling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Define: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𝚲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𝐩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𝚲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Meaning: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lower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DPSL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target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no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larger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needed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341567-04D5-E974-D24A-03F87123F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7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C8DEB-189D-AEDE-E5B3-266B971F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403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5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B207-0485-F9A6-B8EC-C5B9D274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C84D2-EA2F-B0FA-409B-0C0482295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Conclusion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then by reducing/scaling transmit covariance power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/>
                  <a:t> is normal</a:t>
                </a:r>
                <a:endParaRPr lang="ar-AE" b="0" dirty="0"/>
              </a:p>
              <a:p>
                <a:pPr lvl="1"/>
                <a:r>
                  <a:rPr lang="en-US" dirty="0"/>
                  <a:t>Together: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b="0" dirty="0"/>
                  <a:t> is normal and compact</a:t>
                </a:r>
                <a:endParaRPr lang="ar-AE" b="0" dirty="0"/>
              </a:p>
              <a:p>
                <a:pPr lvl="1"/>
                <a:r>
                  <a:rPr lang="en-US" dirty="0"/>
                  <a:t>So, the best DFRC trade-off points lie on: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C84D2-EA2F-B0FA-409B-0C0482295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ACE8-DD13-124E-9F49-6291DFA73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651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99D8-4763-DFEE-BAF5-7E547925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584DEC-8C03-7D6A-7A03-4EA470ECD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4767887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Purpose of Fairness-Profile Optimization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Many Pareto points exist.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select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one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balanced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Pareto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point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General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{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584DEC-8C03-7D6A-7A03-4EA470ECD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4767887"/>
              </a:xfrm>
              <a:blipFill>
                <a:blip r:embed="rId2"/>
                <a:stretch>
                  <a:fillRect l="-522" t="-1279" b="-13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33802-C538-EF19-5968-6ED4F4D6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AE0A79-F28D-55A8-583C-6FF0B04306C1}"/>
                  </a:ext>
                </a:extLst>
              </p:cNvPr>
              <p:cNvSpPr txBox="1"/>
              <p:nvPr/>
            </p:nvSpPr>
            <p:spPr>
              <a:xfrm>
                <a:off x="6186881" y="2344723"/>
                <a:ext cx="5788403" cy="2582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FF"/>
                    </a:solidFill>
                  </a:rPr>
                  <a:t>Meaning of Fairness Parameters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minimum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acceptable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SINR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minimum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acceptable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DPSL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sidelobe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angle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endParaRPr lang="ar-A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SINR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improvement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direction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DPSL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improvement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direction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Core idea: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minimum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level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controlled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improvement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AE0A79-F28D-55A8-583C-6FF0B0430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881" y="2344723"/>
                <a:ext cx="5788403" cy="2582182"/>
              </a:xfrm>
              <a:prstGeom prst="rect">
                <a:avLst/>
              </a:prstGeom>
              <a:blipFill>
                <a:blip r:embed="rId3"/>
                <a:stretch>
                  <a:fillRect l="-738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0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3135-475F-FD90-2796-611B48E3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D3B7F-F541-6589-6853-25F984D761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General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Remark 2: Radar-Priority Case</a:t>
                </a:r>
              </a:p>
              <a:p>
                <a:pPr lvl="2"/>
                <a:r>
                  <a:rPr lang="en-US" dirty="0"/>
                  <a:t>Set: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SINR constraints become dominant.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D3B7F-F541-6589-6853-25F984D761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C8E48-2E4C-C4C6-0055-13E68AF6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825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E4B0-B4E5-7F15-595E-EA5FCAC2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8944EC-1074-9A5A-099B-7166ABC78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To avoid a very negative utility: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After satisfying SINR constraints: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So,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Meaning: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maximize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worst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radar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DPSL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while guaranteeing: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e</m:t>
                    </m:r>
                    <m:r>
                      <m:rPr>
                        <m:nor/>
                      </m:rPr>
                      <a:rPr lang="en-US"/>
                      <m:t>ach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user</m:t>
                    </m:r>
                    <m:r>
                      <m:rPr>
                        <m:nor/>
                      </m:rPr>
                      <a:rPr lang="en-US"/>
                      <m:t>’</m:t>
                    </m:r>
                    <m:r>
                      <m:rPr>
                        <m:nor/>
                      </m:rPr>
                      <a:rPr lang="en-US"/>
                      <m:t>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SINR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requirement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This is a </a:t>
                </a:r>
                <a:r>
                  <a:rPr lang="en-US" dirty="0">
                    <a:solidFill>
                      <a:srgbClr val="7030A0"/>
                    </a:solidFill>
                  </a:rPr>
                  <a:t>radar-priority DFRC design</a:t>
                </a:r>
                <a:r>
                  <a:rPr lang="en-US" dirty="0"/>
                  <a:t>.</a:t>
                </a:r>
              </a:p>
              <a:p>
                <a:pPr lvl="1"/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8944EC-1074-9A5A-099B-7166ABC78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3E400-A773-36C3-DFAC-96A943B5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209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5BEE-D306-68AE-ECCF-88F55538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6564F-9C58-32A1-2D68-B0342EB36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Remark 3: Communication-Priority Case</a:t>
                </a:r>
              </a:p>
              <a:p>
                <a:pPr lvl="2"/>
                <a:r>
                  <a:rPr lang="en-US" dirty="0"/>
                  <a:t>Set: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Then: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</a:t>
                </a:r>
                <a:r>
                  <a:rPr lang="en-US" dirty="0">
                    <a:solidFill>
                      <a:srgbClr val="7030A0"/>
                    </a:solidFill>
                  </a:rPr>
                  <a:t>DPSL constraints become dominant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6564F-9C58-32A1-2D68-B0342EB36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3F8F3-CC4B-B21F-E42A-6682BC9F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4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2906-A47C-F1FB-4604-2BD216D2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BEA79-34B4-DE44-09F9-9F75217E8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lim>
                    </m:limLow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with: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Meaning: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maximize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worst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user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SINR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while guaranteeing: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radar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DPSL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requirements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is a </a:t>
                </a:r>
                <a:r>
                  <a:rPr lang="en-US" dirty="0">
                    <a:solidFill>
                      <a:srgbClr val="7030A0"/>
                    </a:solidFill>
                  </a:rPr>
                  <a:t>communication-priority DFRC design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BEA79-34B4-DE44-09F9-9F75217E8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7E9A0-A9F9-006B-2872-0468E726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200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B2AB-6F92-DB08-E0B1-6DA366E6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8FE50-79F2-EBF0-3A6A-D41ECE77D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Difficult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nonconvex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generally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NP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hard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because: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variables appear in both numerator and denominator.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Why Pareto Boundary Helps</a:t>
                </a:r>
              </a:p>
              <a:p>
                <a:pPr lvl="1"/>
                <a:r>
                  <a:rPr lang="en-US" dirty="0"/>
                  <a:t>From Lemma 1: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normal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 the best operating points lie on: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instead of searching the whole region: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search only: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8FE50-79F2-EBF0-3A6A-D41ECE77D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41B25-662F-E4A2-CECB-062D1C61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300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442F-7A0F-ECD1-BE5F-7575C3F0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103A7C-6257-C6FA-BC05-518A9D8A1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Pareto Boundary Matters</a:t>
                </a:r>
              </a:p>
              <a:p>
                <a:pPr lvl="1"/>
                <a:r>
                  <a:rPr lang="en-US" dirty="0"/>
                  <a:t>From Lemma 1: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normal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solve: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ℛ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strictly increasing:</a:t>
                </a:r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1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Lemma 2: Statement</a:t>
                </a:r>
              </a:p>
              <a:p>
                <a:pPr lvl="1"/>
                <a:r>
                  <a:rPr lang="en-US" dirty="0"/>
                  <a:t>If: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is strictly increasing,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/>
                  <a:t> is compact and normal, then the global optimum of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ℛ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is attained on: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Pareto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boundary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103A7C-6257-C6FA-BC05-518A9D8A1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911F1-81CE-44DA-8EB3-F09AFB46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2434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4349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7C4A-A34E-FF5A-6A6E-1E072D97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93988-7820-4D51-83F7-65BD92540D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Lemma 2: Proof Idea</a:t>
                </a:r>
              </a:p>
              <a:p>
                <a:pPr lvl="1"/>
                <a:r>
                  <a:rPr lang="en-US" dirty="0"/>
                  <a:t>Assume a global optimum exists inside the region: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not Pareto optimal, there exists: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such that: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element-wise.</a:t>
                </a:r>
              </a:p>
              <a:p>
                <a:pPr lvl="1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strictly increasing: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cannot be the best point.</a:t>
                </a:r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93988-7820-4D51-83F7-65BD92540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0C953-2804-AAF2-85FC-40AF6C83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511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A984-86A5-52BF-32D2-49D1199A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C6A88-43B3-ADE9-1D85-877D5E5173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Fairness Profile to Ray Search</a:t>
                </a:r>
              </a:p>
              <a:p>
                <a:pPr lvl="1"/>
                <a:r>
                  <a:rPr lang="en-US" dirty="0"/>
                  <a:t>Previous utility: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Let the common improvement level be: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 Then: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C6A88-43B3-ADE9-1D85-877D5E5173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B73C1-D6FE-D039-1B4B-6B5ADE3B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3FFC5-991F-BEE3-2C0E-B0A777F45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725" y="2046912"/>
            <a:ext cx="5969073" cy="2579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0FA004-C4F2-83FE-A942-76304302541B}"/>
              </a:ext>
            </a:extLst>
          </p:cNvPr>
          <p:cNvSpPr txBox="1"/>
          <p:nvPr/>
        </p:nvSpPr>
        <p:spPr>
          <a:xfrm>
            <a:off x="7311006" y="4521667"/>
            <a:ext cx="38547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Fig. 2. Illustration of bisection search   on the pareto boundary of achievable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941769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B30F-BF39-68D8-8F69-8B943BAA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66EE4-52D9-3D5C-0322-35657F06D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Fairness Profile to Ray Search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Feasible transmit strategy problem with fixed SINR and DPSL constraint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find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,……,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,….,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Fixed DPSL of the sidelobe angular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Fixed SINR of the CU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1"/>
                <a:endParaRPr lang="en-US" b="0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66EE4-52D9-3D5C-0322-35657F06D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BF3A4-AB12-0B05-CC43-E3A5AE7A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70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CE50-D3AF-7D4D-ACBA-E9919719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90AAE5-7F89-3B7A-801B-980D088E5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Fairness Profile to Ray Search</a:t>
                </a: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Fixed SINR and DPSL Targets</a:t>
                </a:r>
              </a:p>
              <a:p>
                <a:pPr lvl="2"/>
                <a:r>
                  <a:rPr lang="en-US" dirty="0"/>
                  <a:t>Define fixed targets: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for a 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Increasing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means: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higher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SINR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targets</m:t>
                    </m:r>
                    <m:r>
                      <m:rPr>
                        <m:nor/>
                      </m:rPr>
                      <a:rPr lang="en-US" b="0"/>
                      <m:t> + </m:t>
                    </m:r>
                    <m:r>
                      <m:rPr>
                        <m:nor/>
                      </m:rPr>
                      <a:rPr lang="en-US" b="0"/>
                      <m:t>higher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DPSL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targets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Vector-Valued Ray Function</a:t>
                </a:r>
              </a:p>
              <a:p>
                <a:pPr lvl="2"/>
                <a:r>
                  <a:rPr lang="en-US" dirty="0"/>
                  <a:t>Define: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,…..,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Using: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,…..,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……,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is a one-dimensional line/ray in: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ar-AE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90AAE5-7F89-3B7A-801B-980D088E5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9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881D0-4323-45F9-D816-E8B65E5D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823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659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9BA6-D22A-E0B0-BA11-AA7B9BF0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6D51F5-A1FF-FDAD-50CC-1EF5C552B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Fairness Profile to Ray Search</a:t>
                </a:r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Feasibility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For a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solve: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dirty="0"/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 SINR Constraint in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From Eq. (2):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Constraint: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6D51F5-A1FF-FDAD-50CC-1EF5C552B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8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E214B-385E-A910-6EA9-880F9FAD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692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E7F0-963D-0592-C641-21C94104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C401E8-3FCD-5FC5-1CFE-11CC715924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Fairness Profile to Ray Search</a:t>
                </a:r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Linear Form of SINR Constraint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 is fixed: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Expand: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Thus, for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the SINR constraint is linear in: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 DPSL Constraint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From Eq. (5):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Constraint: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becomes: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is linear in: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C401E8-3FCD-5FC5-1CFE-11CC715924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7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E739C-9E97-338A-C6A7-C8E9DFEC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512428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2919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24EF-6AED-0DE3-3908-8A38EA4B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1137B1-DA69-B4FC-2848-A09DF4242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From Fairness Profile to Ray Search</a:t>
                </a:r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Main-Beam Width Constraints</a:t>
                </a:r>
              </a:p>
              <a:p>
                <a:pPr lvl="2"/>
                <a:r>
                  <a:rPr lang="en-US" dirty="0"/>
                  <a:t>From Eq. (6):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Using Eq. (4):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Convex</a:t>
                </a:r>
              </a:p>
              <a:p>
                <a:pPr lvl="1"/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 are constants.</a:t>
                </a:r>
              </a:p>
              <a:p>
                <a:pPr lvl="2"/>
                <a:r>
                  <a:rPr lang="en-US" dirty="0"/>
                  <a:t>Then all constraints become linear in: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is a semidefinite constraint.</a:t>
                </a:r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ar-AE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SDP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feasibility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</m:oMath>
                </a14:m>
                <a:endParaRPr lang="ar-AE" b="0" dirty="0"/>
              </a:p>
              <a:p>
                <a:endParaRPr lang="ar-AE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1137B1-DA69-B4FC-2848-A09DF4242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90FAF-F7D8-5BB9-FD03-47EBFD9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7048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096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396D-31F6-9B81-4807-BFEEE4E5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AADB41-2AAD-6814-254E-65CDC141B8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Proposition 1: Bisection Search</a:t>
                </a:r>
              </a:p>
              <a:p>
                <a:pPr lvl="1"/>
                <a:r>
                  <a:rPr lang="en-US" dirty="0"/>
                  <a:t>Assume: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∉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dirty="0"/>
                  <a:t> increases linearly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there exists: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such that: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can be solved by searching: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Feasible Case in Bisection</a:t>
                </a:r>
              </a:p>
              <a:p>
                <a:pPr lvl="2"/>
                <a:r>
                  <a:rPr lang="en-US" dirty="0"/>
                  <a:t>Choose midpoint: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with: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4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sz="140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40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is feasible: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sz="1400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1400" dirty="0"/>
                  <a:t> then all smaller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400" dirty="0"/>
                  <a:t> are also feasible: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ar-AE" sz="1400" dirty="0"/>
              </a:p>
              <a:p>
                <a:pPr lvl="3"/>
                <a:r>
                  <a:rPr lang="en-US" sz="1400" dirty="0"/>
                  <a:t>So, update: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ar-AE" sz="1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AADB41-2AAD-6814-254E-65CDC141B8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6A984-857D-B275-005E-198C0036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18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23C9-E1A7-AB47-6CD7-2FE14950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382E2-96A8-E5E5-CE57-36404FCCF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Proposition 1: Bisection Search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Infeasible Case in Bisection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is infeasible: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∉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too demanding.</a:t>
                </a:r>
              </a:p>
              <a:p>
                <a:pPr lvl="2"/>
                <a:r>
                  <a:rPr lang="en-US" dirty="0"/>
                  <a:t>All larger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are also infeasible: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 update: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Continue until: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∣&lt;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l-G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382E2-96A8-E5E5-CE57-36404FCCF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817B0-6245-F7AB-7AE1-A7B62146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271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08DB-2015-55CB-05E6-041212CC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07A31D-C197-54D1-7816-27050E8E9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Proposition 1: Bisection Search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Final Solution</a:t>
                </a:r>
              </a:p>
              <a:p>
                <a:pPr lvl="2"/>
                <a:r>
                  <a:rPr lang="en-US" dirty="0"/>
                  <a:t>After convergence: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defines the Pareto point: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,…..,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…..,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Then 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one final time to obtain: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,…..,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These covariance matrices achieve the selected Pareto-optimal DFRC operating point.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07A31D-C197-54D1-7816-27050E8E9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E430F-575D-3D14-B0EF-57CD674F9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665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6E39-1DAE-5265-509F-0FCFB1B6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425F8E-5C79-0F8F-5ECA-E7E47A73CA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Algorithm 1 Summary</a:t>
                </a:r>
              </a:p>
              <a:p>
                <a:pPr lvl="1"/>
                <a:r>
                  <a:rPr lang="en-US" dirty="0"/>
                  <a:t>Initialize: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with: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∉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Repeat: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feasible: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If infeasible: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Stop when: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∣&lt;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l-G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425F8E-5C79-0F8F-5ECA-E7E47A73CA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2C8D3-9474-65D1-F541-7D4D8794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211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BFC1-D426-9D53-5D65-FE1358D81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2528BC-C362-6A4E-DA79-866A3EAB3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Algorithm Complexity</a:t>
                </a:r>
              </a:p>
              <a:p>
                <a:pPr lvl="1"/>
                <a:r>
                  <a:rPr lang="en-US" dirty="0"/>
                  <a:t>Number of bisection iterations: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iter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matrix variables of size: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linear constraints.</a:t>
                </a:r>
              </a:p>
              <a:p>
                <a:pPr lvl="1"/>
                <a:r>
                  <a:rPr lang="en-US" dirty="0"/>
                  <a:t>Interior-point complexity: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Total complexity is polynomial in: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iter</m:t>
                        </m:r>
                      </m:sub>
                    </m:sSub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2528BC-C362-6A4E-DA79-866A3EAB3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CAECA-887B-5EF8-A0BD-FBBDA787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363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9796-1F49-8DCD-55C9-1F024BD4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Radar and Communication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E8366-A134-BB8F-722A-B602030331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Proof of Proposition 1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/>
                      <m:t>maximize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fairness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profile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utility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is converted into: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one</m:t>
                    </m:r>
                    <m:r>
                      <m:rPr>
                        <m:nor/>
                      </m:rPr>
                      <a:rPr lang="en-US" b="0"/>
                      <m:t>−</m:t>
                    </m:r>
                    <m:r>
                      <m:rPr>
                        <m:nor/>
                      </m:rPr>
                      <a:rPr lang="en-US" b="0"/>
                      <m:t>dimensional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search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over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/>
                      <m:t>check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feasibility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SINR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DPSL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targets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Because: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ℛ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normal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ray: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intersects: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ℛ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exactly once.</a:t>
                </a:r>
              </a:p>
              <a:p>
                <a:pPr lvl="1"/>
                <a:r>
                  <a:rPr lang="en-US" dirty="0"/>
                  <a:t>Final result: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Bisection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finds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Pareto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optimal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DFRC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beamforming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solution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E8366-A134-BB8F-722A-B60203033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5486A-74AD-90E2-D7B5-A8E4315B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1645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D10F-7DE9-A568-59C2-94CDAAFC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365856-AAE4-8F64-BF98-9F86C6B46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Goal of Section III-C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The transmit covariance matrix for CU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The rank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determines the number of streams transmitted to CU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number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transmitted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streams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goal is to prove: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Meaning: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single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stream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transmission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sufficient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optimality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365856-AAE4-8F64-BF98-9F86C6B46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8F590-C78B-6755-AC1D-B15CBB2A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820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27CB-19E4-0854-97AD-12193590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14862-931F-9D86-7B2F-0FA6ACEC4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Connection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The paper states: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To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prove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rank</m:t>
                    </m:r>
                    <m:r>
                      <m:rPr>
                        <m:nor/>
                      </m:rPr>
                      <a:rPr lang="en-US" b="0"/>
                      <m:t>−</m:t>
                    </m:r>
                    <m:r>
                      <m:rPr>
                        <m:nor/>
                      </m:rPr>
                      <a:rPr lang="en-US" b="0"/>
                      <m:t>one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optimality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for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it is sufficient to prove rank-one optimality for the feasibility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Reason: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bisection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search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over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For each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we solve: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Thus: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solved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through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repeated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feasibility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checks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 b="0" smtClean="0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So,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rank-one optimal covariance matrices,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can also be achieved by rank-one               covariance matrices.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14862-931F-9D86-7B2F-0FA6ACEC4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99A25-AAC6-133C-7D55-0F6488E4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1011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7CA1-9C8C-1FAA-CFC8-C9903848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DCE952-FA2E-B451-5A16-9A99E3114A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as Power Minimization</a:t>
                </a:r>
              </a:p>
              <a:p>
                <a:pPr lvl="2"/>
                <a:r>
                  <a:rPr lang="en-US" dirty="0"/>
                  <a:t>The feasibility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is rewritten as: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Radar constraints: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Communication constraints: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DCE952-FA2E-B451-5A16-9A99E3114A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54F1C-3C48-37FE-3C7F-34A7B916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80B1F6-419A-91FC-DD8D-6EB6048EB790}"/>
                  </a:ext>
                </a:extLst>
              </p:cNvPr>
              <p:cNvSpPr txBox="1"/>
              <p:nvPr/>
            </p:nvSpPr>
            <p:spPr>
              <a:xfrm>
                <a:off x="6501468" y="2432808"/>
                <a:ext cx="545703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FF"/>
                    </a:solidFill>
                  </a:rPr>
                  <a:t>Matrices Used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b="1" dirty="0"/>
                  <a:t>     </a:t>
                </a:r>
                <a:r>
                  <a:rPr lang="en-US" dirty="0"/>
                  <a:t>The paper defines:</a:t>
                </a:r>
              </a:p>
              <a:p>
                <a:pPr lvl="1"/>
                <a:endParaRPr lang="en-US" dirty="0"/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2"/>
                <a:endParaRPr lang="ar-AE" b="1" dirty="0"/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2"/>
                <a:endParaRPr lang="ar-AE" b="1" dirty="0"/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These matrices transform the main-beam and DPSL constraints into trace forms.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80B1F6-419A-91FC-DD8D-6EB6048EB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468" y="2432808"/>
                <a:ext cx="5457037" cy="3139321"/>
              </a:xfrm>
              <a:prstGeom prst="rect">
                <a:avLst/>
              </a:prstGeom>
              <a:blipFill>
                <a:blip r:embed="rId3"/>
                <a:stretch>
                  <a:fillRect l="-782" t="-971" r="-1564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5545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2284-B213-9EED-75B1-2EB56DA5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68488D-A924-5635-86C2-B1F0901855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Represents Feasibility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minimizes total transmit power: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If the optimal solution satisfies: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Then the original power constraint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is satisfied: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ar-AE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feasible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reaches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Expansion of Main-Beam Constraint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From Eq. (6):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Trace form: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1"/>
                <a:endParaRPr lang="en-US" b="0" dirty="0"/>
              </a:p>
              <a:p>
                <a:pPr lvl="2"/>
                <a:endParaRPr lang="ar-AE" b="0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68488D-A924-5635-86C2-B1F090185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0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AAAAD-29CE-DF6F-19DE-3DD593A8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70956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742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6C98-CD87-0611-B151-50AC7C9D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2440F1-DA68-851E-9458-B72389855D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Expansion of Main-Beam Constraint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From Eq. (6):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Trace form: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Expansion of DPSL Constraint</a:t>
                </a:r>
              </a:p>
              <a:p>
                <a:pPr lvl="2"/>
                <a:r>
                  <a:rPr lang="en-US" dirty="0"/>
                  <a:t>From Eq. (5):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DPSL constraint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Trace form: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b="0" dirty="0"/>
              </a:p>
              <a:p>
                <a:pPr lvl="2"/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2440F1-DA68-851E-9458-B72389855D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0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4CBD6-2409-7B89-E7D5-27346DE2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870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F1B3-3BBA-7621-D1CA-1631F2E8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8480FB-0F73-0E76-199A-DCDAD0B04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Expansion of SINR Constraint</a:t>
                </a:r>
              </a:p>
              <a:p>
                <a:pPr lvl="2"/>
                <a:r>
                  <a:rPr lang="en-US" dirty="0"/>
                  <a:t>From Eq. (2):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SINR constraint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Equivalent form: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8480FB-0F73-0E76-199A-DCDAD0B04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589B-A95A-C7E3-256B-4FED17D3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1488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CD3E-4CF4-690C-1EBE-5B4B711DB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F0D86-B5A8-6E17-A335-932917B6B0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4978" y="1653885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SINR Constraint in Trace Form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Trace form: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Three Pareto Boundary Cases</a:t>
                </a:r>
              </a:p>
              <a:p>
                <a:pPr lvl="2"/>
                <a:r>
                  <a:rPr lang="en-US" dirty="0"/>
                  <a:t>The paper considers three cases on the Pareto boundary: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/>
                      <m:t>1</m:t>
                    </m:r>
                    <m:r>
                      <m:rPr>
                        <m:nor/>
                      </m:rPr>
                      <a:rPr lang="ar-AE"/>
                      <m:t>.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/>
                      <m:t>Radar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constrained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case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/>
                      <m:t>2</m:t>
                    </m:r>
                    <m:r>
                      <m:rPr>
                        <m:nor/>
                      </m:rPr>
                      <a:rPr lang="ar-AE"/>
                      <m:t>.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/>
                      <m:t>Communication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constrained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case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/>
                      <m:t>3</m:t>
                    </m:r>
                    <m:r>
                      <m:rPr>
                        <m:nor/>
                      </m:rPr>
                      <a:rPr lang="ar-AE"/>
                      <m:t>.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/>
                      <m:t>Both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constrained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case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 rank-one optimality is proved separately: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Lemma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Radar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constrained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case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Lemma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Communication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constrained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case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Lemma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Both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constrained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case</m:t>
                    </m:r>
                  </m:oMath>
                </a14:m>
                <a:endParaRPr lang="en-US" b="0" dirty="0"/>
              </a:p>
              <a:p>
                <a:pPr lvl="2"/>
                <a:endParaRPr lang="ar-AE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F0D86-B5A8-6E17-A335-932917B6B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4978" y="1653885"/>
                <a:ext cx="10515600" cy="4527272"/>
              </a:xfrm>
              <a:blipFill>
                <a:blip r:embed="rId2"/>
                <a:stretch>
                  <a:fillRect l="-522" t="-1211" b="-13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1D3E9-9FA6-0056-65A4-A90653B4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025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F217-2EF2-F917-B34F-FADC6BB4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78CFE-36E9-AFD2-3E80-25DF658DDB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Radar-Constrained Case</a:t>
                </a:r>
              </a:p>
              <a:p>
                <a:pPr lvl="2"/>
                <a:r>
                  <a:rPr lang="en-US" dirty="0"/>
                  <a:t>In the radar-constrained case: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communication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are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inactive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78CFE-36E9-AFD2-3E80-25DF658DDB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46599-F9EE-6EB9-5D6D-3395F94D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5332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E03D-3C46-F9EB-A3D3-2A1415C6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64F41-BD59-1DB7-6D4C-BCA763A242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3: Rank-one optimality for radar-constrained case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 radar constraints.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is feasible, then it always has an optimal solution: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such that: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Proof is given in: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Appendix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i="0" smtClean="0"/>
                      <m:t>B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64F41-BD59-1DB7-6D4C-BCA763A24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A3A0E-3615-82E2-822C-C6C117C8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597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B102-EED4-FBB1-C1A8-D2FDAC72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EDBA1-8FE1-4D11-5794-95DE70055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B: </a:t>
                </a:r>
                <a:r>
                  <a:rPr lang="en-US" dirty="0" err="1">
                    <a:solidFill>
                      <a:srgbClr val="7030A0"/>
                    </a:solidFill>
                  </a:rPr>
                  <a:t>Lagrangian</a:t>
                </a:r>
                <a:r>
                  <a:rPr lang="en-US" dirty="0">
                    <a:solidFill>
                      <a:srgbClr val="7030A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The </a:t>
                </a:r>
                <a:r>
                  <a:rPr lang="en-US" dirty="0" err="1"/>
                  <a:t>Lagrangian</a:t>
                </a:r>
                <a:r>
                  <a:rPr lang="en-US" dirty="0"/>
                  <a:t> is: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𝛀</m:t>
                        </m:r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⪰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and: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The dual variables are: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Complementary Slackness</a:t>
                </a:r>
              </a:p>
              <a:p>
                <a:pPr lvl="3"/>
                <a:r>
                  <a:rPr lang="en-US" dirty="0"/>
                  <a:t>At optimum: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Since: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the paper obtains: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This gives the first rank condition: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EDBA1-8FE1-4D11-5794-95DE70055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FB61E-AF7B-8B14-85AA-EE7B14D8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605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A4B-B160-937C-982B-A8FAF857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0D262A-C90C-754F-3771-F73E991FF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Stationarity</a:t>
                </a:r>
              </a:p>
              <a:p>
                <a:pPr lvl="2"/>
                <a:r>
                  <a:rPr lang="en-US" dirty="0"/>
                  <a:t>Derivative of the </a:t>
                </a:r>
                <a:r>
                  <a:rPr lang="en-US" dirty="0" err="1"/>
                  <a:t>Lagrangian</a:t>
                </a:r>
                <a:r>
                  <a:rPr lang="en-US" dirty="0"/>
                  <a:t> at optimum: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𝛀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Thus: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Substitute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Then the paper writes: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Expansion Using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1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From Eq. (18):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endParaRPr lang="ar-AE" b="1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0D262A-C90C-754F-3771-F73E991FF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A1290-2CCB-EB89-AF6B-8BD75990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89412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936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80D2-06CC-8A7D-056C-FDB2C77B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21B27-A919-E4C8-9BDC-4480F115CE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and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b="1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lang="en-US" dirty="0"/>
                  <a:t> is full-rank: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Also, not all dual variables can be zero. 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Final Rank Argument</a:t>
                </a:r>
              </a:p>
              <a:p>
                <a:pPr lvl="2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sz="1400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sz="1400" b="0" dirty="0"/>
              </a:p>
              <a:p>
                <a:pPr lvl="2"/>
                <a:r>
                  <a:rPr lang="en-US" dirty="0"/>
                  <a:t>the rank inequality gives: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1"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1"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sz="1400" b="0" dirty="0"/>
              </a:p>
              <a:p>
                <a:pPr lvl="2"/>
                <a:r>
                  <a:rPr lang="en-US" dirty="0"/>
                  <a:t>Using: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1"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ar-AE" sz="1400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1"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400" b="0" dirty="0"/>
              </a:p>
              <a:p>
                <a:pPr lvl="2"/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21B27-A919-E4C8-9BDC-4480F115CE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BDA7C-3A1F-24FA-6444-FED0717D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4598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68041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A7D2-86B6-B37C-97BF-02550FB5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BD702-6BF1-A703-96A6-9657C705C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Final Rank Argument</a:t>
                </a:r>
              </a:p>
              <a:p>
                <a:pPr lvl="2"/>
                <a:r>
                  <a:rPr lang="en-US" dirty="0"/>
                  <a:t>we get: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Together with: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Because: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𝐙</m:t>
                        </m:r>
                        <m:sSub>
                          <m:sSubPr>
                            <m:ctrlPr>
                              <a:rPr lang="ar-AE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and: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1400" dirty="0"/>
              </a:p>
              <a:p>
                <a:pPr lvl="2"/>
                <a:r>
                  <a:rPr lang="en-US" dirty="0"/>
                  <a:t>the optimal solution satisfies: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rank</m:t>
                        </m:r>
                      </m:fName>
                      <m:e>
                        <m:d>
                          <m:d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BD702-6BF1-A703-96A6-9657C705C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6CDE6-9D5D-F629-7A07-D69CCDA6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4961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3E5D-6DD6-7391-BCEC-07A4F718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380724-8B92-95C3-503E-C8BE1778E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Communication-Constrained Case</a:t>
                </a:r>
              </a:p>
              <a:p>
                <a:pPr lvl="2"/>
                <a:r>
                  <a:rPr lang="en-US" dirty="0"/>
                  <a:t>In the communication-constrained case: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radar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are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inactive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 problem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4"/>
                <a:r>
                  <a:rPr lang="en-US" dirty="0"/>
                  <a:t>subject to: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5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5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5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sz="1600" dirty="0">
                    <a:solidFill>
                      <a:srgbClr val="7030A0"/>
                    </a:solidFill>
                  </a:rPr>
                  <a:t>Lemma 4: Rank-one optimality for communication-constrained case</a:t>
                </a:r>
              </a:p>
              <a:p>
                <a:pPr lvl="2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, if it is feasible, then there always exists an optimal solution: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such that: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sz="1400" dirty="0"/>
                  <a:t>Proof is given in:</a:t>
                </a:r>
              </a:p>
              <a:p>
                <a:pPr lvl="2"/>
                <a:r>
                  <a:rPr lang="en-US" sz="1200" b="0" dirty="0"/>
                  <a:t>Appendix C</a:t>
                </a:r>
                <a:endParaRPr lang="ar-AE" sz="1200" b="0" dirty="0"/>
              </a:p>
              <a:p>
                <a:pPr lvl="4"/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380724-8B92-95C3-503E-C8BE1778E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8C062-5D86-049A-6273-409A0427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5679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30FD-878E-6D8B-F173-E74FE4D6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B1199-CB76-F440-30CE-DE625C50B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4: Rank-one optimality for communication-constrained case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Appendix C: Separable SDP Result</a:t>
                </a:r>
              </a:p>
              <a:p>
                <a:pPr lvl="3"/>
                <a:r>
                  <a:rPr lang="en-US" dirty="0"/>
                  <a:t>Appendix C uses the result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37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Lemma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ar-AE" dirty="0"/>
                  <a:t>.</a:t>
                </a:r>
              </a:p>
              <a:p>
                <a:pPr lvl="3"/>
                <a:r>
                  <a:rPr lang="en-US" dirty="0"/>
                  <a:t>Consider the separable SDP:</a:t>
                </a:r>
              </a:p>
              <a:p>
                <a:pPr lvl="4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𝑚𝑙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ar-AE" b="0" dirty="0"/>
              </a:p>
              <a:p>
                <a:pPr lvl="4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≥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Appendix C: Rank Bound</a:t>
                </a:r>
              </a:p>
              <a:p>
                <a:pPr lvl="3"/>
                <a:r>
                  <a:rPr lang="en-US" sz="1400" dirty="0"/>
                  <a:t>If the separable SDP is feasible, it has an optimal solution: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ar-AE" sz="1400" b="0" dirty="0"/>
              </a:p>
              <a:p>
                <a:pPr lvl="3"/>
                <a:r>
                  <a:rPr lang="en-US" sz="1400" dirty="0"/>
                  <a:t>such that: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rank</m:t>
                                </m:r>
                                <m: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sz="1400" b="1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</m:e>
                                      <m:sub>
                                        <m: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  <m:sup>
                                        <m: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ar-AE" sz="1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ar-AE" sz="1400" b="0" dirty="0"/>
              </a:p>
              <a:p>
                <a:pPr lvl="3"/>
                <a:r>
                  <a:rPr lang="en-US" sz="1400" dirty="0"/>
                  <a:t>Applying this result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/>
                  <a:t>, the paper obtains: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rank</m:t>
                                </m:r>
                                <m: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sz="1400" b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e>
                                      <m:sub>
                                        <m: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ar-AE" sz="1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sz="1400" b="0" dirty="0"/>
              </a:p>
              <a:p>
                <a:pPr lvl="2"/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B1199-CB76-F440-30CE-DE625C50B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4873F-F0A7-8898-3828-1AE68272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3712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2DE4-25A1-95EF-B22E-DF443D15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57AAF7-9BB6-5F45-7E0C-D38BAA966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5312" y="1645496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4: Rank-one optimality for communication-constrained case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Appendix C: Final Rank-One Conclusion</a:t>
                </a:r>
              </a:p>
              <a:p>
                <a:pPr lvl="3"/>
                <a:r>
                  <a:rPr lang="en-US" dirty="0"/>
                  <a:t>Due to the SINR constraint of each CU: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Therefore: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Since:</a:t>
                </a:r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rank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and 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paper concludes: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57AAF7-9BB6-5F45-7E0C-D38BAA966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5312" y="1645496"/>
                <a:ext cx="10515600" cy="4527272"/>
              </a:xfrm>
              <a:blipFill>
                <a:blip r:embed="rId2"/>
                <a:stretch>
                  <a:fillRect l="-522" t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251A5-D5D2-596B-0965-11BA8C17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490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D52D-7039-1178-230F-705ED730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9684B0-1507-61A1-736A-58398761D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1451" y="1653885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Both-Constrained Case</a:t>
                </a:r>
              </a:p>
              <a:p>
                <a:pPr lvl="2"/>
                <a:r>
                  <a:rPr lang="en-US" dirty="0"/>
                  <a:t>In the both-constrained case: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radar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and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communication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are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both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active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 paper proves rank-one optimality through Lemma 5.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Lemma 5: Rank-one optimality for both-constrained case</a:t>
                </a:r>
              </a:p>
              <a:p>
                <a:pPr lvl="3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if it is feasible and both-constrained, then it always has an optimal solution: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such that: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Proof is given in: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Appendix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D</m:t>
                    </m:r>
                  </m:oMath>
                </a14:m>
                <a:endParaRPr lang="ar-AE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9684B0-1507-61A1-736A-58398761D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1451" y="1653885"/>
                <a:ext cx="10515600" cy="4527272"/>
              </a:xfrm>
              <a:blipFill>
                <a:blip r:embed="rId2"/>
                <a:stretch>
                  <a:fillRect l="-522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20714-476E-05E4-2E23-05FA0A1A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8480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3C88-DA1F-74CB-C9A5-50875E04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277E0D-451B-A583-5851-197DE5DF9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Transmit Signal Decomposition</a:t>
                </a:r>
              </a:p>
              <a:p>
                <a:pPr lvl="2"/>
                <a:r>
                  <a:rPr lang="en-US" dirty="0"/>
                  <a:t>Appendix D rewrites the transmit signal as: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dedicated radar signal.</a:t>
                </a:r>
              </a:p>
              <a:p>
                <a:pPr lvl="2"/>
                <a:r>
                  <a:rPr lang="en-US" dirty="0"/>
                  <a:t>The transmit strategy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277E0D-451B-A583-5851-197DE5DF9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0C68-EBDB-43E9-4591-0B43FC36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93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CC43-54DA-1D27-EF2A-26F94E37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36C7EC-6AB7-4560-A04F-E41CB211C5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Reformulated Problem</a:t>
                </a:r>
              </a:p>
              <a:p>
                <a:pPr lvl="1"/>
                <a:r>
                  <a:rPr lang="en-US" dirty="0"/>
                  <a:t>The problem becomes: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Radar constraints: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36C7EC-6AB7-4560-A04F-E41CB211C5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3D14C-39A1-049E-DAF9-E45AD91D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8168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4644-13E9-6960-70B8-99F0970C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ED61B-30FC-5F16-2A88-D41E01FE9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Communication Constraint With Dedicated Radar Signal</a:t>
                </a:r>
              </a:p>
              <a:p>
                <a:pPr lvl="2"/>
                <a:r>
                  <a:rPr lang="en-US" sz="1800" dirty="0"/>
                  <a:t>The communication constraint becomes: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Important effect: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appears as extra interference to CU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r>
                  <a:rPr lang="en-US" dirty="0"/>
                  <a:t>The paper states: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ar-AE" b="1" dirty="0"/>
              </a:p>
              <a:p>
                <a:pPr lvl="3"/>
                <a:r>
                  <a:rPr lang="en-US" dirty="0"/>
                  <a:t>because the dedicated radar signal incurs additional interference to the CUs.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ED61B-30FC-5F16-2A88-D41E01FE9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6220A-41B7-F888-BB33-8DD2FE89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1952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0FD2-1247-CD1D-B488-4D10B17F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774AB-0DC3-FEF4-438E-F48D676CF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577876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</a:t>
                </a:r>
                <a:r>
                  <a:rPr lang="en-US" dirty="0" err="1">
                    <a:solidFill>
                      <a:srgbClr val="7030A0"/>
                    </a:solidFill>
                  </a:rPr>
                  <a:t>Lagrangian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The </a:t>
                </a:r>
                <a:r>
                  <a:rPr lang="en-US" dirty="0" err="1"/>
                  <a:t>Lagrangian</a:t>
                </a:r>
                <a:r>
                  <a:rPr lang="en-US" dirty="0"/>
                  <a:t> is: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a:rPr lang="ar-AE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Complementary Slackness</a:t>
                </a:r>
              </a:p>
              <a:p>
                <a:pPr lvl="2"/>
                <a:r>
                  <a:rPr lang="en-US" dirty="0"/>
                  <a:t>At optimum: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 paper obtains: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Also, because: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one has: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774AB-0DC3-FEF4-438E-F48D676CF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5778760"/>
              </a:xfrm>
              <a:blipFill>
                <a:blip r:embed="rId2"/>
                <a:stretch>
                  <a:fillRect l="-522" t="-1055" b="-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DDA12-C78B-B0C9-F1A4-041409A5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75990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58172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2087-0D48-F95B-8943-9EC7CA1B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8A510-B5D9-0795-8107-943C19472B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Stationarity Conditions</a:t>
                </a:r>
              </a:p>
              <a:p>
                <a:pPr lvl="2"/>
                <a:r>
                  <a:rPr lang="en-US" dirty="0"/>
                  <a:t>The derivative of the </a:t>
                </a:r>
                <a:r>
                  <a:rPr lang="en-US" dirty="0" err="1"/>
                  <a:t>Lagrangian</a:t>
                </a:r>
                <a:r>
                  <a:rPr lang="en-US" dirty="0"/>
                  <a:t> at the optimum gives: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and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Thus: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and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8A510-B5D9-0795-8107-943C19472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DC1EA-7DE7-D16E-82AC-226E186F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1445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FE8D-B881-BBA0-A38B-0BE7DC590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11" y="789054"/>
            <a:ext cx="10515600" cy="681250"/>
          </a:xfrm>
        </p:spPr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EB6A9-71CC-D8B1-87D2-80CE623CB2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Rank Argument</a:t>
                </a:r>
              </a:p>
              <a:p>
                <a:pPr lvl="2"/>
                <a:r>
                  <a:rPr lang="en-US" dirty="0"/>
                  <a:t>From: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 paper obtains: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>
                                            <a:latin typeface="Cambria Math" panose="02040503050406030204" pitchFamily="18" charset="0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and: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rank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>
                                            <a:latin typeface="Cambria Math" panose="02040503050406030204" pitchFamily="18" charset="0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Together with: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we obtain: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EB6A9-71CC-D8B1-87D2-80CE623CB2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9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15724-5865-22A6-44E0-AEF3D64D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287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01BD-17E1-FA67-A75E-BAD3C9FA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4503B-E90E-405C-D84D-9A9DA13571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Appendix D: Final Rank-One Result</a:t>
                </a:r>
              </a:p>
              <a:p>
                <a:pPr lvl="2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and: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with: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 optimal covariance matrices satisfy: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proves Lemma 5.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4503B-E90E-405C-D84D-9A9DA1357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1A091-3827-C762-C456-3A02BBBC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5499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AFBA-8ACA-26EC-921A-8A66FA64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E5594-11B4-21CC-3681-BFB2F8F24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Proposition 2: Optimality achieved by single-stream transmission</a:t>
                </a:r>
              </a:p>
              <a:p>
                <a:pPr lvl="2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if the problem is feasible, then there exists an optimal solution: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such that: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It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sufficient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consider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rank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one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covariance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matrices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Proof of Proposition 2</a:t>
                </a:r>
              </a:p>
              <a:p>
                <a:pPr lvl="2"/>
                <a:r>
                  <a:rPr lang="en-US" dirty="0"/>
                  <a:t>The proof follows directly from three cases: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Radar</m:t>
                    </m:r>
                    <m:r>
                      <m:rPr>
                        <m:nor/>
                      </m:rPr>
                      <a:rPr lang="en-US" b="0"/>
                      <m:t>−</m:t>
                    </m:r>
                    <m:r>
                      <m:rPr>
                        <m:nor/>
                      </m:rPr>
                      <a:rPr lang="en-US" b="0"/>
                      <m:t>constrained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case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Lemma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Communication</m:t>
                    </m:r>
                    <m:r>
                      <m:rPr>
                        <m:nor/>
                      </m:rPr>
                      <a:rPr lang="en-US" b="0"/>
                      <m:t>−</m:t>
                    </m:r>
                    <m:r>
                      <m:rPr>
                        <m:nor/>
                      </m:rPr>
                      <a:rPr lang="en-US" b="0"/>
                      <m:t>constrained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case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Lemma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Both</m:t>
                    </m:r>
                    <m:r>
                      <m:rPr>
                        <m:nor/>
                      </m:rPr>
                      <a:rPr lang="en-US" b="0"/>
                      <m:t>−</m:t>
                    </m:r>
                    <m:r>
                      <m:rPr>
                        <m:nor/>
                      </m:rPr>
                      <a:rPr lang="en-US" b="0"/>
                      <m:t>constrained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case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Lemma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/>
                      <m:t>can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achieve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optimality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single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stream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transmission</m:t>
                    </m:r>
                  </m:oMath>
                </a14:m>
                <a:endParaRPr lang="ar-AE" b="0" dirty="0"/>
              </a:p>
              <a:p>
                <a:pPr lvl="1"/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E5594-11B4-21CC-3681-BFB2F8F24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533A5-B771-B585-A0EB-0542E4FE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932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F7FD-EE39-AD8D-08A8-FC60CED3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Optimality Achieved by Single-Stream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477A6C-BBBF-45B6-21CB-FAC9FF8E0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Rank-One Optimality for Joint Radar-Communication Beamforming</a:t>
                </a:r>
                <a:endParaRPr lang="en-US" b="1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Final Conceptual Summary</a:t>
                </a:r>
              </a:p>
              <a:p>
                <a:pPr lvl="2"/>
                <a:r>
                  <a:rPr lang="en-US" dirty="0"/>
                  <a:t>The paper proves: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means: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does not need to be high-rank.</a:t>
                </a:r>
              </a:p>
              <a:p>
                <a:pPr lvl="3"/>
                <a:r>
                  <a:rPr lang="en-US" dirty="0"/>
                  <a:t>Each CU can be served using one stream.</a:t>
                </a:r>
              </a:p>
              <a:p>
                <a:pPr lvl="2"/>
                <a:r>
                  <a:rPr lang="en-US" dirty="0"/>
                  <a:t>Final message: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Pareto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optimal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DFRC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solution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achieved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single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stream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beamforming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477A6C-BBBF-45B6-21CB-FAC9FF8E0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F4147-94FC-5791-B072-78827471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4107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9349-863F-143B-BCC1-54FEE205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Hardware-</a:t>
            </a:r>
            <a:r>
              <a:rPr lang="en-US" sz="2800" b="0" dirty="0" err="1"/>
              <a:t>Impared</a:t>
            </a:r>
            <a:r>
              <a:rPr lang="en-US" sz="2800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A4A4E-2750-E4DB-085C-7A117791A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</a:p>
              <a:p>
                <a:pPr lvl="1"/>
                <a:r>
                  <a:rPr lang="en-US" dirty="0"/>
                  <a:t>Ideal transmitter model: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Hardware-impaired transmitter model: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Signal With Impairment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Expand: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desired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signal</m:t>
                        </m:r>
                      </m:lim>
                    </m:limLow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grow m:val="on"/>
                                <m:supHide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</m:e>
                            </m:nary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multi</m:t>
                        </m:r>
                        <m:r>
                          <m:rPr>
                            <m:nor/>
                          </m:rPr>
                          <a:rPr lang="en-US"/>
                          <m:t>−</m:t>
                        </m:r>
                        <m:r>
                          <m:rPr>
                            <m:nor/>
                          </m:rPr>
                          <a:rPr lang="en-US"/>
                          <m:t>user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interference</m:t>
                        </m:r>
                      </m:lim>
                    </m:limLow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hardware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distortion</m:t>
                        </m:r>
                      </m:lim>
                    </m:limLow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en-US"/>
                          <m:t>AWGN</m:t>
                        </m:r>
                      </m:lim>
                    </m:limLow>
                  </m:oMath>
                </a14:m>
                <a:endParaRPr lang="ar-AE" b="0" dirty="0"/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A4A4E-2750-E4DB-085C-7A117791A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9FBA2-81FC-C42F-2F03-D4D6A042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9772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F0A9-CE84-AC63-FF38-211AA9F9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5E5E0-7E28-615F-2814-006A79F1BD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Distortion Covariance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For antenna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𝚲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grow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rad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Where,</a:t>
                </a:r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Meaning of Antenna-Wise Distortion</a:t>
                </a:r>
              </a:p>
              <a:p>
                <a:pPr lvl="2"/>
                <a:r>
                  <a:rPr lang="en-US" dirty="0"/>
                  <a:t>Antenna-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transmit power: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𝚲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Transmit magnitude:</a:t>
                </a:r>
              </a:p>
              <a:p>
                <a:pPr lvl="3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𝚲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func>
                      </m:e>
                    </m:ra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Distortion magnitude: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transmit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magnitude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at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antenna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endParaRPr lang="ar-AE" b="0" dirty="0"/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5E5E0-7E28-615F-2814-006A79F1B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77610-AFEA-84FA-FD96-7A9155B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3202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BBE0-75D6-E72A-BF41-8CB54D39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97424-C08D-628A-CEB7-BD16D6C1E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Distortion Function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is monotonically increasing.</a:t>
                </a:r>
              </a:p>
              <a:p>
                <a:pPr lvl="2"/>
                <a:r>
                  <a:rPr lang="en-US" dirty="0"/>
                  <a:t>Linear model: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Convex nonlinear model: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polynomial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positive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coefficients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Core idea: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larger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transmit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magnitude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larger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distortion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magnitude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SINR With Hardware Impairment</a:t>
                </a:r>
              </a:p>
              <a:p>
                <a:pPr lvl="2"/>
                <a:r>
                  <a:rPr lang="en-US" dirty="0"/>
                  <a:t>Ideal SINR: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Impaired SINR: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97424-C08D-628A-CEB7-BD16D6C1E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3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22E90-FD28-43F7-7048-6C6FB1BD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4804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2B6B-41DF-E4B5-09CB-9CFC5679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8CC5F-882B-91E8-232A-D75439633F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Effect on Communication</a:t>
                </a:r>
              </a:p>
              <a:p>
                <a:pPr lvl="2"/>
                <a:r>
                  <a:rPr lang="en-US" dirty="0"/>
                  <a:t>New distortion-interference term: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Thus: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denominator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increases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Hardware impairment reduces communication SINR.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Power Constraint With Impairment</a:t>
                </a:r>
              </a:p>
              <a:p>
                <a:pPr lvl="2"/>
                <a:r>
                  <a:rPr lang="en-US" dirty="0"/>
                  <a:t>Ideal power constraint: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Impaired power constraint: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𝐂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Expand: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𝐂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8CC5F-882B-91E8-232A-D75439633F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7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DBCD-8161-81A4-EC89-0A995607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481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1C61-71B0-9005-2FB7-0605C915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463E01-A87F-CF5C-E69F-31EC3DBADB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Probing Power With Impairment</a:t>
                </a:r>
              </a:p>
              <a:p>
                <a:pPr lvl="2"/>
                <a:r>
                  <a:rPr lang="en-US" dirty="0"/>
                  <a:t>Ideal probing power: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Impaired probing power: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Expand: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pro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DPSL With Impairment</a:t>
                </a:r>
              </a:p>
              <a:p>
                <a:pPr lvl="2"/>
                <a:r>
                  <a:rPr lang="en-US" dirty="0"/>
                  <a:t>Ideal DPSL: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Impaired DPSL: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endParaRPr lang="ar-AE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463E01-A87F-CF5C-E69F-31EC3DBAD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B701A-C443-8C5A-13ED-238741C9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7357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4832-B357-AAF3-D775-A058323A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BCD3-FC36-D4B4-108A-780795DD1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Expanded DPSL With Impairment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Main-Beam Constraint With Impairment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Impairment-Aware Utility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b="1" dirty="0">
                  <a:solidFill>
                    <a:srgbClr val="7030A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: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𝐂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and impaired main-beam constraints.</a:t>
                </a:r>
              </a:p>
              <a:p>
                <a:pPr lvl="1"/>
                <a:endParaRPr lang="ar-AE" b="1" dirty="0"/>
              </a:p>
              <a:p>
                <a:pPr lvl="1"/>
                <a:endParaRPr lang="ar-AE" b="1" dirty="0"/>
              </a:p>
              <a:p>
                <a:pPr lvl="2"/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BCD3-FC36-D4B4-108A-780795DD1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8134-A89E-B27B-958D-A3241FCC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311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74B7-B7AF-8238-2E82-B3865439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C411BE-E8D4-EDE4-9E45-C286AE03D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Fixed Targets for Bisection</a:t>
                </a:r>
              </a:p>
              <a:p>
                <a:pPr lvl="2"/>
                <a:r>
                  <a:rPr lang="en-US" dirty="0"/>
                  <a:t>Using the same ray-search idea: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For a fixed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Feasibility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𝐂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impaired main-beam constraints.</a:t>
                </a:r>
              </a:p>
              <a:p>
                <a:pPr lvl="1"/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C411BE-E8D4-EDE4-9E45-C286AE03D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F6441-85A9-43DE-64FD-A898D769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5219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2122-F8C4-C388-04EA-C7E192D1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71917-3D34-E34F-8E13-C30863B368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Expanded SINR Constraint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Equivalent: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Expanded DPSL Constraint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d>
                              <m:d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 Difficulty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𝚲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grow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ra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depends 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harder than ideal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71917-3D34-E34F-8E13-C30863B36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7F2C5-290B-AD6B-323E-5DB27207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7467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76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42851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AA36-0B7F-3787-F61E-9EF765E0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3C2319-C7C9-D0A7-8C07-655D90B32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Proposition 3: Convex Reformulation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is monotonic increasing and convex,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can be reformulated as a convex problem.</a:t>
                </a:r>
              </a:p>
              <a:p>
                <a:pPr lvl="1"/>
                <a:r>
                  <a:rPr lang="en-US" dirty="0"/>
                  <a:t>Introduce: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diag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 replace: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Auxiliary Distortion Constraint</a:t>
                </a:r>
              </a:p>
              <a:p>
                <a:pPr lvl="2"/>
                <a:r>
                  <a:rPr lang="en-US" dirty="0"/>
                  <a:t>For each antenna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𝚲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grow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ra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means: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upper-bounds the distortion magnitude at antenna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3C2319-C7C9-D0A7-8C07-655D90B32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FCB38-9DCE-2EC4-E324-7F1CB5B1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8977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0D2B-F235-E8B0-8512-7E9E85B6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340E7-9367-E106-A2A1-1A9DAA9B01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Convex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𝚲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grow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ra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SINR Constraint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>
                            <a:latin typeface="Cambria Math" panose="02040503050406030204" pitchFamily="18" charset="0"/>
                          </a:rPr>
                          <m:t>𝐃</m:t>
                        </m:r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Equivalent: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 b="1">
                        <a:latin typeface="Cambria Math" panose="02040503050406030204" pitchFamily="18" charset="0"/>
                      </a:rPr>
                      <m:t>𝐃</m:t>
                    </m:r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endParaRPr lang="ar-AE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340E7-9367-E106-A2A1-1A9DAA9B0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23666-2A02-288F-A16F-5A064498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114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0E13-3157-D2C7-68F2-EB3F55E3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7F036F-9BB5-6AA6-DE37-EFE679D3B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Impairment-Aware SINR, DPSL, and Fairness-Profile Reformulation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Expanded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DPSL Constraint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Expand: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𝐃𝐚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 b="1">
                        <a:latin typeface="Cambria Math" panose="02040503050406030204" pitchFamily="18" charset="0"/>
                      </a:rPr>
                      <m:t>𝐃𝐚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Convex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is monotonic increasing and convex, then: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𝚲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grow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ra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convex.</a:t>
                </a:r>
              </a:p>
              <a:p>
                <a:pPr lvl="2"/>
                <a:r>
                  <a:rPr lang="en-US" dirty="0"/>
                  <a:t>Also: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is a convex QCQP and can be reduced to SDP.</a:t>
                </a:r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7F036F-9BB5-6AA6-DE37-EFE679D3B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B75D0-D595-5E58-EC9E-B1FA86DF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576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D664-889A-056F-D85F-225DB737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A7F93C-6967-C114-447B-35451D9388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Complexity</a:t>
                </a:r>
              </a:p>
              <a:p>
                <a:pPr lvl="1"/>
                <a:r>
                  <a:rPr lang="en-US" dirty="0"/>
                  <a:t>The 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has polynomial complexity in: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the bisection iteration number: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Thus: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can be solved with polynomial worst-case complexity.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A7F93C-6967-C114-447B-35451D9388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43BDB-BDF9-D09C-3785-E84E35B4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2686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6C942-078D-4813-ED15-91C4E7EF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Hardware-</a:t>
            </a:r>
            <a:r>
              <a:rPr lang="en-US" b="0" dirty="0" err="1"/>
              <a:t>Impared</a:t>
            </a:r>
            <a:r>
              <a:rPr lang="en-US" b="0" dirty="0"/>
              <a:t> 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22810-27F3-D4F9-5FF2-ED0476F37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Summary</a:t>
                </a:r>
              </a:p>
              <a:p>
                <a:pPr lvl="1"/>
                <a:r>
                  <a:rPr lang="en-US" dirty="0"/>
                  <a:t>Ideal case: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Hardware-impaired case: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Main changes: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Final message: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DFRC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Pareto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optimization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framework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extended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practical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hardware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impaired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transmitters</m:t>
                    </m:r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22810-27F3-D4F9-5FF2-ED0476F37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B23C-D7AC-D1F4-5BA4-D5C06E61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8430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3A26-9360-C418-567F-25CE77F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44FCA6-7EFB-87C3-4AEC-F490914CDE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Similarity-Based Benchmark Schemes for DFRC Beamforming</a:t>
                </a:r>
              </a:p>
              <a:p>
                <a:r>
                  <a:rPr lang="en-US" b="1" dirty="0"/>
                  <a:t>Covariance Similarity [21] vs. Waveform Similarity [22]</a:t>
                </a:r>
                <a:endParaRPr lang="en-US" dirty="0"/>
              </a:p>
              <a:p>
                <a:r>
                  <a:rPr lang="en-US" b="1" dirty="0"/>
                  <a:t>Why Benchmark Schemes Are Needed</a:t>
                </a:r>
              </a:p>
              <a:p>
                <a:pPr lvl="1"/>
                <a:r>
                  <a:rPr lang="en-US" b="1" dirty="0"/>
                  <a:t>Benchmark Motivation</a:t>
                </a:r>
              </a:p>
              <a:p>
                <a:pPr lvl="1"/>
                <a:r>
                  <a:rPr lang="en-US" dirty="0"/>
                  <a:t>The proposed Pareto method directly maximizes the radar DPSL: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limLow>
                      <m:limLowPr>
                        <m:ctrlPr>
                          <a:rPr lang="ar-AE" i="1"/>
                        </m:ctrlPr>
                      </m:limLow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e>
                      <m:lim>
                        <m:r>
                          <a:rPr lang="ar-AE" i="1"/>
                          <m:t>𝑚</m:t>
                        </m:r>
                      </m:lim>
                    </m:limLow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/>
                            </m:ctrlPr>
                          </m:naryPr>
                          <m:sub>
                            <m:r>
                              <a:rPr lang="ar-AE" i="1"/>
                              <m:t>𝑘</m:t>
                            </m:r>
                            <m:r>
                              <a:rPr lang="ar-AE"/>
                              <m:t>=</m:t>
                            </m:r>
                            <m:r>
                              <a:rPr lang="ar-AE"/>
                              <m:t>1</m:t>
                            </m:r>
                          </m:sub>
                          <m:sup>
                            <m:r>
                              <a:rPr lang="ar-AE" i="1"/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/>
                            </m:ctrlPr>
                          </m:naryPr>
                          <m:sub>
                            <m:r>
                              <a:rPr lang="ar-AE" i="1"/>
                              <m:t>𝑘</m:t>
                            </m:r>
                            <m:r>
                              <a:rPr lang="ar-AE"/>
                              <m:t>=</m:t>
                            </m:r>
                            <m:r>
                              <a:rPr lang="ar-AE"/>
                              <m:t>1</m:t>
                            </m:r>
                          </m:sub>
                          <m:sup>
                            <m:r>
                              <a:rPr lang="ar-AE" i="1"/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To compare with existing DFRC designs, we use similarity-based schemes: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Keep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joint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communication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radar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signal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close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radar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only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reference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The radar-only covariance is obtained first: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/>
                      <m:t>=</m:t>
                    </m:r>
                    <m:func>
                      <m:funcPr>
                        <m:ctrlPr>
                          <a:rPr lang="ar-AE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ar-AE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/>
                                  <m:t>0</m:t>
                                </m:r>
                              </m:sub>
                            </m:sSub>
                          </m:lim>
                        </m:limLow>
                      </m:e>
                    </m:func>
                    <m:limLow>
                      <m:limLowPr>
                        <m:ctrlPr>
                          <a:rPr lang="ar-AE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/>
                          <m:t>𝑚</m:t>
                        </m:r>
                      </m:lim>
                    </m:limLow>
                    <m:func>
                      <m:funcPr>
                        <m:ctrlPr>
                          <a:rPr lang="ar-AE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𝐂</m:t>
                                </m:r>
                              </m:e>
                              <m:sub>
                                <m:r>
                                  <a:rPr lang="ar-AE" i="1"/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/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where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44FCA6-7EFB-87C3-4AEC-F490914CDE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E7A61-9EFE-29DA-99E8-2C851FAD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8022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D043-F2C2-2E48-3AB9-590C2875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9C110-4ED3-5A87-4CDC-340423135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Paper [21]: Covariance-Similarity Scheme</a:t>
                </a:r>
              </a:p>
              <a:p>
                <a:r>
                  <a:rPr lang="en-US" b="1" dirty="0"/>
                  <a:t>Paper [21] Benchmark: Covariance Matching</a:t>
                </a:r>
              </a:p>
              <a:p>
                <a:pPr lvl="1"/>
                <a:r>
                  <a:rPr lang="en-US" dirty="0"/>
                  <a:t>Paper [21] designs communication covariance matrices: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total joint transmit covariance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sum</m:t>
                        </m:r>
                      </m:sub>
                    </m:sSub>
                    <m:r>
                      <a:rPr lang="ar-AE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/>
                        </m:ctrlPr>
                      </m:naryPr>
                      <m:sub>
                        <m:r>
                          <a:rPr lang="ar-AE" i="1"/>
                          <m:t>𝑘</m:t>
                        </m:r>
                        <m:r>
                          <a:rPr lang="ar-AE"/>
                          <m:t>=</m:t>
                        </m:r>
                        <m:r>
                          <a:rPr lang="ar-AE"/>
                          <m:t>1</m:t>
                        </m:r>
                      </m:sub>
                      <m:sup>
                        <m:r>
                          <a:rPr lang="ar-AE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goal is to keep this joint covariance close to the radar-only covariance: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"/>
                            <m:endChr m:val="∥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⪰</m:t>
                    </m:r>
                    <m:r>
                      <a:rPr lang="ar-AE"/>
                      <m:t>0</m:t>
                    </m:r>
                    <m:r>
                      <a:rPr lang="ar-AE"/>
                      <m:t>, ∀</m:t>
                    </m:r>
                    <m:r>
                      <a:rPr lang="ar-AE" i="1"/>
                      <m:t>𝑘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diag</m:t>
                        </m:r>
                      </m:fName>
                      <m:e>
                        <m:d>
                          <m:dPr>
                            <m:begChr m:val="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i="1"/>
                                </m:ctrlPr>
                              </m:naryPr>
                              <m:sub>
                                <m:r>
                                  <a:rPr lang="ar-AE" i="1"/>
                                  <m:t>𝑘</m:t>
                                </m:r>
                                <m:r>
                                  <a:rPr lang="ar-AE"/>
                                  <m:t>=</m:t>
                                </m:r>
                                <m:r>
                                  <a:rPr lang="ar-AE"/>
                                  <m:t>1</m:t>
                                </m:r>
                              </m:sub>
                              <m:sup>
                                <m:r>
                                  <a:rPr lang="ar-AE" i="1"/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b="1"/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num>
                      <m:den>
                        <m:r>
                          <a:rPr lang="ar-AE" i="1"/>
                          <m:t>𝑁</m:t>
                        </m:r>
                      </m:den>
                    </m:f>
                    <m:r>
                      <a:rPr lang="ar-AE" b="1"/>
                      <m:t>𝟏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and communication SINR constraints: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𝛾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Γ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, ∀</m:t>
                    </m:r>
                    <m:r>
                      <a:rPr lang="ar-AE" i="1"/>
                      <m:t>𝑘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9C110-4ED3-5A87-4CDC-340423135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B126A-38F3-7425-6ABE-CE0591B5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4703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5BA9-1606-7360-1F0C-C85186A0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E701D-2606-43EA-A7DB-F7CA5863C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Expanding the SINR Constraint in Paper [21]</a:t>
                </a:r>
              </a:p>
              <a:p>
                <a:r>
                  <a:rPr lang="en-US" b="1" dirty="0"/>
                  <a:t>SINR Constraint for Covariance-Similarity Scheme</a:t>
                </a:r>
              </a:p>
              <a:p>
                <a:pPr lvl="1"/>
                <a:r>
                  <a:rPr lang="en-US" dirty="0"/>
                  <a:t>For CU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, the received SINR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𝛾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  <m:sup>
                            <m:r>
                              <a:rPr lang="ar-AE" i="1"/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/>
                            </m:ctrlPr>
                          </m:naryPr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≠</m:t>
                            </m:r>
                            <m:r>
                              <a:rPr lang="ar-AE" i="1"/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𝐡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  <m:sup>
                                <m:r>
                                  <a:rPr lang="ar-AE" i="1"/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𝑧</m:t>
                            </m:r>
                          </m:sub>
                          <m:sup>
                            <m:r>
                              <a:rPr lang="ar-AE"/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constraint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𝛾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Γ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Substitute the SINR expression: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b="1"/>
                        </m:ctrlPr>
                      </m:fPr>
                      <m:num>
                        <m:sSubSup>
                          <m:sSubSupPr>
                            <m:ctrlPr>
                              <a:rPr lang="ar-AE" b="1"/>
                            </m:ctrlPr>
                          </m:sSubSup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  <m:sup>
                            <m:r>
                              <a:rPr lang="ar-AE" i="1"/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b="1" i="1"/>
                            </m:ctrlPr>
                          </m:naryPr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≠</m:t>
                            </m:r>
                            <m:r>
                              <a:rPr lang="ar-AE" i="1"/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𝐡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  <m:sup>
                                <m:r>
                                  <a:rPr lang="ar-AE" i="1"/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𝑧</m:t>
                            </m:r>
                          </m:sub>
                          <m:sup>
                            <m:r>
                              <a:rPr lang="ar-AE"/>
                              <m:t>2</m:t>
                            </m:r>
                          </m:sup>
                        </m:sSubSup>
                      </m:den>
                    </m:f>
                    <m:r>
                      <a:rPr lang="ar-AE"/>
                      <m:t>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Γ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Equivalent linear form: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/>
                        </m:ctrlPr>
                      </m:sSubSupPr>
                      <m:e>
                        <m:r>
                          <a:rPr lang="ar-AE" b="1"/>
                          <m:t>𝐡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  <m:sup>
                        <m:r>
                          <a:rPr lang="ar-AE" i="1"/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b="1" i="1"/>
                        </m:ctrlPr>
                      </m:sSub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sSub>
                      <m:sSubPr>
                        <m:ctrlPr>
                          <a:rPr lang="ar-AE" b="1" i="1"/>
                        </m:ctrlPr>
                      </m:sSubPr>
                      <m:e>
                        <m:r>
                          <a:rPr lang="ar-AE" b="1"/>
                          <m:t>𝐡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Γ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d>
                      <m:dPr>
                        <m:begChr m:val="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(</m:t>
                        </m:r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/>
                            </m:ctrlPr>
                          </m:naryPr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≠</m:t>
                            </m:r>
                            <m:r>
                              <a:rPr lang="ar-AE" i="1"/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𝐡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  <m:sup>
                                <m:r>
                                  <a:rPr lang="ar-AE" i="1"/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𝑧</m:t>
                            </m:r>
                          </m:sub>
                          <m:sup>
                            <m:r>
                              <a:rPr lang="ar-AE"/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or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ar-AE" b="1"/>
                        </m:ctrlPr>
                      </m:borderBoxPr>
                      <m:e>
                        <m:f>
                          <m:fPr>
                            <m:ctrlPr>
                              <a:rPr lang="ar-AE" b="1"/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ar-AE" b="1"/>
                                </m:ctrlPr>
                              </m:sSubSupPr>
                              <m:e>
                                <m:r>
                                  <a:rPr lang="ar-AE" b="1"/>
                                  <m:t>𝐡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  <m:sup>
                                <m:r>
                                  <a:rPr lang="ar-AE" i="1"/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b="1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b="1" i="1"/>
                                </m:ctrlPr>
                              </m:sSubPr>
                              <m:e>
                                <m:r>
                                  <a:rPr lang="ar-AE" b="1"/>
                                  <m:t>𝐡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b="1" i="1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/>
                                  <m:t>Γ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</m:den>
                        </m:f>
                        <m:r>
                          <a:rPr lang="ar-AE"/>
                          <m:t>−</m:t>
                        </m:r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/>
                            </m:ctrlPr>
                          </m:naryPr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≠</m:t>
                            </m:r>
                            <m:r>
                              <a:rPr lang="ar-AE" i="1"/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𝐡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  <m:sup>
                                <m:r>
                                  <a:rPr lang="ar-AE" i="1"/>
                                  <m:t>𝐻</m:t>
                                </m:r>
                              </m:sup>
                            </m:sSubSup>
                          </m:e>
                        </m:nary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1"/>
                              <m:t>𝐡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</m:sSub>
                        <m:r>
                          <a:rPr lang="ar-AE"/>
                          <m:t>≥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𝑧</m:t>
                            </m:r>
                          </m:sub>
                          <m:sup>
                            <m:r>
                              <a:rPr lang="ar-AE"/>
                              <m:t>2</m:t>
                            </m:r>
                          </m:sup>
                        </m:sSubSup>
                      </m:e>
                    </m:borderBox>
                  </m:oMath>
                </a14:m>
                <a:endParaRPr lang="ar-AE" b="1" dirty="0"/>
              </a:p>
              <a:p>
                <a:r>
                  <a:rPr lang="en-US" dirty="0"/>
                  <a:t>This is why the covariance-similarity benchmark can be solved by convex optimization.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E701D-2606-43EA-A7DB-F7CA5863C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4F905-6F4B-9E86-C884-EB10CC16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2211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7DFD-A44E-4FC6-D1BF-35BBCD04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A90C3-973B-EDF5-1687-2848EEE75B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Paper [21] Radar Performance Evaluation</a:t>
                </a:r>
              </a:p>
              <a:p>
                <a:r>
                  <a:rPr lang="en-US" b="1" dirty="0"/>
                  <a:t>DPSL Evaluation After Solving Paper [21]</a:t>
                </a:r>
              </a:p>
              <a:p>
                <a:pPr lvl="1"/>
                <a:r>
                  <a:rPr lang="en-US" dirty="0"/>
                  <a:t>After obtaining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/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ar-AE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  <m:sup>
                                <m:r>
                                  <a:rPr lang="ar-AE"/>
                                  <m:t>⋆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ar-AE" i="1"/>
                          <m:t>𝑘</m:t>
                        </m:r>
                        <m:r>
                          <a:rPr lang="ar-AE"/>
                          <m:t>=</m:t>
                        </m:r>
                        <m:r>
                          <a:rPr lang="ar-AE"/>
                          <m:t>1</m:t>
                        </m:r>
                      </m:sub>
                      <m:sup>
                        <m:r>
                          <a:rPr lang="ar-AE" i="1"/>
                          <m:t>𝐾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joint covariance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sum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/>
                        </m:ctrlPr>
                      </m:naryPr>
                      <m:sub>
                        <m:r>
                          <a:rPr lang="ar-AE" i="1"/>
                          <m:t>𝑘</m:t>
                        </m:r>
                        <m:r>
                          <a:rPr lang="ar-AE"/>
                          <m:t>=</m:t>
                        </m:r>
                        <m:r>
                          <a:rPr lang="ar-AE"/>
                          <m:t>1</m:t>
                        </m:r>
                      </m:sub>
                      <m:sup>
                        <m:r>
                          <a:rPr lang="ar-AE" i="1"/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  <m:sup>
                            <m:r>
                              <a:rPr lang="ar-AE"/>
                              <m:t>⋆</m:t>
                            </m:r>
                          </m:sup>
                        </m:sSubSup>
                      </m:e>
                    </m:nary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radar probing power at angle </a:t>
                </a:r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sum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 DPSL at sidelobe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𝜃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Expanded: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sum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sum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Final plotted metric: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in dB scale: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dB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A90C3-973B-EDF5-1687-2848EEE75B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17E5E-E134-6A17-0ECA-CB91A7BF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646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11CE-7174-9F57-59FD-44B300BA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0B369-873F-D999-7F2A-FEC0B6CBB4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Paper [22]: Waveform-Similarity Scheme</a:t>
                </a:r>
              </a:p>
              <a:p>
                <a:pPr lvl="1"/>
                <a:r>
                  <a:rPr lang="en-US" b="1" dirty="0"/>
                  <a:t>Paper [22] Benchmark: Waveform Matching</a:t>
                </a:r>
              </a:p>
              <a:p>
                <a:pPr lvl="1"/>
                <a:r>
                  <a:rPr lang="en-US" dirty="0"/>
                  <a:t>Paper [22] designs the transmit waveform matrix: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𝐗</m:t>
                    </m:r>
                    <m:r>
                      <a:rPr lang="en-US"/>
                      <m:t>∈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ℂ</m:t>
                        </m:r>
                      </m:e>
                      <m:sup>
                        <m:r>
                          <a:rPr lang="ar-AE" i="1"/>
                          <m:t>𝑁</m:t>
                        </m:r>
                        <m:r>
                          <a:rPr lang="ar-AE"/>
                          <m:t>×</m:t>
                        </m:r>
                        <m:r>
                          <a:rPr lang="ar-AE" i="1"/>
                          <m:t>𝐿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  <m:r>
                      <a:rPr lang="en-US"/>
                      <m:t>=</m:t>
                    </m:r>
                    <m:r>
                      <m:rPr>
                        <m:nor/>
                      </m:rPr>
                      <a:rPr lang="en-US"/>
                      <m:t>number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antennas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  <m:r>
                      <a:rPr lang="en-US"/>
                      <m:t>=</m:t>
                    </m:r>
                    <m:r>
                      <m:rPr>
                        <m:nor/>
                      </m:rPr>
                      <a:rPr lang="en-US"/>
                      <m:t>number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waveform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snapshots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received communication signal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𝐘</m:t>
                    </m:r>
                    <m:r>
                      <a:rPr lang="en-US"/>
                      <m:t>=</m:t>
                    </m:r>
                    <m:r>
                      <a:rPr lang="en-US" b="1"/>
                      <m:t>𝐇𝐗</m:t>
                    </m:r>
                    <m:r>
                      <a:rPr lang="en-US"/>
                      <m:t>+</m:t>
                    </m:r>
                    <m:r>
                      <a:rPr lang="en-US" b="1"/>
                      <m:t>𝐖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desired symbol matrix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𝐒</m:t>
                    </m:r>
                    <m:r>
                      <a:rPr lang="en-US"/>
                      <m:t>∈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ℂ</m:t>
                        </m:r>
                      </m:e>
                      <m:sup>
                        <m:r>
                          <a:rPr lang="ar-AE" i="1"/>
                          <m:t>𝐾</m:t>
                        </m:r>
                        <m:r>
                          <a:rPr lang="ar-AE"/>
                          <m:t>×</m:t>
                        </m:r>
                        <m:r>
                          <a:rPr lang="ar-AE" i="1"/>
                          <m:t>𝐿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multi-user interference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𝐇𝐗</m:t>
                    </m:r>
                    <m:r>
                      <a:rPr lang="en-US"/>
                      <m:t>−</m:t>
                    </m:r>
                    <m:r>
                      <a:rPr lang="en-US" b="1"/>
                      <m:t>𝐒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and the MUI energy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r>
                      <a:rPr lang="en-US" b="1"/>
                      <m:t>𝐇𝐗</m:t>
                    </m:r>
                    <m:r>
                      <a:rPr lang="en-US"/>
                      <m:t>−</m:t>
                    </m:r>
                    <m:r>
                      <a:rPr lang="en-US" b="1"/>
                      <m:t>𝐒</m:t>
                    </m:r>
                    <m:sSubSup>
                      <m:sSubSupPr>
                        <m:ctrlPr>
                          <a:rPr lang="ar-AE" b="1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</m:oMath>
                </a14:m>
                <a:endParaRPr lang="ar-AE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0B369-873F-D999-7F2A-FEC0B6CBB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0F67F-6AB7-FFCC-E9A2-C38D541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8097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3D1E-D558-F302-BC2A-EBF45019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98FDEA-8649-45D6-144C-1BCB70D6D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Paper [22] Waveform Similarity Objective</a:t>
                </a:r>
              </a:p>
              <a:p>
                <a:r>
                  <a:rPr lang="en-US" b="1" dirty="0"/>
                  <a:t>Weighted Communication-Radar Waveform Design</a:t>
                </a:r>
              </a:p>
              <a:p>
                <a:r>
                  <a:rPr lang="en-US" dirty="0"/>
                  <a:t>Paper [22] uses a weighted objective: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𝐇𝐗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𝐒</m:t>
                    </m:r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 the power constraint: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r>
                      <a:rPr lang="en-US" b="1"/>
                      <m:t>𝐗</m:t>
                    </m:r>
                    <m:sSubSup>
                      <m:sSubSupPr>
                        <m:ctrlPr>
                          <a:rPr lang="ar-AE" b="1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  <m:r>
                      <a:rPr lang="ar-AE"/>
                      <m:t>=</m:t>
                    </m:r>
                    <m:r>
                      <a:rPr lang="ar-AE" i="1"/>
                      <m:t>𝐿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Here,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controls the communication-radar tradeoff.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  <m:r>
                      <a:rPr lang="en-US"/>
                      <m:t>→</m:t>
                    </m:r>
                    <m:r>
                      <a:rPr lang="en-US"/>
                      <m:t>1</m:t>
                    </m:r>
                  </m:oMath>
                </a14:m>
                <a:r>
                  <a:rPr lang="en-US" dirty="0"/>
                  <a:t> then the design emphasizes communication MUI minimization: </a:t>
                </a:r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r>
                      <a:rPr lang="en-US" b="1"/>
                      <m:t>𝐇𝐗</m:t>
                    </m:r>
                    <m:r>
                      <a:rPr lang="en-US"/>
                      <m:t>−</m:t>
                    </m:r>
                    <m:r>
                      <a:rPr lang="en-US" b="1"/>
                      <m:t>𝐒</m:t>
                    </m:r>
                    <m:sSubSup>
                      <m:sSubSupPr>
                        <m:ctrlPr>
                          <a:rPr lang="ar-AE" b="1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  <m:r>
                      <a:rPr lang="en-US"/>
                      <m:t>→</m:t>
                    </m:r>
                    <m:r>
                      <a:rPr lang="en-US"/>
                      <m:t>0</m:t>
                    </m:r>
                  </m:oMath>
                </a14:m>
                <a:r>
                  <a:rPr lang="en-US" dirty="0"/>
                  <a:t> then the design emphasizes radar waveform similarity: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r>
                      <a:rPr lang="en-US" b="1"/>
                      <m:t>𝐗</m:t>
                    </m:r>
                    <m:r>
                      <a:rPr lang="en-US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For our comparison, we use a balanced radar-dominant value: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  <m:r>
                      <a:rPr lang="en-US"/>
                      <m:t>=</m:t>
                    </m:r>
                    <m:r>
                      <a:rPr lang="en-US"/>
                      <m:t>0</m:t>
                    </m:r>
                    <m:r>
                      <a:rPr lang="en-US"/>
                      <m:t>.</m:t>
                    </m:r>
                    <m:r>
                      <a:rPr lang="en-US"/>
                      <m:t>05</m:t>
                    </m:r>
                    <m:r>
                      <a:rPr lang="en-US"/>
                      <m:t> </m:t>
                    </m:r>
                    <m:r>
                      <m:rPr>
                        <m:nor/>
                      </m:rPr>
                      <a:rPr lang="en-US" i="1"/>
                      <m:t>or</m:t>
                    </m:r>
                    <m:r>
                      <a:rPr lang="en-US"/>
                      <m:t> </m:t>
                    </m:r>
                    <m:r>
                      <a:rPr lang="en-US"/>
                      <m:t>0</m:t>
                    </m:r>
                    <m:r>
                      <a:rPr lang="en-US"/>
                      <m:t>.</m:t>
                    </m:r>
                    <m:r>
                      <a:rPr lang="en-US"/>
                      <m:t>1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depending on stability.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98FDEA-8649-45D6-144C-1BCB70D6D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D9C3-995B-85FF-9767-150E60C3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582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6AB3-69DB-BAF6-4B95-AC4AA64F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1298C-09BC-3301-DC1D-D3B356FE1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Constructing the Radar Reference Waveform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endParaRPr lang="ar-AE" b="1" dirty="0"/>
              </a:p>
              <a:p>
                <a:r>
                  <a:rPr lang="en-US" b="1" dirty="0"/>
                  <a:t>From Radar-Only Covariance to Reference Waveform</a:t>
                </a:r>
              </a:p>
              <a:p>
                <a:pPr lvl="1"/>
                <a:r>
                  <a:rPr lang="en-US" dirty="0"/>
                  <a:t>Radar-only covariance: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We need a waveform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 i="1"/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 i="1"/>
                          <m:t>𝐻</m:t>
                        </m:r>
                      </m:sup>
                    </m:sSubSup>
                    <m:r>
                      <a:rPr lang="ar-AE"/>
                      <m:t>=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Use eigenvalue decomposition: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b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/>
                      <m:t>=</m:t>
                    </m:r>
                    <m:r>
                      <a:rPr lang="ar-AE" b="1"/>
                      <m:t>𝐔</m:t>
                    </m:r>
                    <m:r>
                      <a:rPr lang="ar-AE" b="1"/>
                      <m:t>𝚲</m:t>
                    </m:r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𝐔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d>
                          <m:dPr>
                            <m:ctrlPr>
                              <a:rPr lang="ar-AE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/>
                                  <m:t>0</m:t>
                                </m:r>
                              </m:sub>
                              <m:sup>
                                <m:r>
                                  <a:rPr lang="ar-AE"/>
                                  <m:t>⋆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/>
                          <m:t>1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 b="1"/>
                      <m:t>𝐔</m:t>
                    </m:r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𝚲</m:t>
                        </m:r>
                      </m:e>
                      <m:sup>
                        <m:r>
                          <a:rPr lang="ar-AE"/>
                          <m:t>1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2</m:t>
                        </m:r>
                      </m:sup>
                    </m:sSup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𝐔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Construct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r>
                      <a:rPr lang="ar-AE"/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 i="1"/>
                          <m:t>𝐿</m:t>
                        </m:r>
                      </m:e>
                    </m:rad>
                    <m:sSup>
                      <m:sSupPr>
                        <m:ctrlPr>
                          <a:rPr lang="ar-AE" i="1"/>
                        </m:ctrlPr>
                      </m:sSupPr>
                      <m:e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/>
                                </m:ctrlPr>
                              </m:sSubSup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/>
                                  <m:t>0</m:t>
                                </m:r>
                              </m:sub>
                              <m:sup>
                                <m:r>
                                  <a:rPr lang="ar-AE"/>
                                  <m:t>⋆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/>
                          <m:t>1</m:t>
                        </m:r>
                        <m:r>
                          <a:rPr lang="ar-AE"/>
                          <m:t>/</m:t>
                        </m:r>
                        <m:r>
                          <a:rPr lang="ar-AE"/>
                          <m:t>2</m:t>
                        </m:r>
                      </m:sup>
                    </m:sSup>
                    <m:r>
                      <a:rPr lang="ar-AE" b="1"/>
                      <m:t>𝐐</m:t>
                    </m:r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𝐐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𝐈</m:t>
                        </m:r>
                      </m:e>
                      <m:sub>
                        <m:r>
                          <a:rPr lang="ar-AE" i="1"/>
                          <m:t>𝑁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 i="1"/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 i="1"/>
                          <m:t>𝐻</m:t>
                        </m:r>
                      </m:sup>
                    </m:sSubSup>
                    <m:r>
                      <a:rPr lang="ar-AE"/>
                      <m:t>=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This ensures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the same radar covariance as the radar-only solution.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1298C-09BC-3301-DC1D-D3B356FE1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B693E-3A42-D2F0-3742-0634DC4E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764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65F8-6A7B-09C9-5F76-4A55612C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7FBDE-26CE-5F7E-2E2B-0BAE28F00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Solving Paper [22] Waveform Problem</a:t>
                </a:r>
              </a:p>
              <a:p>
                <a:pPr lvl="1"/>
                <a:r>
                  <a:rPr lang="en-US" b="1" dirty="0"/>
                  <a:t>Compact Least-Squares Form</a:t>
                </a:r>
              </a:p>
              <a:p>
                <a:pPr lvl="1"/>
                <a:r>
                  <a:rPr lang="en-US" dirty="0"/>
                  <a:t>The objective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  <m:r>
                      <a:rPr lang="en-US"/>
                      <m:t>∥</m:t>
                    </m:r>
                    <m:r>
                      <a:rPr lang="en-US" b="1"/>
                      <m:t>𝐇𝐗</m:t>
                    </m:r>
                    <m:r>
                      <a:rPr lang="en-US"/>
                      <m:t>−</m:t>
                    </m:r>
                    <m:r>
                      <a:rPr lang="en-US" b="1"/>
                      <m:t>𝐒</m:t>
                    </m:r>
                    <m:sSubSup>
                      <m:sSubSupPr>
                        <m:ctrlPr>
                          <a:rPr lang="ar-AE" b="1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  <m:r>
                      <a:rPr lang="ar-AE"/>
                      <m:t>+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  <m:r>
                          <a:rPr lang="ar-AE"/>
                          <m:t>−</m:t>
                        </m:r>
                        <m:r>
                          <a:rPr lang="ar-AE" i="1"/>
                          <m:t>𝜌</m:t>
                        </m:r>
                      </m:e>
                    </m:d>
                    <m:r>
                      <a:rPr lang="ar-AE"/>
                      <m:t>∥</m:t>
                    </m:r>
                    <m:r>
                      <a:rPr lang="ar-AE" b="1"/>
                      <m:t>𝐗</m:t>
                    </m:r>
                    <m:r>
                      <a:rPr lang="ar-AE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𝐗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This can be rewritten as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b="1"/>
                          <m:t>𝐗</m:t>
                        </m:r>
                      </m:lim>
                    </m:limLow>
                    <m:r>
                      <a:rPr lang="ar-AE"/>
                      <m:t>∥</m:t>
                    </m:r>
                    <m:r>
                      <a:rPr lang="ar-AE" b="1"/>
                      <m:t>𝐀𝐗</m:t>
                    </m:r>
                    <m:r>
                      <a:rPr lang="ar-AE"/>
                      <m:t>−</m:t>
                    </m:r>
                    <m:r>
                      <a:rPr lang="ar-AE" b="1"/>
                      <m:t>𝐁</m:t>
                    </m:r>
                    <m:sSubSup>
                      <m:sSubSupPr>
                        <m:ctrlPr>
                          <a:rPr lang="ar-AE" b="1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𝐀</m:t>
                    </m:r>
                    <m:r>
                      <a:rPr lang="en-US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ar-AE" i="1"/>
                                  </m:ctrlPr>
                                </m:radPr>
                                <m:deg/>
                                <m:e>
                                  <m:r>
                                    <a:rPr lang="ar-AE" i="1"/>
                                    <m:t>𝜌</m:t>
                                  </m:r>
                                </m:e>
                              </m:rad>
                              <m:r>
                                <a:rPr lang="ar-AE" b="1"/>
                                <m:t>𝐇</m:t>
                              </m:r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ar-AE" b="1" i="1"/>
                                  </m:ctrlPr>
                                </m:radPr>
                                <m:deg/>
                                <m:e>
                                  <m:r>
                                    <a:rPr lang="ar-AE"/>
                                    <m:t>1</m:t>
                                  </m:r>
                                  <m:r>
                                    <a:rPr lang="ar-AE"/>
                                    <m:t>−</m:t>
                                  </m:r>
                                  <m:r>
                                    <a:rPr lang="ar-AE" i="1"/>
                                    <m:t>𝜌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ar-AE" b="1" i="1"/>
                                  </m:ctrlPr>
                                </m:sSubPr>
                                <m:e>
                                  <m:r>
                                    <a:rPr lang="ar-AE" b="1"/>
                                    <m:t>𝐈</m:t>
                                  </m:r>
                                </m:e>
                                <m:sub>
                                  <m:r>
                                    <a:rPr lang="ar-AE" i="1"/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/>
                      <m:t>𝐁</m:t>
                    </m:r>
                    <m:r>
                      <a:rPr lang="en-US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ar-AE" i="1"/>
                                  </m:ctrlPr>
                                </m:radPr>
                                <m:deg/>
                                <m:e>
                                  <m:r>
                                    <a:rPr lang="ar-AE" i="1"/>
                                    <m:t>𝜌</m:t>
                                  </m:r>
                                </m:e>
                              </m:rad>
                              <m:r>
                                <a:rPr lang="ar-AE" b="1"/>
                                <m:t>𝐒</m:t>
                              </m:r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ar-AE" b="1" i="1"/>
                                  </m:ctrlPr>
                                </m:radPr>
                                <m:deg/>
                                <m:e>
                                  <m:r>
                                    <a:rPr lang="ar-AE"/>
                                    <m:t>1</m:t>
                                  </m:r>
                                  <m:r>
                                    <a:rPr lang="ar-AE"/>
                                    <m:t>−</m:t>
                                  </m:r>
                                  <m:r>
                                    <a:rPr lang="ar-AE" i="1"/>
                                    <m:t>𝜌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ar-AE" b="1" i="1"/>
                                  </m:ctrlPr>
                                </m:sSubPr>
                                <m:e>
                                  <m:r>
                                    <a:rPr lang="ar-AE" b="1"/>
                                    <m:t>𝐗</m:t>
                                  </m:r>
                                </m:e>
                                <m:sub>
                                  <m:r>
                                    <a:rPr lang="ar-AE"/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power constraint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r>
                      <a:rPr lang="en-US" b="1"/>
                      <m:t>𝐗</m:t>
                    </m:r>
                    <m:sSubSup>
                      <m:sSubSupPr>
                        <m:ctrlPr>
                          <a:rPr lang="ar-AE" b="1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  <m:r>
                      <a:rPr lang="ar-AE"/>
                      <m:t>=</m:t>
                    </m:r>
                    <m:r>
                      <a:rPr lang="ar-AE" i="1"/>
                      <m:t>𝐿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Using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𝐀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r>
                      <a:rPr lang="ar-AE" b="1"/>
                      <m:t>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b="1"/>
                      <m:t>𝐆</m:t>
                    </m:r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𝐀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r>
                      <a:rPr lang="ar-AE" b="1"/>
                      <m:t>𝐁</m:t>
                    </m:r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 solution has the form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⋆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r>
                          <a:rPr lang="ar-AE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borderBox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/>
                      <m:t>𝜆</m:t>
                    </m:r>
                  </m:oMath>
                </a14:m>
                <a:r>
                  <a:rPr lang="en-US" dirty="0"/>
                  <a:t> is chosen such that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𝐗</m:t>
                        </m:r>
                      </m:e>
                      <m:sup>
                        <m:r>
                          <a:rPr lang="ar-AE"/>
                          <m:t>⋆</m:t>
                        </m:r>
                      </m:sup>
                    </m:sSup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/>
                          <m:t>∥</m:t>
                        </m:r>
                      </m:e>
                      <m:sub>
                        <m:r>
                          <a:rPr lang="ar-AE" i="1"/>
                          <m:t>𝐹</m:t>
                        </m:r>
                      </m:sub>
                      <m:sup>
                        <m:r>
                          <a:rPr lang="ar-AE"/>
                          <m:t>2</m:t>
                        </m:r>
                      </m:sup>
                    </m:sSubSup>
                    <m:r>
                      <a:rPr lang="ar-AE"/>
                      <m:t>=</m:t>
                    </m:r>
                    <m:r>
                      <a:rPr lang="ar-AE" i="1"/>
                      <m:t>𝐿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7FBDE-26CE-5F7E-2E2B-0BAE28F00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2223-EFFB-C44A-47AF-D9B5387F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311092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89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7434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F207-5FDC-04FB-3470-196731DE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6C6BA-39B6-7311-8E67-3D5E9872F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Paper [22] Radar Evaluation</a:t>
                </a:r>
              </a:p>
              <a:p>
                <a:r>
                  <a:rPr lang="en-US" b="1" dirty="0"/>
                  <a:t>Converting Waveform to Covariance</a:t>
                </a:r>
              </a:p>
              <a:p>
                <a:pPr lvl="1"/>
                <a:r>
                  <a:rPr lang="en-US" dirty="0"/>
                  <a:t>After solving Paper [22], we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/>
                        </m:ctrlPr>
                      </m:sSupPr>
                      <m:e>
                        <m:r>
                          <a:rPr lang="ar-AE" b="1"/>
                          <m:t>𝐗</m:t>
                        </m:r>
                      </m:e>
                      <m:sup>
                        <m:r>
                          <a:rPr lang="ar-AE"/>
                          <m:t>⋆</m:t>
                        </m:r>
                      </m:sup>
                    </m:sSup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 waveform covariance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/>
                          <m:t>𝐑</m:t>
                        </m:r>
                      </m:e>
                      <m:sub>
                        <m:r>
                          <a:rPr lang="ar-AE" i="1"/>
                          <m:t>𝑋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 i="1"/>
                          <m:t>𝐿</m:t>
                        </m:r>
                      </m:den>
                    </m:f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𝐗</m:t>
                        </m:r>
                      </m:e>
                      <m:sup>
                        <m:r>
                          <a:rPr lang="ar-AE"/>
                          <m:t>⋆</m:t>
                        </m:r>
                      </m:sup>
                    </m:sSup>
                    <m:sSup>
                      <m:sSupPr>
                        <m:ctrlPr>
                          <a:rPr lang="ar-AE" i="1"/>
                        </m:ctrlPr>
                      </m:sSupPr>
                      <m:e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b="1"/>
                                  <m:t>𝐗</m:t>
                                </m:r>
                              </m:e>
                              <m:sup>
                                <m:r>
                                  <a:rPr lang="ar-AE"/>
                                  <m:t>⋆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 the probing power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pro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𝐑</m:t>
                        </m:r>
                      </m:e>
                      <m:sub>
                        <m:r>
                          <a:rPr lang="ar-AE" i="1"/>
                          <m:t>𝑋</m:t>
                        </m:r>
                      </m:sub>
                    </m:sSub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 DPSL at sidelobe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𝜃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𝐑</m:t>
                        </m:r>
                      </m:e>
                      <m:sub>
                        <m:r>
                          <a:rPr lang="ar-AE" i="1"/>
                          <m:t>𝑋</m:t>
                        </m:r>
                      </m:sub>
                    </m:sSub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𝐚</m:t>
                        </m:r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1"/>
                          <m:t>𝐑</m:t>
                        </m:r>
                      </m:e>
                      <m:sub>
                        <m:r>
                          <a:rPr lang="ar-AE" i="1"/>
                          <m:t>𝑋</m:t>
                        </m:r>
                      </m:sub>
                    </m:sSub>
                    <m:r>
                      <a:rPr lang="ar-AE" b="1"/>
                      <m:t>𝐚</m:t>
                    </m:r>
                    <m:d>
                      <m:dPr>
                        <m:ctrlPr>
                          <a:rPr lang="ar-AE" b="1" i="1"/>
                        </m:ctrlPr>
                      </m:dPr>
                      <m:e>
                        <m:sSub>
                          <m:sSubPr>
                            <m:ctrlPr>
                              <a:rPr lang="ar-AE" b="1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 plotted metric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dB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6C6BA-39B6-7311-8E67-3D5E9872F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0B9AC-63B8-EE6A-EEB6-3E6FF4CF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7111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2F9009F-D5A7-10CF-0CF9-60584949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914C86-45B4-C100-4077-B60416E9F1FA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Mathematical Difference Between P21 and P22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Covariance Similarity vs. Waveform    Similarity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Paper [21]: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sSubSup>
                      <m:sSubSup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∥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en-US" sz="20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"/>
                            <m:endChr m:val="∥"/>
                            <m:ctrlPr>
                              <a:rPr lang="en-US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2000" b="0" i="0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Paper [22]: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𝐗</m:t>
                        </m:r>
                      </m:lim>
                    </m:limLow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sz="2000" b="1" i="0">
                        <a:latin typeface="Cambria Math" panose="02040503050406030204" pitchFamily="18" charset="0"/>
                      </a:rPr>
                      <m:t>𝐇𝐗</m:t>
                    </m:r>
                    <m:r>
                      <a:rPr lang="en-US" sz="2000" b="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>
                        <a:latin typeface="Cambria Math" panose="02040503050406030204" pitchFamily="18" charset="0"/>
                      </a:rPr>
                      <m:t>𝐒</m:t>
                    </m:r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000" b="0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sz="2000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2000" b="0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sz="2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914C86-45B4-C100-4077-B60416E9F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  <a:blipFill>
                <a:blip r:embed="rId2"/>
                <a:stretch>
                  <a:fillRect l="-1075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AD8AD-E0C9-65AA-ACED-C2E6514D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91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B2F3AA4-FB7D-C4EB-40B3-F355C48725D3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477749441"/>
                  </p:ext>
                </p:extLst>
              </p:nvPr>
            </p:nvGraphicFramePr>
            <p:xfrm>
              <a:off x="5880683" y="1649691"/>
              <a:ext cx="5375442" cy="4503635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tx1">
                        <a:lumMod val="65000"/>
                        <a:lumOff val="35000"/>
                      </a:schemeClr>
                    </a:solidFill>
                  </a:tblPr>
                  <a:tblGrid>
                    <a:gridCol w="2058000">
                      <a:extLst>
                        <a:ext uri="{9D8B030D-6E8A-4147-A177-3AD203B41FA5}">
                          <a16:colId xmlns:a16="http://schemas.microsoft.com/office/drawing/2014/main" val="206343307"/>
                        </a:ext>
                      </a:extLst>
                    </a:gridCol>
                    <a:gridCol w="1597878">
                      <a:extLst>
                        <a:ext uri="{9D8B030D-6E8A-4147-A177-3AD203B41FA5}">
                          <a16:colId xmlns:a16="http://schemas.microsoft.com/office/drawing/2014/main" val="3556240765"/>
                        </a:ext>
                      </a:extLst>
                    </a:gridCol>
                    <a:gridCol w="1719564">
                      <a:extLst>
                        <a:ext uri="{9D8B030D-6E8A-4147-A177-3AD203B41FA5}">
                          <a16:colId xmlns:a16="http://schemas.microsoft.com/office/drawing/2014/main" val="3280975148"/>
                        </a:ext>
                      </a:extLst>
                    </a:gridCol>
                  </a:tblGrid>
                  <a:tr h="5457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300" b="1" cap="all" spc="60">
                              <a:solidFill>
                                <a:schemeClr val="tx1"/>
                              </a:solidFill>
                            </a:rPr>
                            <a:t>Item</a:t>
                          </a:r>
                        </a:p>
                      </a:txBody>
                      <a:tcPr marL="152381" marR="152381" marT="152381" marB="15238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300" b="1" cap="all" spc="60">
                              <a:solidFill>
                                <a:schemeClr val="tx1"/>
                              </a:solidFill>
                            </a:rPr>
                            <a:t>Paper [21]</a:t>
                          </a:r>
                        </a:p>
                      </a:txBody>
                      <a:tcPr marL="152381" marR="152381" marT="152381" marB="15238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300" b="1" cap="all" spc="60">
                              <a:solidFill>
                                <a:schemeClr val="tx1"/>
                              </a:solidFill>
                            </a:rPr>
                            <a:t>Paper [22]</a:t>
                          </a:r>
                        </a:p>
                      </a:txBody>
                      <a:tcPr marL="152381" marR="152381" marT="152381" marB="15238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5165456"/>
                      </a:ext>
                    </a:extLst>
                  </a:tr>
                  <a:tr h="4614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Design variable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1800" b="1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800" b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sz="1800" b="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cap="none" spc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309071"/>
                      </a:ext>
                    </a:extLst>
                  </a:tr>
                  <a:tr h="7309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Domain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Covariance   domain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Waveform     domain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778189"/>
                      </a:ext>
                    </a:extLst>
                  </a:tr>
                  <a:tr h="4614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Radar reference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ar-AE" sz="1800" b="1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sz="1800" b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ar-AE" sz="1800" b="0" i="0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ar-AE" sz="1800" b="0" i="0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ar-AE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1800" b="1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800" b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ar-AE" sz="1800" b="0" i="0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69331"/>
                      </a:ext>
                    </a:extLst>
                  </a:tr>
                  <a:tr h="7309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Objective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Match         covariance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Match          waveform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120727"/>
                      </a:ext>
                    </a:extLst>
                  </a:tr>
                  <a:tr h="7309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Communication control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SINR          constraint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MUI                minimization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2498520"/>
                      </a:ext>
                    </a:extLst>
                  </a:tr>
                  <a:tr h="8420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Radar               evaluation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DPSL from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grow m:val="on"/>
                                  <m:supHide m:val="on"/>
                                  <m:ctrlPr>
                                    <a:rPr lang="ar-AE" sz="1800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sz="1800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ar-AE" sz="1800" i="1" cap="none" spc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800" b="1" i="0" cap="none" spc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ar-AE" sz="1800" b="0" i="1" cap="none" spc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endParaRPr lang="ar-AE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DPSL from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ar-AE" sz="1800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800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sz="1800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ar-AE" sz="1800" b="1" i="0" cap="none" spc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sSup>
                                <m:sSupPr>
                                  <m:ctrlPr>
                                    <a:rPr lang="ar-AE" sz="1800" b="1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800" b="1" i="0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ar-AE" sz="1800" b="0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p>
                            </m:oMath>
                          </a14:m>
                          <a:endParaRPr lang="ar-AE" sz="1800" cap="none" spc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4717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B2F3AA4-FB7D-C4EB-40B3-F355C48725D3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477749441"/>
                  </p:ext>
                </p:extLst>
              </p:nvPr>
            </p:nvGraphicFramePr>
            <p:xfrm>
              <a:off x="5880683" y="1649691"/>
              <a:ext cx="5375442" cy="4503635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tx1">
                        <a:lumMod val="65000"/>
                        <a:lumOff val="35000"/>
                      </a:schemeClr>
                    </a:solidFill>
                  </a:tblPr>
                  <a:tblGrid>
                    <a:gridCol w="2058000">
                      <a:extLst>
                        <a:ext uri="{9D8B030D-6E8A-4147-A177-3AD203B41FA5}">
                          <a16:colId xmlns:a16="http://schemas.microsoft.com/office/drawing/2014/main" val="206343307"/>
                        </a:ext>
                      </a:extLst>
                    </a:gridCol>
                    <a:gridCol w="1597878">
                      <a:extLst>
                        <a:ext uri="{9D8B030D-6E8A-4147-A177-3AD203B41FA5}">
                          <a16:colId xmlns:a16="http://schemas.microsoft.com/office/drawing/2014/main" val="3556240765"/>
                        </a:ext>
                      </a:extLst>
                    </a:gridCol>
                    <a:gridCol w="1719564">
                      <a:extLst>
                        <a:ext uri="{9D8B030D-6E8A-4147-A177-3AD203B41FA5}">
                          <a16:colId xmlns:a16="http://schemas.microsoft.com/office/drawing/2014/main" val="3280975148"/>
                        </a:ext>
                      </a:extLst>
                    </a:gridCol>
                  </a:tblGrid>
                  <a:tr h="5457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300" b="1" cap="all" spc="60">
                              <a:solidFill>
                                <a:schemeClr val="tx1"/>
                              </a:solidFill>
                            </a:rPr>
                            <a:t>Item</a:t>
                          </a:r>
                        </a:p>
                      </a:txBody>
                      <a:tcPr marL="152381" marR="152381" marT="152381" marB="15238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300" b="1" cap="all" spc="60">
                              <a:solidFill>
                                <a:schemeClr val="tx1"/>
                              </a:solidFill>
                            </a:rPr>
                            <a:t>Paper [21]</a:t>
                          </a:r>
                        </a:p>
                      </a:txBody>
                      <a:tcPr marL="152381" marR="152381" marT="152381" marB="15238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300" b="1" cap="all" spc="60">
                              <a:solidFill>
                                <a:schemeClr val="tx1"/>
                              </a:solidFill>
                            </a:rPr>
                            <a:t>Paper [22]</a:t>
                          </a:r>
                        </a:p>
                      </a:txBody>
                      <a:tcPr marL="152381" marR="152381" marT="152381" marB="15238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5165456"/>
                      </a:ext>
                    </a:extLst>
                  </a:tr>
                  <a:tr h="4614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Design variable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128517" t="-120000" r="-107224" b="-8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213121" t="-120000" b="-89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309071"/>
                      </a:ext>
                    </a:extLst>
                  </a:tr>
                  <a:tr h="7309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Domain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Covariance   domain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Waveform     domain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778189"/>
                      </a:ext>
                    </a:extLst>
                  </a:tr>
                  <a:tr h="4614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Radar reference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128517" t="-381333" r="-107224" b="-6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213121" t="-381333" b="-6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69331"/>
                      </a:ext>
                    </a:extLst>
                  </a:tr>
                  <a:tr h="7309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Objective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Match         covariance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Match          waveform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120727"/>
                      </a:ext>
                    </a:extLst>
                  </a:tr>
                  <a:tr h="7309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Communication control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SINR          constraint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MUI                minimization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2498520"/>
                      </a:ext>
                    </a:extLst>
                  </a:tr>
                  <a:tr h="8420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bg1"/>
                              </a:solidFill>
                            </a:rPr>
                            <a:t>Radar               evaluation</a:t>
                          </a:r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128517" t="-436232" r="-107224" b="-6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587" marR="101587" marT="50794" marB="101587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213121" t="-436232" b="-6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3471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8633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28CB5D-82DB-AD0B-9B15-8D95FB2E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44BCC2E-C887-A619-61EF-A61C905E6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Final Comparison Logic</a:t>
                </a:r>
              </a:p>
              <a:p>
                <a:pPr lvl="1"/>
                <a:r>
                  <a:rPr lang="en-US" b="1" dirty="0"/>
                  <a:t>How All Schemes Are Compared</a:t>
                </a:r>
              </a:p>
              <a:p>
                <a:pPr lvl="2"/>
                <a:r>
                  <a:rPr lang="en-US" dirty="0"/>
                  <a:t>All schemes are evaluated using the same radar metric: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sub>
                    </m:sSub>
                    <m:r>
                      <a:rPr lang="ar-AE"/>
                      <m:t>=</m:t>
                    </m:r>
                    <m:limLow>
                      <m:limLowPr>
                        <m:ctrlPr>
                          <a:rPr lang="ar-AE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/>
                          <m:t>𝑚</m:t>
                        </m:r>
                      </m:lim>
                    </m:limLow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/>
                              <m:t>pro</m:t>
                            </m:r>
                          </m:sub>
                        </m:sSub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𝜃</m:t>
                                </m:r>
                              </m:e>
                              <m:sub>
                                <m:r>
                                  <a:rPr lang="ar-AE"/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ar-AE"/>
                          <m:t>−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/>
                              <m:t>pro</m:t>
                            </m:r>
                          </m:sub>
                        </m:sSub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𝜃</m:t>
                                </m:r>
                              </m:e>
                              <m:sub>
                                <m:r>
                                  <a:rPr lang="ar-AE" i="1"/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Radar-only: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b="1"/>
                        </m:ctrlPr>
                      </m:sSubSupPr>
                      <m:e>
                        <m:r>
                          <a:rPr lang="ar-AE" b="1"/>
                          <m:t>𝐒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/>
                          <m:t>⋆</m:t>
                        </m:r>
                      </m:sup>
                    </m:sSubSup>
                    <m:r>
                      <a:rPr lang="ar-AE"/>
                      <m:t>⇒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/>
                          <m:t>radar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Proposed: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/>
                        </m:ctrlPr>
                      </m:dPr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  <m:sup>
                            <m:r>
                              <a:rPr lang="ar-AE"/>
                              <m:t>⋆</m:t>
                            </m:r>
                          </m:sup>
                        </m:sSubSup>
                      </m:e>
                    </m:d>
                    <m:r>
                      <a:rPr lang="ar-AE"/>
                      <m:t>⇒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/>
                          <m:t>prop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Paper [21]: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/>
                        </m:ctrlPr>
                      </m:dPr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b="1"/>
                              <m:t>𝐒</m:t>
                            </m:r>
                          </m:e>
                          <m:sub>
                            <m:r>
                              <a:rPr lang="ar-AE" i="1"/>
                              <m:t>𝑘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/>
                                  <m:t>21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ar-AE"/>
                      <m:t>⇒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21</m:t>
                            </m:r>
                          </m:e>
                        </m:d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Paper [22]: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b="1"/>
                        </m:ctrlPr>
                      </m:sSupPr>
                      <m:e>
                        <m:r>
                          <a:rPr lang="ar-AE" b="1"/>
                          <m:t>𝐗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/>
                            </m:ctrlPr>
                          </m:dPr>
                          <m:e>
                            <m:r>
                              <a:rPr lang="ar-AE"/>
                              <m:t>22</m:t>
                            </m:r>
                          </m:e>
                        </m:d>
                      </m:sup>
                    </m:sSup>
                    <m:r>
                      <a:rPr lang="ar-AE"/>
                      <m:t>⇒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b="1"/>
                          <m:t>𝐑</m:t>
                        </m:r>
                      </m:e>
                      <m:sub>
                        <m:r>
                          <a:rPr lang="ar-AE" i="1"/>
                          <m:t>𝑋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22</m:t>
                            </m:r>
                          </m:e>
                        </m:d>
                      </m:sup>
                    </m:sSubSup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 i="1"/>
                          <m:t>𝐿</m:t>
                        </m:r>
                      </m:den>
                    </m:f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b="1"/>
                          <m:t>𝐗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/>
                            </m:ctrlPr>
                          </m:dPr>
                          <m:e>
                            <m:r>
                              <a:rPr lang="ar-AE"/>
                              <m:t>22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i="1"/>
                        </m:ctrlPr>
                      </m:sSupPr>
                      <m:e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b="1"/>
                                  <m:t>𝐗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b="1" i="1"/>
                                    </m:ctrlPr>
                                  </m:dPr>
                                  <m:e>
                                    <m:r>
                                      <a:rPr lang="ar-AE"/>
                                      <m:t>22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ar-AE" i="1"/>
                          <m:t>𝐻</m:t>
                        </m:r>
                      </m:sup>
                    </m:sSup>
                    <m:r>
                      <a:rPr lang="ar-AE"/>
                      <m:t>⇒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22</m:t>
                            </m:r>
                          </m:e>
                        </m:d>
                      </m:sup>
                    </m:sSub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Expected order: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radar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prop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d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d>
                      </m:sup>
                    </m:sSubSup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44BCC2E-C887-A619-61EF-A61C905E6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F53CB-ABA9-01B4-529F-8BD9291D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79626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206D-3DC6-A1CC-77E9-D0CF0D34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C2884-7AFD-327A-2F60-760CD326E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Main Observation</a:t>
                </a:r>
              </a:p>
              <a:p>
                <a:pPr lvl="1"/>
                <a:r>
                  <a:rPr lang="en-US" dirty="0"/>
                  <a:t>Radar-only gives the upper-bound radar performance because it has no communication                          constraints.</a:t>
                </a:r>
              </a:p>
              <a:p>
                <a:pPr lvl="1"/>
                <a:r>
                  <a:rPr lang="en-US" dirty="0"/>
                  <a:t>The proposed Pareto method directly maximizes the minimum DPSL while satisfying                  communication SINR constraints: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ar-AE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b="1"/>
                                  <m:t>𝐒</m:t>
                                </m:r>
                              </m:e>
                              <m:sub>
                                <m:r>
                                  <a:rPr lang="ar-AE" i="1"/>
                                  <m:t>𝑘</m:t>
                                </m:r>
                              </m:sub>
                            </m:sSub>
                          </m:e>
                        </m:d>
                      </m:lim>
                    </m:limLow>
                    <m:limLow>
                      <m:limLowPr>
                        <m:ctrlPr>
                          <a:rPr lang="ar-AE" i="1"/>
                        </m:ctrlPr>
                      </m:limLow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ar-AE" i="1"/>
                          <m:t>𝑚</m:t>
                        </m:r>
                      </m:lim>
                    </m:limLow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ar-AE" i="1"/>
                          <m:t>𝜂</m:t>
                        </m:r>
                      </m:e>
                      <m:sub>
                        <m:r>
                          <a:rPr lang="ar-AE" i="1"/>
                          <m:t>𝑚</m:t>
                        </m:r>
                      </m:sub>
                    </m:sSub>
                    <m:r>
                      <a:rPr lang="ar-AE"/>
                      <m:t> </m:t>
                    </m:r>
                    <m:r>
                      <m:rPr>
                        <m:nor/>
                      </m:rPr>
                      <a:rPr lang="en-US"/>
                      <m:t>s</m:t>
                    </m:r>
                    <m:r>
                      <m:rPr>
                        <m:nor/>
                      </m:rPr>
                      <a:rPr lang="en-US"/>
                      <m:t>.</m:t>
                    </m:r>
                    <m:r>
                      <m:rPr>
                        <m:nor/>
                      </m:rPr>
                      <a:rPr lang="en-US"/>
                      <m:t>t</m:t>
                    </m:r>
                    <m:r>
                      <m:rPr>
                        <m:nor/>
                      </m:rPr>
                      <a:rPr lang="en-US" i="1"/>
                      <m:t>.</m:t>
                    </m:r>
                    <m:r>
                      <a:rPr lang="en-US"/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𝛾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  <m:r>
                      <a:rPr lang="ar-AE"/>
                      <m:t>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Γ</m:t>
                        </m:r>
                      </m:e>
                      <m:sub>
                        <m:r>
                          <a:rPr lang="ar-AE" i="1"/>
                          <m:t>𝑘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Therefore, it remains close to radar-only performance.</a:t>
                </a:r>
              </a:p>
              <a:p>
                <a:pPr lvl="1"/>
                <a:r>
                  <a:rPr lang="en-US" dirty="0"/>
                  <a:t>The similarity-based benchmarks do not directly maximize DPSL:</a:t>
                </a:r>
              </a:p>
              <a:p>
                <a:pPr lvl="1"/>
                <a:r>
                  <a:rPr lang="en-US" dirty="0"/>
                  <a:t>Paper [21]: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matches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covariance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Paper [22]: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matches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waveform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and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minimizes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MUI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Therefore, their DPSL performance is generally lower than the proposed method.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C2884-7AFD-327A-2F60-760CD326E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E51FD-BAE7-6479-6871-B48B2180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10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7207</Words>
  <Application>Microsoft Office PowerPoint</Application>
  <PresentationFormat>Widescreen</PresentationFormat>
  <Paragraphs>1421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9" baseType="lpstr">
      <vt:lpstr>맑은 고딕</vt:lpstr>
      <vt:lpstr>Arial</vt:lpstr>
      <vt:lpstr>Arial Black</vt:lpstr>
      <vt:lpstr>Cambria Math</vt:lpstr>
      <vt:lpstr>Tahoma</vt:lpstr>
      <vt:lpstr>Office 테마</vt:lpstr>
      <vt:lpstr>Joint Radar-Communication Transmission: A Generalized      Pareto Optimization Framework </vt:lpstr>
      <vt:lpstr>Table of Contents</vt:lpstr>
      <vt:lpstr>Abstract</vt:lpstr>
      <vt:lpstr>Abstract</vt:lpstr>
      <vt:lpstr>Introduction</vt:lpstr>
      <vt:lpstr>Introduction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Joint Radar and Communication Optimization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Optimality Achieved by Single-Stream Transmission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Hardware-Impared Optimization</vt:lpstr>
      <vt:lpstr>Reproduction</vt:lpstr>
      <vt:lpstr>Reproduction</vt:lpstr>
      <vt:lpstr>Reproduction</vt:lpstr>
      <vt:lpstr>Reproduction</vt:lpstr>
      <vt:lpstr>Reproduction</vt:lpstr>
      <vt:lpstr>Reproduction</vt:lpstr>
      <vt:lpstr>Reproduction</vt:lpstr>
      <vt:lpstr>Reproduction</vt:lpstr>
      <vt:lpstr>Reproduction</vt:lpstr>
      <vt:lpstr>Reproduction</vt:lpstr>
      <vt:lpstr>Reproduction</vt:lpstr>
      <vt:lpstr>Reproduction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17</cp:revision>
  <dcterms:created xsi:type="dcterms:W3CDTF">2018-05-20T06:28:16Z</dcterms:created>
  <dcterms:modified xsi:type="dcterms:W3CDTF">2026-06-01T03:12:41Z</dcterms:modified>
</cp:coreProperties>
</file>